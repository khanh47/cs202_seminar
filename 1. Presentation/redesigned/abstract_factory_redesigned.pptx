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586F-065C-4CC0-B20B-CF618C2E0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700DD-3738-43FB-9B21-54F1900ED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1B293-6226-45AB-88EC-094C8158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37D15-7D9C-48F5-AE34-5CCBAE34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08A4-AE6E-4329-AF54-665ED074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2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244E-8327-4F65-8494-1E11232E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C478B-3FFE-4F16-886A-3CEBC90E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6B1A3-D0EF-4B12-9C45-F657FCE1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75525-10AB-49CC-9642-A9E5D9751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1619B-6157-43B7-8F2D-331A6915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47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8514-8FF1-4BC6-8420-1EBDE090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8E343-EC4B-44F1-9011-2465DE84C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BF7D2-086C-4326-950D-A2B1C401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7078B-20DE-4FEE-B2B8-5B8C4F7BB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15A09-E481-4854-B41A-00745055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33E7-85A3-4EEF-9091-EBC7ACC41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C8283-B7E2-4018-91B2-44BCB28F5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6F95D-B883-4209-8BCF-7F257F1F4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75D3E-AEE6-4A92-9E22-FD314E14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D9721-8C03-4117-ABD8-C2299D94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0773B-51F2-4BE3-A147-E0150674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5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128D-85D7-49FF-AAD1-2BB59524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AC0D-6427-4C2B-B54E-ADFC66617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1A52F-B83D-4751-93BA-AF4C7A48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06F9E-61EE-483B-8FAA-D6FB8D9C5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E2150-B337-4B2A-8E5B-85A620851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7A11A-2847-45CA-A1D6-FEC95216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1C461-0E84-4BBA-B595-042FB371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D29DF-BF2A-4BCC-A173-342D74B77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0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EBD5-A9D2-4F74-A6AE-E8BFED48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E4C4B0-6613-4774-8010-58E5D79D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E7CDB-0193-44E7-971E-1BA3A385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692A7-9B48-4746-B85D-D044146A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8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DD902-FC2B-47D2-A9CE-1FD07BFC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3B3B7A-2128-4460-BDAC-612A3D69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ED66E-AEFB-4622-A074-DC67567A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8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A70D-6BC2-44BA-B359-1A4AACAC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963A-5D8A-43D2-B149-39272B23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97B40-B637-42C4-AF58-ACC315057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AED24-7D68-4CEF-BA62-A8636758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D61E1-EE37-43A6-B8A0-4BC91988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D8674-0D82-494F-A6B8-77A1E849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3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799E-150A-4C69-9D23-78E81066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2F081-E8E1-40D6-A4A6-B95E430EE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82488-8A8B-4C56-BBD5-B4D7C981C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BE087-3B5C-4D08-A85B-AB136E7E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52D92-C3B2-46BD-BB90-C30E1066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4D72D-1844-43A1-B351-C7A98A4D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15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4B10-DCA9-4DB2-A93A-3BEE9D30E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10D6B-DD90-4FAA-A410-A34D6A556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CC2D3-2A39-49B0-ADC1-8BA2300F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50987-B566-4439-A0BC-D18757C51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83F7D-A85D-48D6-A40C-679D74BE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5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C6B94-0C85-4472-8CDE-93733B1E5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3DA3A-5A19-4F88-AE36-75C0B0ED1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8EE1C-5C6F-486E-9A22-E055E7F1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C689-8949-4931-AF98-1520637F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2FB92-3F8A-415F-AFF8-79D63D09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2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A0BD0-041F-4F69-B676-15733302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0EDA-21DB-4BA9-8726-E37F760E3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CE103-E6E2-47B6-954C-E2DC50AF3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370DA-9695-4435-B6F2-F4C7FD968B3E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89E5A-B678-4CCA-A138-0824099BA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F83F-DB42-482C-A6EA-02B520C64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14142-3289-417C-B08E-AD8E7AE44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8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C29A26-0534-47CA-93B2-D6C6E787766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25B860C-C78F-4D7C-AE21-B31037A61562}"/>
              </a:ext>
            </a:extLst>
          </p:cNvPr>
          <p:cNvSpPr/>
          <p:nvPr/>
        </p:nvSpPr>
        <p:spPr>
          <a:xfrm>
            <a:off x="8763000" y="-1524000"/>
            <a:ext cx="4699000" cy="4699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684BF1-74F9-4CF2-8F51-949B40CD5692}"/>
              </a:ext>
            </a:extLst>
          </p:cNvPr>
          <p:cNvSpPr/>
          <p:nvPr/>
        </p:nvSpPr>
        <p:spPr>
          <a:xfrm>
            <a:off x="10096500" y="254000"/>
            <a:ext cx="2159000" cy="2159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0B5DD0-2148-44B0-85CD-6C850B6F462D}"/>
              </a:ext>
            </a:extLst>
          </p:cNvPr>
          <p:cNvSpPr/>
          <p:nvPr/>
        </p:nvSpPr>
        <p:spPr>
          <a:xfrm>
            <a:off x="736600" y="609600"/>
            <a:ext cx="1600200" cy="355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3F45F-E6B1-40E2-A363-4948328DDFE7}"/>
              </a:ext>
            </a:extLst>
          </p:cNvPr>
          <p:cNvSpPr txBox="1"/>
          <p:nvPr/>
        </p:nvSpPr>
        <p:spPr>
          <a:xfrm>
            <a:off x="736600" y="6477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DESIGN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FEFA5-EF0C-4653-867E-01522C9B6636}"/>
              </a:ext>
            </a:extLst>
          </p:cNvPr>
          <p:cNvSpPr txBox="1"/>
          <p:nvPr/>
        </p:nvSpPr>
        <p:spPr>
          <a:xfrm>
            <a:off x="736600" y="16002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200" b="1">
                <a:solidFill>
                  <a:srgbClr val="FFFFFF"/>
                </a:solidFill>
                <a:latin typeface="Aptos Display"/>
              </a:rPr>
              <a:t>ABSTRACT
FACTORY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B671C-4086-4367-958D-0541AE5C73AB}"/>
              </a:ext>
            </a:extLst>
          </p:cNvPr>
          <p:cNvSpPr txBox="1"/>
          <p:nvPr/>
        </p:nvSpPr>
        <p:spPr>
          <a:xfrm>
            <a:off x="787400" y="36322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E0E7FF"/>
                </a:solidFill>
                <a:latin typeface="Aptos"/>
              </a:rPr>
              <a:t>Create compatible families of objects without coupling client code to concrete classes.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74760-7941-4251-A52F-6E0A47E1D254}"/>
              </a:ext>
            </a:extLst>
          </p:cNvPr>
          <p:cNvSpPr txBox="1"/>
          <p:nvPr/>
        </p:nvSpPr>
        <p:spPr>
          <a:xfrm>
            <a:off x="736600" y="59690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704B1F-5C71-4F08-9CF4-88BB428626AD}"/>
              </a:ext>
            </a:extLst>
          </p:cNvPr>
          <p:cNvSpPr txBox="1"/>
          <p:nvPr/>
        </p:nvSpPr>
        <p:spPr>
          <a:xfrm>
            <a:off x="8953500" y="41910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22D3EE"/>
                </a:solidFill>
                <a:latin typeface="Aptos"/>
              </a:rPr>
              <a:t>ONE FACTORY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B5EB5C-6C63-4616-A196-DB95E9D874CE}"/>
              </a:ext>
            </a:extLst>
          </p:cNvPr>
          <p:cNvSpPr/>
          <p:nvPr/>
        </p:nvSpPr>
        <p:spPr>
          <a:xfrm>
            <a:off x="8826500" y="4572000"/>
            <a:ext cx="2667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87ACB-B648-4C45-A3BA-DA8665E1675F}"/>
              </a:ext>
            </a:extLst>
          </p:cNvPr>
          <p:cNvSpPr txBox="1"/>
          <p:nvPr/>
        </p:nvSpPr>
        <p:spPr>
          <a:xfrm>
            <a:off x="9080500" y="47625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GUIFactory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CEA43-0700-468D-93BC-B634052F20A6}"/>
              </a:ext>
            </a:extLst>
          </p:cNvPr>
          <p:cNvCxnSpPr/>
          <p:nvPr/>
        </p:nvCxnSpPr>
        <p:spPr>
          <a:xfrm flipH="1">
            <a:off x="9448800" y="5334000"/>
            <a:ext cx="711200" cy="406400"/>
          </a:xfrm>
          <a:prstGeom prst="line">
            <a:avLst/>
          </a:prstGeom>
          <a:ln w="25400">
            <a:solidFill>
              <a:srgbClr val="4F46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B7D6C3-1244-4E57-86FD-AEBF0B3B5248}"/>
              </a:ext>
            </a:extLst>
          </p:cNvPr>
          <p:cNvCxnSpPr/>
          <p:nvPr/>
        </p:nvCxnSpPr>
        <p:spPr>
          <a:xfrm>
            <a:off x="10160000" y="5334000"/>
            <a:ext cx="711200" cy="406400"/>
          </a:xfrm>
          <a:prstGeom prst="line">
            <a:avLst/>
          </a:prstGeom>
          <a:ln w="25400">
            <a:solidFill>
              <a:srgbClr val="4F46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C43D10-B586-45CA-BE49-C86096A4C5C7}"/>
              </a:ext>
            </a:extLst>
          </p:cNvPr>
          <p:cNvSpPr/>
          <p:nvPr/>
        </p:nvSpPr>
        <p:spPr>
          <a:xfrm>
            <a:off x="8890000" y="5740400"/>
            <a:ext cx="1143000" cy="355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5A9EB3-CC5D-4599-8866-1A6B859CC8BA}"/>
              </a:ext>
            </a:extLst>
          </p:cNvPr>
          <p:cNvSpPr txBox="1"/>
          <p:nvPr/>
        </p:nvSpPr>
        <p:spPr>
          <a:xfrm>
            <a:off x="8890000" y="5778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Button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43DD96-FF39-44CB-87CF-DF1FB7DC18B8}"/>
              </a:ext>
            </a:extLst>
          </p:cNvPr>
          <p:cNvSpPr/>
          <p:nvPr/>
        </p:nvSpPr>
        <p:spPr>
          <a:xfrm>
            <a:off x="10287000" y="5740400"/>
            <a:ext cx="1143000" cy="355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82246-1D23-4588-B7D6-8762136E37CC}"/>
              </a:ext>
            </a:extLst>
          </p:cNvPr>
          <p:cNvSpPr txBox="1"/>
          <p:nvPr/>
        </p:nvSpPr>
        <p:spPr>
          <a:xfrm>
            <a:off x="10287000" y="57785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Checkbox</a:t>
            </a:r>
          </a:p>
        </p:txBody>
      </p:sp>
    </p:spTree>
    <p:extLst>
      <p:ext uri="{BB962C8B-B14F-4D97-AF65-F5344CB8AC3E}">
        <p14:creationId xmlns:p14="http://schemas.microsoft.com/office/powerpoint/2010/main" val="98317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FF20FA-1F60-4B50-9677-9ED563FD5C6B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40747-35FC-4646-BA2A-E895BF784AA5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Today's route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0DE4F-16C3-47C1-9315-61DED471679F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22A8AC-89A9-41A7-A1AC-6762B1302C6B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20055E-33D5-44C2-8EB8-745F29D24AAE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85A25-3309-4251-904F-2F2ECBDEF411}"/>
              </a:ext>
            </a:extLst>
          </p:cNvPr>
          <p:cNvSpPr txBox="1"/>
          <p:nvPr/>
        </p:nvSpPr>
        <p:spPr>
          <a:xfrm>
            <a:off x="609600" y="1524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75569"/>
                </a:solidFill>
                <a:latin typeface="Aptos"/>
              </a:rPr>
              <a:t>From a brittle UI switch to a scalable family of products.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7AC529-3ADC-46A4-8297-95389F060ADA}"/>
              </a:ext>
            </a:extLst>
          </p:cNvPr>
          <p:cNvSpPr/>
          <p:nvPr/>
        </p:nvSpPr>
        <p:spPr>
          <a:xfrm>
            <a:off x="5715000" y="1498600"/>
            <a:ext cx="533400" cy="5334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DCD4B-6414-4CA6-B637-1BE31FE51833}"/>
              </a:ext>
            </a:extLst>
          </p:cNvPr>
          <p:cNvSpPr txBox="1"/>
          <p:nvPr/>
        </p:nvSpPr>
        <p:spPr>
          <a:xfrm>
            <a:off x="5715000" y="1625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93A5E-4F07-4B5F-B767-6995EE8FA68C}"/>
              </a:ext>
            </a:extLst>
          </p:cNvPr>
          <p:cNvSpPr txBox="1"/>
          <p:nvPr/>
        </p:nvSpPr>
        <p:spPr>
          <a:xfrm>
            <a:off x="6540500" y="1485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F0040-E0B5-4DF1-A875-F0474DB9F285}"/>
              </a:ext>
            </a:extLst>
          </p:cNvPr>
          <p:cNvSpPr txBox="1"/>
          <p:nvPr/>
        </p:nvSpPr>
        <p:spPr>
          <a:xfrm>
            <a:off x="6540500" y="18161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/>
              </a:rPr>
              <a:t>Why direct construction breaks down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77E30D-2A90-4D6F-A271-AAEA3C346C33}"/>
              </a:ext>
            </a:extLst>
          </p:cNvPr>
          <p:cNvCxnSpPr/>
          <p:nvPr/>
        </p:nvCxnSpPr>
        <p:spPr>
          <a:xfrm>
            <a:off x="5981700" y="2032000"/>
            <a:ext cx="0" cy="355600"/>
          </a:xfrm>
          <a:prstGeom prst="line">
            <a:avLst/>
          </a:prstGeom>
          <a:ln w="254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CCA961F-D3F4-4F47-B8D9-077CEEA8491D}"/>
              </a:ext>
            </a:extLst>
          </p:cNvPr>
          <p:cNvSpPr/>
          <p:nvPr/>
        </p:nvSpPr>
        <p:spPr>
          <a:xfrm>
            <a:off x="5715000" y="2387600"/>
            <a:ext cx="533400" cy="53340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ECB94D-0E9E-4CC1-85F4-586D54130CDA}"/>
              </a:ext>
            </a:extLst>
          </p:cNvPr>
          <p:cNvSpPr txBox="1"/>
          <p:nvPr/>
        </p:nvSpPr>
        <p:spPr>
          <a:xfrm>
            <a:off x="5715000" y="2514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4F46E5"/>
                </a:solidFill>
                <a:latin typeface="Aptos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966FC5-9B1F-4B05-A002-93D28D01A599}"/>
              </a:ext>
            </a:extLst>
          </p:cNvPr>
          <p:cNvSpPr txBox="1"/>
          <p:nvPr/>
        </p:nvSpPr>
        <p:spPr>
          <a:xfrm>
            <a:off x="6540500" y="237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The pattern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60C78-2D0E-40EA-A91A-DE9F55C20C1E}"/>
              </a:ext>
            </a:extLst>
          </p:cNvPr>
          <p:cNvSpPr txBox="1"/>
          <p:nvPr/>
        </p:nvSpPr>
        <p:spPr>
          <a:xfrm>
            <a:off x="6540500" y="27051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/>
              </a:rPr>
              <a:t>Roles, responsibilities, relationships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E17D-FDB0-4E70-847F-3866894A74D0}"/>
              </a:ext>
            </a:extLst>
          </p:cNvPr>
          <p:cNvCxnSpPr/>
          <p:nvPr/>
        </p:nvCxnSpPr>
        <p:spPr>
          <a:xfrm>
            <a:off x="5981700" y="2921000"/>
            <a:ext cx="0" cy="355600"/>
          </a:xfrm>
          <a:prstGeom prst="line">
            <a:avLst/>
          </a:prstGeom>
          <a:ln w="254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05F38B0-3102-4BE1-B8D0-0C4AE4694251}"/>
              </a:ext>
            </a:extLst>
          </p:cNvPr>
          <p:cNvSpPr/>
          <p:nvPr/>
        </p:nvSpPr>
        <p:spPr>
          <a:xfrm>
            <a:off x="5715000" y="3276600"/>
            <a:ext cx="533400" cy="53340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F0DC7-EE62-459A-BB48-B232BA8CC6CC}"/>
              </a:ext>
            </a:extLst>
          </p:cNvPr>
          <p:cNvSpPr txBox="1"/>
          <p:nvPr/>
        </p:nvSpPr>
        <p:spPr>
          <a:xfrm>
            <a:off x="5715000" y="3403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4F46E5"/>
                </a:solidFill>
                <a:latin typeface="Aptos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57E1F9-9013-47BE-AAE0-D265B6F6B8F9}"/>
              </a:ext>
            </a:extLst>
          </p:cNvPr>
          <p:cNvSpPr txBox="1"/>
          <p:nvPr/>
        </p:nvSpPr>
        <p:spPr>
          <a:xfrm>
            <a:off x="6540500" y="3263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Implementation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A178B0-FB32-406E-92F8-80B6443DDF5D}"/>
              </a:ext>
            </a:extLst>
          </p:cNvPr>
          <p:cNvSpPr txBox="1"/>
          <p:nvPr/>
        </p:nvSpPr>
        <p:spPr>
          <a:xfrm>
            <a:off x="6540500" y="35941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/>
              </a:rPr>
              <a:t>Diagrams and C++ structure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2B03BF-46F0-4750-945E-54E90254326B}"/>
              </a:ext>
            </a:extLst>
          </p:cNvPr>
          <p:cNvCxnSpPr/>
          <p:nvPr/>
        </p:nvCxnSpPr>
        <p:spPr>
          <a:xfrm>
            <a:off x="5981700" y="3810000"/>
            <a:ext cx="0" cy="355600"/>
          </a:xfrm>
          <a:prstGeom prst="line">
            <a:avLst/>
          </a:prstGeom>
          <a:ln w="254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A3F457A-847D-47DB-AED1-C503A34D68F5}"/>
              </a:ext>
            </a:extLst>
          </p:cNvPr>
          <p:cNvSpPr/>
          <p:nvPr/>
        </p:nvSpPr>
        <p:spPr>
          <a:xfrm>
            <a:off x="5715000" y="4165600"/>
            <a:ext cx="533400" cy="53340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81A63A-F089-4C99-B644-61255055AD78}"/>
              </a:ext>
            </a:extLst>
          </p:cNvPr>
          <p:cNvSpPr txBox="1"/>
          <p:nvPr/>
        </p:nvSpPr>
        <p:spPr>
          <a:xfrm>
            <a:off x="5715000" y="429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4F46E5"/>
                </a:solidFill>
                <a:latin typeface="Aptos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F70DD2-8131-4C56-B6A5-A69DD23693E0}"/>
              </a:ext>
            </a:extLst>
          </p:cNvPr>
          <p:cNvSpPr txBox="1"/>
          <p:nvPr/>
        </p:nvSpPr>
        <p:spPr>
          <a:xfrm>
            <a:off x="6540500" y="4152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Applications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6990DA-FE94-4D78-B078-A2EE1202D0E9}"/>
              </a:ext>
            </a:extLst>
          </p:cNvPr>
          <p:cNvSpPr txBox="1"/>
          <p:nvPr/>
        </p:nvSpPr>
        <p:spPr>
          <a:xfrm>
            <a:off x="6540500" y="44831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/>
              </a:rPr>
              <a:t>Where product families matter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282335-356D-4F1A-99B4-649FBC270C7C}"/>
              </a:ext>
            </a:extLst>
          </p:cNvPr>
          <p:cNvCxnSpPr/>
          <p:nvPr/>
        </p:nvCxnSpPr>
        <p:spPr>
          <a:xfrm>
            <a:off x="5981700" y="4699000"/>
            <a:ext cx="0" cy="355600"/>
          </a:xfrm>
          <a:prstGeom prst="line">
            <a:avLst/>
          </a:prstGeom>
          <a:ln w="254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D9A885D-B909-40CD-9906-70CFE255CBF5}"/>
              </a:ext>
            </a:extLst>
          </p:cNvPr>
          <p:cNvSpPr/>
          <p:nvPr/>
        </p:nvSpPr>
        <p:spPr>
          <a:xfrm>
            <a:off x="5715000" y="5054600"/>
            <a:ext cx="533400" cy="53340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9DD14C-16C2-4E8A-B8C5-3E5DDF9ABB9B}"/>
              </a:ext>
            </a:extLst>
          </p:cNvPr>
          <p:cNvSpPr txBox="1"/>
          <p:nvPr/>
        </p:nvSpPr>
        <p:spPr>
          <a:xfrm>
            <a:off x="5715000" y="5181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100" b="1">
                <a:solidFill>
                  <a:srgbClr val="4F46E5"/>
                </a:solidFill>
                <a:latin typeface="Aptos"/>
              </a:rP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955F1C-998F-4804-A05B-A1D3695BEA91}"/>
              </a:ext>
            </a:extLst>
          </p:cNvPr>
          <p:cNvSpPr txBox="1"/>
          <p:nvPr/>
        </p:nvSpPr>
        <p:spPr>
          <a:xfrm>
            <a:off x="6540500" y="5041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Quiz + recap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75E2F6-0A0A-4EDF-9E18-34BE5E3B092C}"/>
              </a:ext>
            </a:extLst>
          </p:cNvPr>
          <p:cNvSpPr txBox="1"/>
          <p:nvPr/>
        </p:nvSpPr>
        <p:spPr>
          <a:xfrm>
            <a:off x="6540500" y="53721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4748B"/>
                </a:solidFill>
                <a:latin typeface="Aptos"/>
              </a:rPr>
              <a:t>Test the mental model</a:t>
            </a:r>
          </a:p>
        </p:txBody>
      </p:sp>
    </p:spTree>
    <p:extLst>
      <p:ext uri="{BB962C8B-B14F-4D97-AF65-F5344CB8AC3E}">
        <p14:creationId xmlns:p14="http://schemas.microsoft.com/office/powerpoint/2010/main" val="146164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995B08-8D63-4702-A17F-32D62B89C5D6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15666-1F92-4E00-A667-12B6F9344B7C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The cross-platform UI challenge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13270-D711-4B9A-8AE0-9562390F3638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01  /  THE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279BFC-4C8D-4D57-81EE-DB95A8E914D4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757476-37A7-4DD6-BA47-B1EC3049C3B1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7D40C4-8E89-48C9-A0A0-7659468466B9}"/>
              </a:ext>
            </a:extLst>
          </p:cNvPr>
          <p:cNvSpPr/>
          <p:nvPr/>
        </p:nvSpPr>
        <p:spPr>
          <a:xfrm>
            <a:off x="609600" y="1651000"/>
            <a:ext cx="6921500" cy="40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1A6331-C9FD-45F1-BA42-C7F5927DC23B}"/>
              </a:ext>
            </a:extLst>
          </p:cNvPr>
          <p:cNvSpPr/>
          <p:nvPr/>
        </p:nvSpPr>
        <p:spPr>
          <a:xfrm>
            <a:off x="609600" y="1651000"/>
            <a:ext cx="6921500" cy="533400"/>
          </a:xfrm>
          <a:prstGeom prst="roundRect">
            <a:avLst/>
          </a:prstGeom>
          <a:solidFill>
            <a:srgbClr val="0B1739"/>
          </a:solidFill>
          <a:ln w="12700"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A3C512E-F236-41A6-9C4E-513856BCC968}"/>
              </a:ext>
            </a:extLst>
          </p:cNvPr>
          <p:cNvSpPr/>
          <p:nvPr/>
        </p:nvSpPr>
        <p:spPr>
          <a:xfrm>
            <a:off x="838200" y="1828800"/>
            <a:ext cx="165100" cy="165100"/>
          </a:xfrm>
          <a:prstGeom prst="ellipse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B6D93C-D0AF-4C81-AF1C-05388C27841E}"/>
              </a:ext>
            </a:extLst>
          </p:cNvPr>
          <p:cNvSpPr/>
          <p:nvPr/>
        </p:nvSpPr>
        <p:spPr>
          <a:xfrm>
            <a:off x="1104900" y="1828800"/>
            <a:ext cx="165100" cy="1651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6D5233-6AF1-4C1E-A7C7-F1AEE514B4A9}"/>
              </a:ext>
            </a:extLst>
          </p:cNvPr>
          <p:cNvSpPr/>
          <p:nvPr/>
        </p:nvSpPr>
        <p:spPr>
          <a:xfrm>
            <a:off x="1371600" y="1828800"/>
            <a:ext cx="165100" cy="1651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9CB18-0627-4309-A53E-6F1664CB1F7F}"/>
              </a:ext>
            </a:extLst>
          </p:cNvPr>
          <p:cNvSpPr txBox="1"/>
          <p:nvPr/>
        </p:nvSpPr>
        <p:spPr>
          <a:xfrm>
            <a:off x="1714500" y="1790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CrossPlatformEditor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89A8FA-231C-4E93-8088-7C3D09A80617}"/>
              </a:ext>
            </a:extLst>
          </p:cNvPr>
          <p:cNvSpPr/>
          <p:nvPr/>
        </p:nvSpPr>
        <p:spPr>
          <a:xfrm>
            <a:off x="939800" y="2463800"/>
            <a:ext cx="13716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73634-1383-46CF-84B4-C005064ACA23}"/>
              </a:ext>
            </a:extLst>
          </p:cNvPr>
          <p:cNvSpPr txBox="1"/>
          <p:nvPr/>
        </p:nvSpPr>
        <p:spPr>
          <a:xfrm>
            <a:off x="939800" y="25019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WINDOWS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C5571C-1E9C-45C6-99CA-8122581653B6}"/>
              </a:ext>
            </a:extLst>
          </p:cNvPr>
          <p:cNvSpPr/>
          <p:nvPr/>
        </p:nvSpPr>
        <p:spPr>
          <a:xfrm>
            <a:off x="2438400" y="2463800"/>
            <a:ext cx="1168400" cy="355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57E5C2-16CA-45F8-B8CB-F1D63B0457CA}"/>
              </a:ext>
            </a:extLst>
          </p:cNvPr>
          <p:cNvSpPr txBox="1"/>
          <p:nvPr/>
        </p:nvSpPr>
        <p:spPr>
          <a:xfrm>
            <a:off x="2438400" y="25019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MACOS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4B6671-946E-42AB-9D79-CBF4DCF8A4CA}"/>
              </a:ext>
            </a:extLst>
          </p:cNvPr>
          <p:cNvSpPr/>
          <p:nvPr/>
        </p:nvSpPr>
        <p:spPr>
          <a:xfrm>
            <a:off x="3733800" y="2463800"/>
            <a:ext cx="11176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E2FD6-05FA-4F85-BFB5-A393DDF2BD59}"/>
              </a:ext>
            </a:extLst>
          </p:cNvPr>
          <p:cNvSpPr txBox="1"/>
          <p:nvPr/>
        </p:nvSpPr>
        <p:spPr>
          <a:xfrm>
            <a:off x="3733800" y="25019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LINUX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914EDE-D74F-452D-93CF-8CC33CF0AFDF}"/>
              </a:ext>
            </a:extLst>
          </p:cNvPr>
          <p:cNvSpPr txBox="1"/>
          <p:nvPr/>
        </p:nvSpPr>
        <p:spPr>
          <a:xfrm>
            <a:off x="965200" y="31369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Every platform needs a matching family: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7E48DE-6D18-48D0-B8A6-F7DB7C197BBA}"/>
              </a:ext>
            </a:extLst>
          </p:cNvPr>
          <p:cNvSpPr txBox="1"/>
          <p:nvPr/>
        </p:nvSpPr>
        <p:spPr>
          <a:xfrm>
            <a:off x="965200" y="3695700"/>
            <a:ext cx="577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75569"/>
                </a:solidFill>
                <a:latin typeface="Aptos"/>
              </a:rPr>
              <a:t>- Button
- Checkbox
- Text field
- More products coming next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2CCC3C-8D0F-4700-9B30-39F8E05FC394}"/>
              </a:ext>
            </a:extLst>
          </p:cNvPr>
          <p:cNvSpPr/>
          <p:nvPr/>
        </p:nvSpPr>
        <p:spPr>
          <a:xfrm>
            <a:off x="7937500" y="1651000"/>
            <a:ext cx="3644900" cy="4064000"/>
          </a:xfrm>
          <a:prstGeom prst="roundRect">
            <a:avLst/>
          </a:prstGeom>
          <a:solidFill>
            <a:srgbClr val="0B1739"/>
          </a:solidFill>
          <a:ln w="12700"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067ECF-D1A0-4613-81F1-58B181ABAC04}"/>
              </a:ext>
            </a:extLst>
          </p:cNvPr>
          <p:cNvSpPr txBox="1"/>
          <p:nvPr/>
        </p:nvSpPr>
        <p:spPr>
          <a:xfrm>
            <a:off x="8293100" y="20447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22D3EE"/>
                </a:solidFill>
                <a:latin typeface="Aptos"/>
              </a:rPr>
              <a:t>DESIGN QUESTION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89B5C4-5AE0-4E21-8468-C8D7BB263581}"/>
              </a:ext>
            </a:extLst>
          </p:cNvPr>
          <p:cNvSpPr txBox="1"/>
          <p:nvPr/>
        </p:nvSpPr>
        <p:spPr>
          <a:xfrm>
            <a:off x="8293100" y="26289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/>
              </a:rPr>
              <a:t>How do we create consistent UI families without spreading platform checks everywhere?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EFD8175-5DEF-4E66-BB3E-B1474C2B207E}"/>
              </a:ext>
            </a:extLst>
          </p:cNvPr>
          <p:cNvSpPr/>
          <p:nvPr/>
        </p:nvSpPr>
        <p:spPr>
          <a:xfrm>
            <a:off x="8293100" y="4902200"/>
            <a:ext cx="2171700" cy="355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2C1F87-0942-4D74-843C-0BCDED8BE87D}"/>
              </a:ext>
            </a:extLst>
          </p:cNvPr>
          <p:cNvSpPr txBox="1"/>
          <p:nvPr/>
        </p:nvSpPr>
        <p:spPr>
          <a:xfrm>
            <a:off x="8293100" y="4940300"/>
            <a:ext cx="2171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SCALE WITHOUT REWRITES</a:t>
            </a:r>
          </a:p>
        </p:txBody>
      </p:sp>
    </p:spTree>
    <p:extLst>
      <p:ext uri="{BB962C8B-B14F-4D97-AF65-F5344CB8AC3E}">
        <p14:creationId xmlns:p14="http://schemas.microsoft.com/office/powerpoint/2010/main" val="165030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D7D2AA-4F47-47AA-A825-A66F5A2BBD43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41933-32A1-420D-B4A2-82940B9A2417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First attempt: choose concrete classes directly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301BC-E3AA-4BDC-AAC5-0CBF0FA6FBF2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01  /  THE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8DC212-3B62-457C-B6AE-DA71935D434E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ED81607-2ED5-4419-A6C8-133A945C95F7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8853EC-731E-4706-AAB9-6B8EDAC1D222}"/>
              </a:ext>
            </a:extLst>
          </p:cNvPr>
          <p:cNvSpPr/>
          <p:nvPr/>
        </p:nvSpPr>
        <p:spPr>
          <a:xfrm>
            <a:off x="609600" y="1625600"/>
            <a:ext cx="7048500" cy="3835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6F683-5906-44F9-A789-F65EFAE08CE6}"/>
              </a:ext>
            </a:extLst>
          </p:cNvPr>
          <p:cNvSpPr txBox="1"/>
          <p:nvPr/>
        </p:nvSpPr>
        <p:spPr>
          <a:xfrm>
            <a:off x="863600" y="1879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FFFFF"/>
                </a:solidFill>
                <a:latin typeface="Cascadia Mono" panose="020B0609020000020004" pitchFamily="49" charset="0"/>
              </a:rPr>
              <a:t>if (os == "Windows") {
    button   = new WindowsButton;
    checkbox = new WindowsCheckbox;
}
else if (os == "Mac") {
    button   = new MacButton;
    checkbox = new MacCheckbox;
}
...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57D00D-438F-4E48-AD3A-CED4BEEA1E8F}"/>
              </a:ext>
            </a:extLst>
          </p:cNvPr>
          <p:cNvSpPr/>
          <p:nvPr/>
        </p:nvSpPr>
        <p:spPr>
          <a:xfrm>
            <a:off x="8077200" y="1625600"/>
            <a:ext cx="3505200" cy="3835400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3DA63E-1C41-483C-898D-904041DC6D8E}"/>
              </a:ext>
            </a:extLst>
          </p:cNvPr>
          <p:cNvSpPr/>
          <p:nvPr/>
        </p:nvSpPr>
        <p:spPr>
          <a:xfrm>
            <a:off x="8382000" y="1930400"/>
            <a:ext cx="1270000" cy="3556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9EAFF7-9C39-45A4-BCA3-71603854031B}"/>
              </a:ext>
            </a:extLst>
          </p:cNvPr>
          <p:cNvSpPr txBox="1"/>
          <p:nvPr/>
        </p:nvSpPr>
        <p:spPr>
          <a:xfrm>
            <a:off x="8382000" y="1968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NAIVE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8FAE9-3E59-44D4-B3EB-9C2315151FA2}"/>
              </a:ext>
            </a:extLst>
          </p:cNvPr>
          <p:cNvSpPr txBox="1"/>
          <p:nvPr/>
        </p:nvSpPr>
        <p:spPr>
          <a:xfrm>
            <a:off x="8382000" y="2578100"/>
            <a:ext cx="2717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0F172A"/>
                </a:solidFill>
                <a:latin typeface="Aptos Display"/>
              </a:rPr>
              <a:t>It works - until the system grows.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2EB78-2DA1-4F44-9414-0F2FA948F94A}"/>
              </a:ext>
            </a:extLst>
          </p:cNvPr>
          <p:cNvSpPr txBox="1"/>
          <p:nvPr/>
        </p:nvSpPr>
        <p:spPr>
          <a:xfrm>
            <a:off x="8382000" y="3708400"/>
            <a:ext cx="269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Each new platform and product adds another branch, another dependency, and another place to make a mismatch.</a:t>
            </a:r>
          </a:p>
        </p:txBody>
      </p:sp>
    </p:spTree>
    <p:extLst>
      <p:ext uri="{BB962C8B-B14F-4D97-AF65-F5344CB8AC3E}">
        <p14:creationId xmlns:p14="http://schemas.microsoft.com/office/powerpoint/2010/main" val="258117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973D7-E22B-4309-9AE6-E9347BB332CE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66BAB3-FB08-45BC-A8DC-E2839A2DDB39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Why the naive approach does not scale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E34B3-6884-4118-8F87-6C8468B18E8A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01  /  THE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7FC9FE-F5F1-4E9C-A7FC-6FB7F90EB98E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E72364-5D7B-44CD-92A5-1A19B929DA26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68B2F8-1C01-41EF-A047-80D63CAE96CF}"/>
              </a:ext>
            </a:extLst>
          </p:cNvPr>
          <p:cNvSpPr/>
          <p:nvPr/>
        </p:nvSpPr>
        <p:spPr>
          <a:xfrm>
            <a:off x="609600" y="16764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94920E-2FFF-4B67-98A0-F695A30059AE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C45C7-B6CA-46CB-8426-8D77B0338CD5}"/>
              </a:ext>
            </a:extLst>
          </p:cNvPr>
          <p:cNvSpPr txBox="1"/>
          <p:nvPr/>
        </p:nvSpPr>
        <p:spPr>
          <a:xfrm>
            <a:off x="914400" y="1892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01  Open/Closed violation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0B90C-51BD-4D93-A2F3-0C08419A3E5A}"/>
              </a:ext>
            </a:extLst>
          </p:cNvPr>
          <p:cNvSpPr txBox="1"/>
          <p:nvPr/>
        </p:nvSpPr>
        <p:spPr>
          <a:xfrm>
            <a:off x="914400" y="2349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Adding a platform means editing every creation site.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EA3F34-4E42-4961-A7F6-6C79E3B281E2}"/>
              </a:ext>
            </a:extLst>
          </p:cNvPr>
          <p:cNvSpPr/>
          <p:nvPr/>
        </p:nvSpPr>
        <p:spPr>
          <a:xfrm>
            <a:off x="6273800" y="16764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EFE8BB-3CCB-4F8A-BC06-023598C7BED2}"/>
              </a:ext>
            </a:extLst>
          </p:cNvPr>
          <p:cNvSpPr/>
          <p:nvPr/>
        </p:nvSpPr>
        <p:spPr>
          <a:xfrm>
            <a:off x="6273800" y="1676400"/>
            <a:ext cx="88900" cy="18415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C3237-0653-4C93-B9E1-D4F18499A0D3}"/>
              </a:ext>
            </a:extLst>
          </p:cNvPr>
          <p:cNvSpPr txBox="1"/>
          <p:nvPr/>
        </p:nvSpPr>
        <p:spPr>
          <a:xfrm>
            <a:off x="6578600" y="1892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02  Tight coupling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402202-D97D-4D16-843E-6E258F0ABB2B}"/>
              </a:ext>
            </a:extLst>
          </p:cNvPr>
          <p:cNvSpPr txBox="1"/>
          <p:nvPr/>
        </p:nvSpPr>
        <p:spPr>
          <a:xfrm>
            <a:off x="6578600" y="2349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Client code knows WindowsButton, MacCheckbox, and every future concrete class.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E8F3A3-887D-41C7-8CAD-45397CE4166E}"/>
              </a:ext>
            </a:extLst>
          </p:cNvPr>
          <p:cNvSpPr/>
          <p:nvPr/>
        </p:nvSpPr>
        <p:spPr>
          <a:xfrm>
            <a:off x="609600" y="38100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95E3CE-8C19-44B4-96B9-EA1D94A643C4}"/>
              </a:ext>
            </a:extLst>
          </p:cNvPr>
          <p:cNvSpPr/>
          <p:nvPr/>
        </p:nvSpPr>
        <p:spPr>
          <a:xfrm>
            <a:off x="609600" y="3810000"/>
            <a:ext cx="88900" cy="18415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4106D-A262-41EA-BDDD-0AD4843FBD66}"/>
              </a:ext>
            </a:extLst>
          </p:cNvPr>
          <p:cNvSpPr txBox="1"/>
          <p:nvPr/>
        </p:nvSpPr>
        <p:spPr>
          <a:xfrm>
            <a:off x="914400" y="40259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03  Family mismatch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43AA7A-DFC4-4F6C-AB20-6844B9F5DE1B}"/>
              </a:ext>
            </a:extLst>
          </p:cNvPr>
          <p:cNvSpPr txBox="1"/>
          <p:nvPr/>
        </p:nvSpPr>
        <p:spPr>
          <a:xfrm>
            <a:off x="914400" y="44831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Nothing prevents a Windows button from being paired with a macOS checkbox.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3E7717-5598-4AE5-A5BE-4C5AA0769467}"/>
              </a:ext>
            </a:extLst>
          </p:cNvPr>
          <p:cNvSpPr/>
          <p:nvPr/>
        </p:nvSpPr>
        <p:spPr>
          <a:xfrm>
            <a:off x="6273800" y="38100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E5A687-2466-4712-B98A-18C19CE99EF1}"/>
              </a:ext>
            </a:extLst>
          </p:cNvPr>
          <p:cNvSpPr/>
          <p:nvPr/>
        </p:nvSpPr>
        <p:spPr>
          <a:xfrm>
            <a:off x="6273800" y="3810000"/>
            <a:ext cx="88900" cy="18415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6F1CED-3770-4146-9CE1-F2C558EB9178}"/>
              </a:ext>
            </a:extLst>
          </p:cNvPr>
          <p:cNvSpPr txBox="1"/>
          <p:nvPr/>
        </p:nvSpPr>
        <p:spPr>
          <a:xfrm>
            <a:off x="6578600" y="40259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04  Duplicated logic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A96CE6-9E7D-4F78-818C-26801B814D5C}"/>
              </a:ext>
            </a:extLst>
          </p:cNvPr>
          <p:cNvSpPr txBox="1"/>
          <p:nvPr/>
        </p:nvSpPr>
        <p:spPr>
          <a:xfrm>
            <a:off x="6578600" y="44831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The same platform switch appears wherever components are constructed.</a:t>
            </a:r>
          </a:p>
        </p:txBody>
      </p:sp>
    </p:spTree>
    <p:extLst>
      <p:ext uri="{BB962C8B-B14F-4D97-AF65-F5344CB8AC3E}">
        <p14:creationId xmlns:p14="http://schemas.microsoft.com/office/powerpoint/2010/main" val="3884783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CB48D-53C7-4695-91B2-8C4DC45A1B61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47835-F45A-4177-9F2B-763A61176EEA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Second attempt: factories per product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37C63-8C1D-40CD-929B-5258A0BA7558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01  /  THE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F322AB-5C16-4E23-AE03-E62267D462D3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4C0832-6560-48E0-B44C-0DB1B7F6E0FD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AD6E94-5AE7-463E-A3C8-5BC5DB92B86C}"/>
              </a:ext>
            </a:extLst>
          </p:cNvPr>
          <p:cNvSpPr/>
          <p:nvPr/>
        </p:nvSpPr>
        <p:spPr>
          <a:xfrm>
            <a:off x="609600" y="1714500"/>
            <a:ext cx="6540500" cy="304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700B4-7CF0-473E-9896-B09CB043943D}"/>
              </a:ext>
            </a:extLst>
          </p:cNvPr>
          <p:cNvSpPr txBox="1"/>
          <p:nvPr/>
        </p:nvSpPr>
        <p:spPr>
          <a:xfrm>
            <a:off x="889000" y="20320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FFFFFF"/>
                </a:solidFill>
                <a:latin typeface="Cascadia Mono" panose="020B0609020000020004" pitchFamily="49" charset="0"/>
              </a:rPr>
              <a:t>Button button =
    ButtonFactory::create(os);
Checkbox checkbox =
    CheckboxFactory::create(os);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992B7B-CCD0-42D9-A594-C66A9B3A7CD7}"/>
              </a:ext>
            </a:extLst>
          </p:cNvPr>
          <p:cNvSpPr txBox="1"/>
          <p:nvPr/>
        </p:nvSpPr>
        <p:spPr>
          <a:xfrm>
            <a:off x="7874000" y="17780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10B981"/>
                </a:solidFill>
                <a:latin typeface="Aptos"/>
              </a:rPr>
              <a:t>WHAT IMPROVED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81C40-34BE-47B1-9B48-F593B3DF9134}"/>
              </a:ext>
            </a:extLst>
          </p:cNvPr>
          <p:cNvSpPr txBox="1"/>
          <p:nvPr/>
        </p:nvSpPr>
        <p:spPr>
          <a:xfrm>
            <a:off x="7874000" y="2235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0F172A"/>
                </a:solidFill>
                <a:latin typeface="Aptos"/>
              </a:rPr>
              <a:t>Construction moved out of the client.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1E3F69-ED19-4233-B5A6-6720A65FE258}"/>
              </a:ext>
            </a:extLst>
          </p:cNvPr>
          <p:cNvCxnSpPr/>
          <p:nvPr/>
        </p:nvCxnSpPr>
        <p:spPr>
          <a:xfrm>
            <a:off x="7874000" y="3111500"/>
            <a:ext cx="32385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5CB12E-432E-4C20-A959-9BD48B6784BA}"/>
              </a:ext>
            </a:extLst>
          </p:cNvPr>
          <p:cNvSpPr txBox="1"/>
          <p:nvPr/>
        </p:nvSpPr>
        <p:spPr>
          <a:xfrm>
            <a:off x="7874000" y="34036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FB7185"/>
                </a:solidFill>
                <a:latin typeface="Aptos"/>
              </a:rPr>
              <a:t>WHAT REMAINS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E118C-3194-4668-BA1A-8330ECC541E0}"/>
              </a:ext>
            </a:extLst>
          </p:cNvPr>
          <p:cNvSpPr txBox="1"/>
          <p:nvPr/>
        </p:nvSpPr>
        <p:spPr>
          <a:xfrm>
            <a:off x="7874000" y="3860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75569"/>
                </a:solidFill>
                <a:latin typeface="Aptos"/>
              </a:rPr>
              <a:t>The client still selects the OS for every product, so family consistency is not guaranteed.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DB6DC7-CD22-4B16-A7E5-ECEF127E1C5D}"/>
              </a:ext>
            </a:extLst>
          </p:cNvPr>
          <p:cNvSpPr/>
          <p:nvPr/>
        </p:nvSpPr>
        <p:spPr>
          <a:xfrm>
            <a:off x="609600" y="5130800"/>
            <a:ext cx="65405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DA205-4804-43DF-9F54-17B4E56A7DC8}"/>
              </a:ext>
            </a:extLst>
          </p:cNvPr>
          <p:cNvSpPr txBox="1"/>
          <p:nvPr/>
        </p:nvSpPr>
        <p:spPr>
          <a:xfrm>
            <a:off x="609600" y="5168900"/>
            <a:ext cx="6540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WE NEED ONE FACTORY FOR THE WHOLE PRODUCT FAMILY</a:t>
            </a:r>
          </a:p>
        </p:txBody>
      </p:sp>
    </p:spTree>
    <p:extLst>
      <p:ext uri="{BB962C8B-B14F-4D97-AF65-F5344CB8AC3E}">
        <p14:creationId xmlns:p14="http://schemas.microsoft.com/office/powerpoint/2010/main" val="349311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BBE6B-2142-41F4-BC5B-88BCCEAC7D79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02  /  THE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83EB5-73F7-48F7-AC7B-5896D3A1330A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The Abstract Factory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D1142-7A48-4306-889C-93FF580466D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02  /  THE PATTERN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BEDD39-C7E2-455F-BD4D-4CB1D6FEF507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7B4633-B03D-4E3F-BB2B-13DCC622576E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C6B39-6C29-451D-97EF-BBA9C3125949}"/>
              </a:ext>
            </a:extLst>
          </p:cNvPr>
          <p:cNvSpPr txBox="1"/>
          <p:nvPr/>
        </p:nvSpPr>
        <p:spPr>
          <a:xfrm>
            <a:off x="609600" y="1435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75569"/>
                </a:solidFill>
                <a:latin typeface="Aptos"/>
              </a:rPr>
              <a:t>Five roles separate what the client needs from how each family is built.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0A3114-593B-4117-AB64-D006C964FF99}"/>
              </a:ext>
            </a:extLst>
          </p:cNvPr>
          <p:cNvSpPr/>
          <p:nvPr/>
        </p:nvSpPr>
        <p:spPr>
          <a:xfrm>
            <a:off x="609600" y="2108200"/>
            <a:ext cx="3429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08B30F6-3E82-4D3F-B483-E0FF14B9CCDD}"/>
              </a:ext>
            </a:extLst>
          </p:cNvPr>
          <p:cNvSpPr/>
          <p:nvPr/>
        </p:nvSpPr>
        <p:spPr>
          <a:xfrm>
            <a:off x="609600" y="2108200"/>
            <a:ext cx="88900" cy="15748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22A83-89A6-425D-9F09-F213CBD22644}"/>
              </a:ext>
            </a:extLst>
          </p:cNvPr>
          <p:cNvSpPr txBox="1"/>
          <p:nvPr/>
        </p:nvSpPr>
        <p:spPr>
          <a:xfrm>
            <a:off x="914400" y="23241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Abstract Factory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E5098-94BE-4832-81FE-D56541809C0D}"/>
              </a:ext>
            </a:extLst>
          </p:cNvPr>
          <p:cNvSpPr txBox="1"/>
          <p:nvPr/>
        </p:nvSpPr>
        <p:spPr>
          <a:xfrm>
            <a:off x="914400" y="27813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Declares one creation method for each product type.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A67D37-0D27-4332-9443-437D56A55952}"/>
              </a:ext>
            </a:extLst>
          </p:cNvPr>
          <p:cNvSpPr/>
          <p:nvPr/>
        </p:nvSpPr>
        <p:spPr>
          <a:xfrm>
            <a:off x="4381500" y="2108200"/>
            <a:ext cx="3429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861170-D11F-40E5-9DD8-443B2EECBDEE}"/>
              </a:ext>
            </a:extLst>
          </p:cNvPr>
          <p:cNvSpPr/>
          <p:nvPr/>
        </p:nvSpPr>
        <p:spPr>
          <a:xfrm>
            <a:off x="4381500" y="2108200"/>
            <a:ext cx="88900" cy="15748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238FB-C307-4282-BCEB-DEF237B0E9F9}"/>
              </a:ext>
            </a:extLst>
          </p:cNvPr>
          <p:cNvSpPr txBox="1"/>
          <p:nvPr/>
        </p:nvSpPr>
        <p:spPr>
          <a:xfrm>
            <a:off x="4686300" y="23241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Concrete Factory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A9FBE-6142-4752-9781-DC242CD2BAC0}"/>
              </a:ext>
            </a:extLst>
          </p:cNvPr>
          <p:cNvSpPr txBox="1"/>
          <p:nvPr/>
        </p:nvSpPr>
        <p:spPr>
          <a:xfrm>
            <a:off x="4686300" y="27813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Builds one complete, compatible product family.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8E0AAE-7222-4AC1-B1F4-515841E4329A}"/>
              </a:ext>
            </a:extLst>
          </p:cNvPr>
          <p:cNvSpPr/>
          <p:nvPr/>
        </p:nvSpPr>
        <p:spPr>
          <a:xfrm>
            <a:off x="8153400" y="2108200"/>
            <a:ext cx="3429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651C17-A8C3-4741-930B-7FA1458D355B}"/>
              </a:ext>
            </a:extLst>
          </p:cNvPr>
          <p:cNvSpPr/>
          <p:nvPr/>
        </p:nvSpPr>
        <p:spPr>
          <a:xfrm>
            <a:off x="8153400" y="2108200"/>
            <a:ext cx="88900" cy="15748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8A181B-6219-4772-AE74-D6D878D5267F}"/>
              </a:ext>
            </a:extLst>
          </p:cNvPr>
          <p:cNvSpPr txBox="1"/>
          <p:nvPr/>
        </p:nvSpPr>
        <p:spPr>
          <a:xfrm>
            <a:off x="8458200" y="23241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Client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B1E692-FA53-4C58-95F1-93A163654FCF}"/>
              </a:ext>
            </a:extLst>
          </p:cNvPr>
          <p:cNvSpPr txBox="1"/>
          <p:nvPr/>
        </p:nvSpPr>
        <p:spPr>
          <a:xfrm>
            <a:off x="8458200" y="27813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Depends only on factory and product abstractions.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109111D-AEEE-4ADA-911B-5ABC6EC42CF7}"/>
              </a:ext>
            </a:extLst>
          </p:cNvPr>
          <p:cNvSpPr/>
          <p:nvPr/>
        </p:nvSpPr>
        <p:spPr>
          <a:xfrm>
            <a:off x="2489200" y="4038600"/>
            <a:ext cx="3429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2DF9D9-03B1-452B-B8ED-B01D6BE38879}"/>
              </a:ext>
            </a:extLst>
          </p:cNvPr>
          <p:cNvSpPr/>
          <p:nvPr/>
        </p:nvSpPr>
        <p:spPr>
          <a:xfrm>
            <a:off x="2489200" y="4038600"/>
            <a:ext cx="88900" cy="15748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7ECAD-63B0-4A0F-A5DA-D866B113ACD4}"/>
              </a:ext>
            </a:extLst>
          </p:cNvPr>
          <p:cNvSpPr txBox="1"/>
          <p:nvPr/>
        </p:nvSpPr>
        <p:spPr>
          <a:xfrm>
            <a:off x="2794000" y="42545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Abstract Product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DF5608-6FA4-47BB-813C-7EE73B46FDDA}"/>
              </a:ext>
            </a:extLst>
          </p:cNvPr>
          <p:cNvSpPr txBox="1"/>
          <p:nvPr/>
        </p:nvSpPr>
        <p:spPr>
          <a:xfrm>
            <a:off x="2794000" y="47117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Defines the interface for a product category.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11355A3-9353-4FC9-9D40-4F9F9A159FEA}"/>
              </a:ext>
            </a:extLst>
          </p:cNvPr>
          <p:cNvSpPr/>
          <p:nvPr/>
        </p:nvSpPr>
        <p:spPr>
          <a:xfrm>
            <a:off x="6273800" y="4038600"/>
            <a:ext cx="3429000" cy="157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A1F6BD-30F7-4091-8432-1453B80985F7}"/>
              </a:ext>
            </a:extLst>
          </p:cNvPr>
          <p:cNvSpPr/>
          <p:nvPr/>
        </p:nvSpPr>
        <p:spPr>
          <a:xfrm>
            <a:off x="6273800" y="4038600"/>
            <a:ext cx="88900" cy="15748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A160E4-CC3A-45ED-B43D-F02A0FDDAC72}"/>
              </a:ext>
            </a:extLst>
          </p:cNvPr>
          <p:cNvSpPr txBox="1"/>
          <p:nvPr/>
        </p:nvSpPr>
        <p:spPr>
          <a:xfrm>
            <a:off x="6578600" y="42545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Concrete 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1B096D-0F4B-491D-96CA-7B808A913865}"/>
              </a:ext>
            </a:extLst>
          </p:cNvPr>
          <p:cNvSpPr txBox="1"/>
          <p:nvPr/>
        </p:nvSpPr>
        <p:spPr>
          <a:xfrm>
            <a:off x="6578600" y="47117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Implements a product for one specific family.</a:t>
            </a:r>
          </a:p>
        </p:txBody>
      </p:sp>
    </p:spTree>
    <p:extLst>
      <p:ext uri="{BB962C8B-B14F-4D97-AF65-F5344CB8AC3E}">
        <p14:creationId xmlns:p14="http://schemas.microsoft.com/office/powerpoint/2010/main" val="3571280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5CF2CE8-5B04-4518-AE45-F1D5A3005480}"/>
              </a:ext>
            </a:extLst>
          </p:cNvPr>
          <p:cNvSpPr/>
          <p:nvPr/>
        </p:nvSpPr>
        <p:spPr>
          <a:xfrm>
            <a:off x="8572500" y="-1460500"/>
            <a:ext cx="4826000" cy="4826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A830C8-6C27-48F2-9A61-263993BD618D}"/>
              </a:ext>
            </a:extLst>
          </p:cNvPr>
          <p:cNvSpPr/>
          <p:nvPr/>
        </p:nvSpPr>
        <p:spPr>
          <a:xfrm>
            <a:off x="9906000" y="508000"/>
            <a:ext cx="2603500" cy="26035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9FA3C-B597-4A0E-89DF-39FE6DF313AF}"/>
              </a:ext>
            </a:extLst>
          </p:cNvPr>
          <p:cNvSpPr txBox="1"/>
          <p:nvPr/>
        </p:nvSpPr>
        <p:spPr>
          <a:xfrm>
            <a:off x="736600" y="660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2D3EE"/>
                </a:solidFill>
                <a:latin typeface="Aptos"/>
              </a:rPr>
              <a:t>SECTION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1247C-31B0-47A3-B723-8E0713634407}"/>
              </a:ext>
            </a:extLst>
          </p:cNvPr>
          <p:cNvSpPr txBox="1"/>
          <p:nvPr/>
        </p:nvSpPr>
        <p:spPr>
          <a:xfrm>
            <a:off x="736600" y="20828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Aptos Display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E8C6B-3ECC-4A4D-A6AA-EBC5D521FE65}"/>
              </a:ext>
            </a:extLst>
          </p:cNvPr>
          <p:cNvSpPr txBox="1"/>
          <p:nvPr/>
        </p:nvSpPr>
        <p:spPr>
          <a:xfrm>
            <a:off x="787400" y="3378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E0E7FF"/>
                </a:solidFill>
                <a:latin typeface="Aptos"/>
              </a:rPr>
              <a:t>Turn the roles into relationships, then into clean C++ interfaces.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8FA33-C719-4D9A-BF33-86DC203DF25B}"/>
              </a:ext>
            </a:extLst>
          </p:cNvPr>
          <p:cNvSpPr txBox="1"/>
          <p:nvPr/>
        </p:nvSpPr>
        <p:spPr>
          <a:xfrm>
            <a:off x="736600" y="618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D6151-1E83-40BA-B661-DA41FE9A9640}"/>
              </a:ext>
            </a:extLst>
          </p:cNvPr>
          <p:cNvSpPr txBox="1"/>
          <p:nvPr/>
        </p:nvSpPr>
        <p:spPr>
          <a:xfrm>
            <a:off x="10858500" y="6184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72688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F5D07-2BF1-4127-98B7-B406A203BF7F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03  / 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294E5-0A63-4806-8326-BC10445D33C0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General class relationship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24B10-F44D-4E16-AF89-F769E1E0F027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03  / 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0B0B0B-8E64-496A-B6A5-8E4D7B4167CC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747256E-00FA-470E-90EB-DA479457A3B9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EA5DBE-F6EA-442E-8543-BCFA861FA82B}"/>
              </a:ext>
            </a:extLst>
          </p:cNvPr>
          <p:cNvSpPr/>
          <p:nvPr/>
        </p:nvSpPr>
        <p:spPr>
          <a:xfrm>
            <a:off x="4699000" y="1498600"/>
            <a:ext cx="2794000" cy="1422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09FF9B-9FC0-43D3-983A-2396DF2FD49D}"/>
              </a:ext>
            </a:extLst>
          </p:cNvPr>
          <p:cNvSpPr/>
          <p:nvPr/>
        </p:nvSpPr>
        <p:spPr>
          <a:xfrm>
            <a:off x="4699000" y="1498600"/>
            <a:ext cx="2794000" cy="889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BFD44-491C-43B3-93F7-223D4C56B34C}"/>
              </a:ext>
            </a:extLst>
          </p:cNvPr>
          <p:cNvSpPr txBox="1"/>
          <p:nvPr/>
        </p:nvSpPr>
        <p:spPr>
          <a:xfrm>
            <a:off x="4851400" y="16891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64748B"/>
                </a:solidFill>
                <a:latin typeface="Aptos"/>
              </a:rPr>
              <a:t>&lt;&lt;interface&gt;&gt;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9438B-38D2-408F-9A05-30393232C4E7}"/>
              </a:ext>
            </a:extLst>
          </p:cNvPr>
          <p:cNvSpPr txBox="1"/>
          <p:nvPr/>
        </p:nvSpPr>
        <p:spPr>
          <a:xfrm>
            <a:off x="4851400" y="1905000"/>
            <a:ext cx="248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AbstractFactory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03BDC3-7BBD-439A-9538-5DE570A4A95E}"/>
              </a:ext>
            </a:extLst>
          </p:cNvPr>
          <p:cNvCxnSpPr/>
          <p:nvPr/>
        </p:nvCxnSpPr>
        <p:spPr>
          <a:xfrm>
            <a:off x="4851400" y="2286000"/>
            <a:ext cx="24892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88B12B-AEB9-462B-B202-4D23AAA0648E}"/>
              </a:ext>
            </a:extLst>
          </p:cNvPr>
          <p:cNvSpPr txBox="1"/>
          <p:nvPr/>
        </p:nvSpPr>
        <p:spPr>
          <a:xfrm>
            <a:off x="4876800" y="2387600"/>
            <a:ext cx="243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createProductA()
+ createProductB()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3FA337-9311-48A7-8BE5-7D0AA621CB4E}"/>
              </a:ext>
            </a:extLst>
          </p:cNvPr>
          <p:cNvSpPr/>
          <p:nvPr/>
        </p:nvSpPr>
        <p:spPr>
          <a:xfrm>
            <a:off x="990600" y="2032000"/>
            <a:ext cx="26035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DF7942-DF37-4D67-BDF3-EE910D20F0A8}"/>
              </a:ext>
            </a:extLst>
          </p:cNvPr>
          <p:cNvSpPr/>
          <p:nvPr/>
        </p:nvSpPr>
        <p:spPr>
          <a:xfrm>
            <a:off x="990600" y="2032000"/>
            <a:ext cx="2603500" cy="889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9EEC0-CD1B-403F-906D-245B80C4F082}"/>
              </a:ext>
            </a:extLst>
          </p:cNvPr>
          <p:cNvSpPr txBox="1"/>
          <p:nvPr/>
        </p:nvSpPr>
        <p:spPr>
          <a:xfrm>
            <a:off x="1143000" y="22225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8C8181-2A9F-42A0-9CD8-DA489E16FBCD}"/>
              </a:ext>
            </a:extLst>
          </p:cNvPr>
          <p:cNvSpPr txBox="1"/>
          <p:nvPr/>
        </p:nvSpPr>
        <p:spPr>
          <a:xfrm>
            <a:off x="1143000" y="24384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ConcreteFactory1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43E66E-E008-48FF-91B0-F49FF6714A5D}"/>
              </a:ext>
            </a:extLst>
          </p:cNvPr>
          <p:cNvCxnSpPr/>
          <p:nvPr/>
        </p:nvCxnSpPr>
        <p:spPr>
          <a:xfrm>
            <a:off x="1143000" y="2819400"/>
            <a:ext cx="22987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04856E-971A-478D-A795-40131D8A6431}"/>
              </a:ext>
            </a:extLst>
          </p:cNvPr>
          <p:cNvSpPr txBox="1"/>
          <p:nvPr/>
        </p:nvSpPr>
        <p:spPr>
          <a:xfrm>
            <a:off x="1168400" y="29210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create A1
+ create B1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5E2F55A-3259-43D7-AF8C-D285E5DDD455}"/>
              </a:ext>
            </a:extLst>
          </p:cNvPr>
          <p:cNvSpPr/>
          <p:nvPr/>
        </p:nvSpPr>
        <p:spPr>
          <a:xfrm>
            <a:off x="990600" y="4191000"/>
            <a:ext cx="26035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384F1E-3F53-40F7-8990-180EE9EBC2C9}"/>
              </a:ext>
            </a:extLst>
          </p:cNvPr>
          <p:cNvSpPr/>
          <p:nvPr/>
        </p:nvSpPr>
        <p:spPr>
          <a:xfrm>
            <a:off x="990600" y="4191000"/>
            <a:ext cx="2603500" cy="889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EFB43-377B-4BBD-9D75-7787AC3739C9}"/>
              </a:ext>
            </a:extLst>
          </p:cNvPr>
          <p:cNvSpPr txBox="1"/>
          <p:nvPr/>
        </p:nvSpPr>
        <p:spPr>
          <a:xfrm>
            <a:off x="1143000" y="43815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6A4D35-F7EF-4BEC-AD2A-B30EA622CF1F}"/>
              </a:ext>
            </a:extLst>
          </p:cNvPr>
          <p:cNvSpPr txBox="1"/>
          <p:nvPr/>
        </p:nvSpPr>
        <p:spPr>
          <a:xfrm>
            <a:off x="1143000" y="45974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ConcreteFactory2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7AC260-6E82-4B5D-9997-DEE900EF7805}"/>
              </a:ext>
            </a:extLst>
          </p:cNvPr>
          <p:cNvCxnSpPr/>
          <p:nvPr/>
        </p:nvCxnSpPr>
        <p:spPr>
          <a:xfrm>
            <a:off x="1143000" y="4978400"/>
            <a:ext cx="22987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48E62F8-ADD1-4719-9CB4-2DE20AB40E02}"/>
              </a:ext>
            </a:extLst>
          </p:cNvPr>
          <p:cNvSpPr txBox="1"/>
          <p:nvPr/>
        </p:nvSpPr>
        <p:spPr>
          <a:xfrm>
            <a:off x="1168400" y="50800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create A2
+ create B2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F13B29-957A-487A-BE1F-30EFF5DF9C97}"/>
              </a:ext>
            </a:extLst>
          </p:cNvPr>
          <p:cNvSpPr/>
          <p:nvPr/>
        </p:nvSpPr>
        <p:spPr>
          <a:xfrm>
            <a:off x="8763000" y="1498600"/>
            <a:ext cx="24130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C2519C-890D-43D9-8703-B01FEFC35D73}"/>
              </a:ext>
            </a:extLst>
          </p:cNvPr>
          <p:cNvSpPr/>
          <p:nvPr/>
        </p:nvSpPr>
        <p:spPr>
          <a:xfrm>
            <a:off x="8763000" y="1498600"/>
            <a:ext cx="2413000" cy="88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8B8760-478E-4DEE-8CA2-1F91FB67C1E3}"/>
              </a:ext>
            </a:extLst>
          </p:cNvPr>
          <p:cNvSpPr txBox="1"/>
          <p:nvPr/>
        </p:nvSpPr>
        <p:spPr>
          <a:xfrm>
            <a:off x="8915400" y="16891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EB07AE-F8D0-4C8D-9F83-DFCADDD8E956}"/>
              </a:ext>
            </a:extLst>
          </p:cNvPr>
          <p:cNvSpPr txBox="1"/>
          <p:nvPr/>
        </p:nvSpPr>
        <p:spPr>
          <a:xfrm>
            <a:off x="8915400" y="1905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Client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498624-AD5C-48C1-AAB1-5A08333F2A5E}"/>
              </a:ext>
            </a:extLst>
          </p:cNvPr>
          <p:cNvCxnSpPr/>
          <p:nvPr/>
        </p:nvCxnSpPr>
        <p:spPr>
          <a:xfrm>
            <a:off x="8915400" y="2286000"/>
            <a:ext cx="21082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362E110-9038-47D7-8C64-C7B191C37FC2}"/>
              </a:ext>
            </a:extLst>
          </p:cNvPr>
          <p:cNvSpPr txBox="1"/>
          <p:nvPr/>
        </p:nvSpPr>
        <p:spPr>
          <a:xfrm>
            <a:off x="8940800" y="238760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operation()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512649-66A4-4E7D-9B4A-5B5A17B54E44}"/>
              </a:ext>
            </a:extLst>
          </p:cNvPr>
          <p:cNvSpPr/>
          <p:nvPr/>
        </p:nvSpPr>
        <p:spPr>
          <a:xfrm>
            <a:off x="4699000" y="4000500"/>
            <a:ext cx="1905000" cy="127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FD59507-3498-45F8-91EC-3EC7A10E0344}"/>
              </a:ext>
            </a:extLst>
          </p:cNvPr>
          <p:cNvSpPr/>
          <p:nvPr/>
        </p:nvSpPr>
        <p:spPr>
          <a:xfrm>
            <a:off x="4699000" y="4000500"/>
            <a:ext cx="1905000" cy="88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498A1E-2039-41A7-922D-660DCBA0A94E}"/>
              </a:ext>
            </a:extLst>
          </p:cNvPr>
          <p:cNvSpPr txBox="1"/>
          <p:nvPr/>
        </p:nvSpPr>
        <p:spPr>
          <a:xfrm>
            <a:off x="4851400" y="41910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64748B"/>
                </a:solidFill>
                <a:latin typeface="Aptos"/>
              </a:rPr>
              <a:t>&lt;&lt;interface&gt;&gt;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9AE702-D765-487F-860E-12E98505C599}"/>
              </a:ext>
            </a:extLst>
          </p:cNvPr>
          <p:cNvSpPr txBox="1"/>
          <p:nvPr/>
        </p:nvSpPr>
        <p:spPr>
          <a:xfrm>
            <a:off x="4851400" y="44069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ProductA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9CA75E-375C-4E94-BD0C-257807CCA600}"/>
              </a:ext>
            </a:extLst>
          </p:cNvPr>
          <p:cNvSpPr/>
          <p:nvPr/>
        </p:nvSpPr>
        <p:spPr>
          <a:xfrm>
            <a:off x="6959600" y="4000500"/>
            <a:ext cx="1905000" cy="127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FE73AD1-E9B2-438C-8993-76F71D10562E}"/>
              </a:ext>
            </a:extLst>
          </p:cNvPr>
          <p:cNvSpPr/>
          <p:nvPr/>
        </p:nvSpPr>
        <p:spPr>
          <a:xfrm>
            <a:off x="6959600" y="4000500"/>
            <a:ext cx="1905000" cy="88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CCEC95-E513-4A72-8C74-188212A92FB2}"/>
              </a:ext>
            </a:extLst>
          </p:cNvPr>
          <p:cNvSpPr txBox="1"/>
          <p:nvPr/>
        </p:nvSpPr>
        <p:spPr>
          <a:xfrm>
            <a:off x="7112000" y="41910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64748B"/>
                </a:solidFill>
                <a:latin typeface="Aptos"/>
              </a:rPr>
              <a:t>&lt;&lt;interface&gt;&gt;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5591E0-E40B-41ED-AA89-BCD46B27CEAB}"/>
              </a:ext>
            </a:extLst>
          </p:cNvPr>
          <p:cNvSpPr txBox="1"/>
          <p:nvPr/>
        </p:nvSpPr>
        <p:spPr>
          <a:xfrm>
            <a:off x="7112000" y="4406900"/>
            <a:ext cx="1600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ProductB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D233757-84CD-4031-9338-E07614B19CF0}"/>
              </a:ext>
            </a:extLst>
          </p:cNvPr>
          <p:cNvCxnSpPr/>
          <p:nvPr/>
        </p:nvCxnSpPr>
        <p:spPr>
          <a:xfrm flipV="1">
            <a:off x="3594100" y="2209800"/>
            <a:ext cx="1104900" cy="469900"/>
          </a:xfrm>
          <a:prstGeom prst="line">
            <a:avLst/>
          </a:prstGeom>
          <a:ln w="25400">
            <a:solidFill>
              <a:srgbClr val="22D3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782B24-FC92-45F6-9F44-17CD6056DCD0}"/>
              </a:ext>
            </a:extLst>
          </p:cNvPr>
          <p:cNvCxnSpPr/>
          <p:nvPr/>
        </p:nvCxnSpPr>
        <p:spPr>
          <a:xfrm flipV="1">
            <a:off x="3594100" y="2692400"/>
            <a:ext cx="1104900" cy="2146300"/>
          </a:xfrm>
          <a:prstGeom prst="line">
            <a:avLst/>
          </a:prstGeom>
          <a:ln w="25400">
            <a:solidFill>
              <a:srgbClr val="FB718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70461DE-BF94-4E7C-A9EF-48DD7F14827F}"/>
              </a:ext>
            </a:extLst>
          </p:cNvPr>
          <p:cNvCxnSpPr/>
          <p:nvPr/>
        </p:nvCxnSpPr>
        <p:spPr>
          <a:xfrm flipH="1">
            <a:off x="7493000" y="2159000"/>
            <a:ext cx="1270000" cy="0"/>
          </a:xfrm>
          <a:prstGeom prst="line">
            <a:avLst/>
          </a:prstGeom>
          <a:ln w="25400">
            <a:solidFill>
              <a:srgbClr val="10B98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F555E4-774D-46BD-8398-86A0F7B1E924}"/>
              </a:ext>
            </a:extLst>
          </p:cNvPr>
          <p:cNvCxnSpPr/>
          <p:nvPr/>
        </p:nvCxnSpPr>
        <p:spPr>
          <a:xfrm flipH="1">
            <a:off x="5651500" y="2921000"/>
            <a:ext cx="444500" cy="1079500"/>
          </a:xfrm>
          <a:prstGeom prst="line">
            <a:avLst/>
          </a:prstGeom>
          <a:ln w="25400">
            <a:solidFill>
              <a:srgbClr val="4F46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D97B4A-1363-4A2B-B98D-2FE54156999E}"/>
              </a:ext>
            </a:extLst>
          </p:cNvPr>
          <p:cNvCxnSpPr/>
          <p:nvPr/>
        </p:nvCxnSpPr>
        <p:spPr>
          <a:xfrm>
            <a:off x="6096000" y="2921000"/>
            <a:ext cx="1816100" cy="1079500"/>
          </a:xfrm>
          <a:prstGeom prst="line">
            <a:avLst/>
          </a:prstGeom>
          <a:ln w="25400">
            <a:solidFill>
              <a:srgbClr val="4F46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04C7513-C845-4AAC-8DA5-45CC2DE7C241}"/>
              </a:ext>
            </a:extLst>
          </p:cNvPr>
          <p:cNvSpPr/>
          <p:nvPr/>
        </p:nvSpPr>
        <p:spPr>
          <a:xfrm>
            <a:off x="3835400" y="30480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7E893C-7DC9-4509-9081-A155C1775FAD}"/>
              </a:ext>
            </a:extLst>
          </p:cNvPr>
          <p:cNvSpPr txBox="1"/>
          <p:nvPr/>
        </p:nvSpPr>
        <p:spPr>
          <a:xfrm>
            <a:off x="3835400" y="30861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implements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1A0C697-01B1-449A-A2CE-F2AC3B7CDB2B}"/>
              </a:ext>
            </a:extLst>
          </p:cNvPr>
          <p:cNvSpPr/>
          <p:nvPr/>
        </p:nvSpPr>
        <p:spPr>
          <a:xfrm>
            <a:off x="7086600" y="3124200"/>
            <a:ext cx="965200" cy="355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74AE28-74F2-4A18-BD59-AA5947A3F5BA}"/>
              </a:ext>
            </a:extLst>
          </p:cNvPr>
          <p:cNvSpPr txBox="1"/>
          <p:nvPr/>
        </p:nvSpPr>
        <p:spPr>
          <a:xfrm>
            <a:off x="7086600" y="31623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F172A"/>
                </a:solidFill>
                <a:latin typeface="Aptos"/>
              </a:rPr>
              <a:t>creates</a:t>
            </a:r>
          </a:p>
        </p:txBody>
      </p:sp>
    </p:spTree>
    <p:extLst>
      <p:ext uri="{BB962C8B-B14F-4D97-AF65-F5344CB8AC3E}">
        <p14:creationId xmlns:p14="http://schemas.microsoft.com/office/powerpoint/2010/main" val="3184227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2ADB24-6F90-43E9-8C54-D41688ED46A5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03  / 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E83D9-B34A-4212-85D3-E5CD89459E31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Cross-platform GUI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587F7-2571-40E5-B891-0D44FE3C84FB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03  / 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326F89-A660-49F9-97A8-8424A1B2AAED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0A2A1F-B765-4814-BD6A-EC601E24E717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65349A-45C7-48AB-BBBD-436802A124C8}"/>
              </a:ext>
            </a:extLst>
          </p:cNvPr>
          <p:cNvSpPr/>
          <p:nvPr/>
        </p:nvSpPr>
        <p:spPr>
          <a:xfrm>
            <a:off x="4635500" y="1422400"/>
            <a:ext cx="2921000" cy="1422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1A6F71-ACE7-4F17-A475-5847678042DA}"/>
              </a:ext>
            </a:extLst>
          </p:cNvPr>
          <p:cNvSpPr/>
          <p:nvPr/>
        </p:nvSpPr>
        <p:spPr>
          <a:xfrm>
            <a:off x="4635500" y="1422400"/>
            <a:ext cx="2921000" cy="889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8C0B2-2E9E-45AA-A80F-40C901D58CAE}"/>
              </a:ext>
            </a:extLst>
          </p:cNvPr>
          <p:cNvSpPr txBox="1"/>
          <p:nvPr/>
        </p:nvSpPr>
        <p:spPr>
          <a:xfrm>
            <a:off x="4787900" y="1612900"/>
            <a:ext cx="261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00">
                <a:solidFill>
                  <a:srgbClr val="64748B"/>
                </a:solidFill>
                <a:latin typeface="Aptos"/>
              </a:rPr>
              <a:t>&lt;&lt;interface&gt;&gt;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8FBA5-3DBF-4B0D-BE23-CC9067F0FA56}"/>
              </a:ext>
            </a:extLst>
          </p:cNvPr>
          <p:cNvSpPr txBox="1"/>
          <p:nvPr/>
        </p:nvSpPr>
        <p:spPr>
          <a:xfrm>
            <a:off x="4787900" y="1828800"/>
            <a:ext cx="2616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GUIFactory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A91F0A-9343-4B56-A380-E9D6D726B950}"/>
              </a:ext>
            </a:extLst>
          </p:cNvPr>
          <p:cNvCxnSpPr/>
          <p:nvPr/>
        </p:nvCxnSpPr>
        <p:spPr>
          <a:xfrm>
            <a:off x="4787900" y="2209800"/>
            <a:ext cx="26162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12D033-8DB0-4829-B9E8-A7B54B234D2D}"/>
              </a:ext>
            </a:extLst>
          </p:cNvPr>
          <p:cNvSpPr txBox="1"/>
          <p:nvPr/>
        </p:nvSpPr>
        <p:spPr>
          <a:xfrm>
            <a:off x="4813300" y="2311400"/>
            <a:ext cx="2565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createButton()
+ createCheckbox()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6369CC-0033-4F42-B4AB-403B4FC4B0D3}"/>
              </a:ext>
            </a:extLst>
          </p:cNvPr>
          <p:cNvSpPr/>
          <p:nvPr/>
        </p:nvSpPr>
        <p:spPr>
          <a:xfrm>
            <a:off x="1079500" y="1422400"/>
            <a:ext cx="26035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6289BE-53EC-461C-8852-168C6508925F}"/>
              </a:ext>
            </a:extLst>
          </p:cNvPr>
          <p:cNvSpPr/>
          <p:nvPr/>
        </p:nvSpPr>
        <p:spPr>
          <a:xfrm>
            <a:off x="1079500" y="1422400"/>
            <a:ext cx="2603500" cy="889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504E79-36E7-4AB1-A074-8D60283537AD}"/>
              </a:ext>
            </a:extLst>
          </p:cNvPr>
          <p:cNvSpPr txBox="1"/>
          <p:nvPr/>
        </p:nvSpPr>
        <p:spPr>
          <a:xfrm>
            <a:off x="1231900" y="16129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426C36-BA0C-42FE-9D4E-0C2860B36F10}"/>
              </a:ext>
            </a:extLst>
          </p:cNvPr>
          <p:cNvSpPr txBox="1"/>
          <p:nvPr/>
        </p:nvSpPr>
        <p:spPr>
          <a:xfrm>
            <a:off x="1231900" y="18288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WinFactory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673EC8-427C-473B-89EF-8CB8BA96806D}"/>
              </a:ext>
            </a:extLst>
          </p:cNvPr>
          <p:cNvCxnSpPr/>
          <p:nvPr/>
        </p:nvCxnSpPr>
        <p:spPr>
          <a:xfrm>
            <a:off x="1231900" y="2209800"/>
            <a:ext cx="22987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606079-3DAF-45C5-8BB7-0B36F9663FE6}"/>
              </a:ext>
            </a:extLst>
          </p:cNvPr>
          <p:cNvSpPr txBox="1"/>
          <p:nvPr/>
        </p:nvSpPr>
        <p:spPr>
          <a:xfrm>
            <a:off x="1257300" y="23114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WinButton
+ WinCheckbox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A13E54-EE29-485F-B6D0-BEE0ACE503EB}"/>
              </a:ext>
            </a:extLst>
          </p:cNvPr>
          <p:cNvSpPr/>
          <p:nvPr/>
        </p:nvSpPr>
        <p:spPr>
          <a:xfrm>
            <a:off x="1079500" y="4254500"/>
            <a:ext cx="26035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0621A2-C8AA-4E19-B687-D29EEF84528F}"/>
              </a:ext>
            </a:extLst>
          </p:cNvPr>
          <p:cNvSpPr/>
          <p:nvPr/>
        </p:nvSpPr>
        <p:spPr>
          <a:xfrm>
            <a:off x="1079500" y="4254500"/>
            <a:ext cx="2603500" cy="889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430750-4487-4409-A577-EC7A6917D956}"/>
              </a:ext>
            </a:extLst>
          </p:cNvPr>
          <p:cNvSpPr txBox="1"/>
          <p:nvPr/>
        </p:nvSpPr>
        <p:spPr>
          <a:xfrm>
            <a:off x="1231900" y="44450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1108CC-7A86-468B-AAC4-133F82EDA646}"/>
              </a:ext>
            </a:extLst>
          </p:cNvPr>
          <p:cNvSpPr txBox="1"/>
          <p:nvPr/>
        </p:nvSpPr>
        <p:spPr>
          <a:xfrm>
            <a:off x="1231900" y="466090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MacFactory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39E67B-1698-40AC-8041-3F2B981D9290}"/>
              </a:ext>
            </a:extLst>
          </p:cNvPr>
          <p:cNvCxnSpPr/>
          <p:nvPr/>
        </p:nvCxnSpPr>
        <p:spPr>
          <a:xfrm>
            <a:off x="1231900" y="5041900"/>
            <a:ext cx="22987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16C562A-299D-404F-8E76-841EA7A15A0A}"/>
              </a:ext>
            </a:extLst>
          </p:cNvPr>
          <p:cNvSpPr txBox="1"/>
          <p:nvPr/>
        </p:nvSpPr>
        <p:spPr>
          <a:xfrm>
            <a:off x="1257300" y="5143500"/>
            <a:ext cx="2247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MacButton
+ MacCheckbox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80C609-CF5D-4BB8-88AE-9CA6193D40E3}"/>
              </a:ext>
            </a:extLst>
          </p:cNvPr>
          <p:cNvSpPr/>
          <p:nvPr/>
        </p:nvSpPr>
        <p:spPr>
          <a:xfrm>
            <a:off x="8890000" y="1422400"/>
            <a:ext cx="2222500" cy="1295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AE15621-B2AA-496C-B87B-431F2F61FD7D}"/>
              </a:ext>
            </a:extLst>
          </p:cNvPr>
          <p:cNvSpPr/>
          <p:nvPr/>
        </p:nvSpPr>
        <p:spPr>
          <a:xfrm>
            <a:off x="8890000" y="1422400"/>
            <a:ext cx="2222500" cy="88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C54E1-66AA-401A-A44B-D70E8899F6BE}"/>
              </a:ext>
            </a:extLst>
          </p:cNvPr>
          <p:cNvSpPr txBox="1"/>
          <p:nvPr/>
        </p:nvSpPr>
        <p:spPr>
          <a:xfrm>
            <a:off x="9042400" y="1612900"/>
            <a:ext cx="191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en-US" sz="90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286526-BC19-4BDE-97F4-F41ACC20DCB6}"/>
              </a:ext>
            </a:extLst>
          </p:cNvPr>
          <p:cNvSpPr txBox="1"/>
          <p:nvPr/>
        </p:nvSpPr>
        <p:spPr>
          <a:xfrm>
            <a:off x="9042400" y="1828800"/>
            <a:ext cx="1917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400" b="1">
                <a:solidFill>
                  <a:srgbClr val="0F172A"/>
                </a:solidFill>
                <a:latin typeface="Aptos"/>
              </a:rPr>
              <a:t>Application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E45451-B4FD-4193-9920-C3A173A2210B}"/>
              </a:ext>
            </a:extLst>
          </p:cNvPr>
          <p:cNvCxnSpPr/>
          <p:nvPr/>
        </p:nvCxnSpPr>
        <p:spPr>
          <a:xfrm>
            <a:off x="9042400" y="2209800"/>
            <a:ext cx="19177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E48DCF4-DB5F-4E32-9C51-2985271FA3E6}"/>
              </a:ext>
            </a:extLst>
          </p:cNvPr>
          <p:cNvSpPr txBox="1"/>
          <p:nvPr/>
        </p:nvSpPr>
        <p:spPr>
          <a:xfrm>
            <a:off x="9067800" y="2311400"/>
            <a:ext cx="1866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475569"/>
                </a:solidFill>
                <a:latin typeface="Cascadia Mono" panose="020B0609020000020004" pitchFamily="49" charset="0"/>
              </a:rPr>
              <a:t>+ createUI()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037070-F1EC-4EBC-90F1-7E3FE3A11218}"/>
              </a:ext>
            </a:extLst>
          </p:cNvPr>
          <p:cNvCxnSpPr/>
          <p:nvPr/>
        </p:nvCxnSpPr>
        <p:spPr>
          <a:xfrm>
            <a:off x="3683000" y="2057400"/>
            <a:ext cx="952500" cy="0"/>
          </a:xfrm>
          <a:prstGeom prst="line">
            <a:avLst/>
          </a:prstGeom>
          <a:ln w="25400">
            <a:solidFill>
              <a:srgbClr val="22D3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C2D293-BC64-4410-818A-7A463034B66F}"/>
              </a:ext>
            </a:extLst>
          </p:cNvPr>
          <p:cNvCxnSpPr/>
          <p:nvPr/>
        </p:nvCxnSpPr>
        <p:spPr>
          <a:xfrm flipV="1">
            <a:off x="3683000" y="2641600"/>
            <a:ext cx="952500" cy="2260600"/>
          </a:xfrm>
          <a:prstGeom prst="line">
            <a:avLst/>
          </a:prstGeom>
          <a:ln w="25400">
            <a:solidFill>
              <a:srgbClr val="FB718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F66F87-A2E0-4E6B-8356-CB5B69230F65}"/>
              </a:ext>
            </a:extLst>
          </p:cNvPr>
          <p:cNvCxnSpPr/>
          <p:nvPr/>
        </p:nvCxnSpPr>
        <p:spPr>
          <a:xfrm flipH="1">
            <a:off x="7556500" y="2057400"/>
            <a:ext cx="1333500" cy="0"/>
          </a:xfrm>
          <a:prstGeom prst="line">
            <a:avLst/>
          </a:prstGeom>
          <a:ln w="25400">
            <a:solidFill>
              <a:srgbClr val="10B98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949D9CD-54B6-4F88-A389-720A44335FA3}"/>
              </a:ext>
            </a:extLst>
          </p:cNvPr>
          <p:cNvSpPr txBox="1"/>
          <p:nvPr/>
        </p:nvSpPr>
        <p:spPr>
          <a:xfrm>
            <a:off x="4508500" y="33909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64748B"/>
                </a:solidFill>
                <a:latin typeface="Aptos"/>
              </a:rPr>
              <a:t>COMPATIBLE PRODUCT FAMILIES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7CF0B1A-E46D-40F7-8AF8-A414591385EE}"/>
              </a:ext>
            </a:extLst>
          </p:cNvPr>
          <p:cNvSpPr/>
          <p:nvPr/>
        </p:nvSpPr>
        <p:spPr>
          <a:xfrm>
            <a:off x="4356100" y="3708400"/>
            <a:ext cx="34798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5657103-9F20-47AE-8A14-62F6B150F9A6}"/>
              </a:ext>
            </a:extLst>
          </p:cNvPr>
          <p:cNvSpPr/>
          <p:nvPr/>
        </p:nvSpPr>
        <p:spPr>
          <a:xfrm>
            <a:off x="4572000" y="3962400"/>
            <a:ext cx="1371600" cy="355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429CD9-AE59-4BAD-B259-F9EEA713102F}"/>
              </a:ext>
            </a:extLst>
          </p:cNvPr>
          <p:cNvSpPr txBox="1"/>
          <p:nvPr/>
        </p:nvSpPr>
        <p:spPr>
          <a:xfrm>
            <a:off x="4572000" y="40005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WinButton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32D9F50-56E0-4F0F-A987-0155F311B638}"/>
              </a:ext>
            </a:extLst>
          </p:cNvPr>
          <p:cNvSpPr/>
          <p:nvPr/>
        </p:nvSpPr>
        <p:spPr>
          <a:xfrm>
            <a:off x="6248400" y="3962400"/>
            <a:ext cx="1371600" cy="355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06139F-C6B2-44D4-8732-50207FBDB2E6}"/>
              </a:ext>
            </a:extLst>
          </p:cNvPr>
          <p:cNvSpPr txBox="1"/>
          <p:nvPr/>
        </p:nvSpPr>
        <p:spPr>
          <a:xfrm>
            <a:off x="6248400" y="40005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WinCheckbox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9C07717-6892-4BA2-AD1B-A1F205AF63E9}"/>
              </a:ext>
            </a:extLst>
          </p:cNvPr>
          <p:cNvSpPr/>
          <p:nvPr/>
        </p:nvSpPr>
        <p:spPr>
          <a:xfrm>
            <a:off x="4572000" y="4635500"/>
            <a:ext cx="1371600" cy="355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8D6CB9-AF9F-4016-BBD7-1E8B201F6F41}"/>
              </a:ext>
            </a:extLst>
          </p:cNvPr>
          <p:cNvSpPr txBox="1"/>
          <p:nvPr/>
        </p:nvSpPr>
        <p:spPr>
          <a:xfrm>
            <a:off x="4572000" y="4673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MacButton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5D61630-486A-48E0-A9DC-C022CE77F890}"/>
              </a:ext>
            </a:extLst>
          </p:cNvPr>
          <p:cNvSpPr/>
          <p:nvPr/>
        </p:nvSpPr>
        <p:spPr>
          <a:xfrm>
            <a:off x="6248400" y="4635500"/>
            <a:ext cx="1371600" cy="355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8434EA-39EE-4F4D-9C73-FCE53F51CE70}"/>
              </a:ext>
            </a:extLst>
          </p:cNvPr>
          <p:cNvSpPr txBox="1"/>
          <p:nvPr/>
        </p:nvSpPr>
        <p:spPr>
          <a:xfrm>
            <a:off x="6248400" y="4673600"/>
            <a:ext cx="137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MacCheckbox</a:t>
            </a:r>
          </a:p>
        </p:txBody>
      </p:sp>
    </p:spTree>
    <p:extLst>
      <p:ext uri="{BB962C8B-B14F-4D97-AF65-F5344CB8AC3E}">
        <p14:creationId xmlns:p14="http://schemas.microsoft.com/office/powerpoint/2010/main" val="429480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C4BCA5-A091-40CD-8568-E834FDA53558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03  / 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4FC70-4FFB-4D58-9CB5-24595ACEF887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C++ implementation snapshot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08781-4A54-4848-8855-DEB2576138DD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03  / 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B213FC-ABEF-4A1E-BD8A-6504786892BC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A7BAEE-6587-4F90-94D8-5614A872835C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8DCC36-6AC9-4E87-BAB1-CA510B3DC6CD}"/>
              </a:ext>
            </a:extLst>
          </p:cNvPr>
          <p:cNvSpPr/>
          <p:nvPr/>
        </p:nvSpPr>
        <p:spPr>
          <a:xfrm>
            <a:off x="609600" y="1625600"/>
            <a:ext cx="6985000" cy="4191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A011D-F7F8-4D86-9BE4-3192D3E479C5}"/>
              </a:ext>
            </a:extLst>
          </p:cNvPr>
          <p:cNvSpPr txBox="1"/>
          <p:nvPr/>
        </p:nvSpPr>
        <p:spPr>
          <a:xfrm>
            <a:off x="863600" y="18796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50">
                <a:solidFill>
                  <a:srgbClr val="FFFFFF"/>
                </a:solidFill>
                <a:latin typeface="Cascadia Mono" panose="020B0609020000020004" pitchFamily="49" charset="0"/>
              </a:rPr>
              <a:t>class GUIFactory {
public:
  virtual shared_ptr&lt;Button&gt;
    createButton() = 0;
  virtual shared_ptr&lt;Checkbox&gt;
    createCheckbox() = 0;
};
class WinFactory : public GUIFactory {
  // returns WinButton + WinCheckbox
};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15918B-7056-4376-98AF-ED71F26171AF}"/>
              </a:ext>
            </a:extLst>
          </p:cNvPr>
          <p:cNvSpPr/>
          <p:nvPr/>
        </p:nvSpPr>
        <p:spPr>
          <a:xfrm>
            <a:off x="8039100" y="1676400"/>
            <a:ext cx="16891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0D7B6-10AA-4DCD-B56B-577F01C4DF41}"/>
              </a:ext>
            </a:extLst>
          </p:cNvPr>
          <p:cNvSpPr txBox="1"/>
          <p:nvPr/>
        </p:nvSpPr>
        <p:spPr>
          <a:xfrm>
            <a:off x="8039100" y="17145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CLIENT DEPENDS 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43171-EB5D-494A-9150-5E81F375B47B}"/>
              </a:ext>
            </a:extLst>
          </p:cNvPr>
          <p:cNvSpPr txBox="1"/>
          <p:nvPr/>
        </p:nvSpPr>
        <p:spPr>
          <a:xfrm>
            <a:off x="8039100" y="2286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0F172A"/>
                </a:solidFill>
                <a:latin typeface="Aptos"/>
              </a:rPr>
              <a:t>GUIFactory
Button / Checkbox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0139AD-A728-4A67-84A6-DD90BFCD6C55}"/>
              </a:ext>
            </a:extLst>
          </p:cNvPr>
          <p:cNvCxnSpPr/>
          <p:nvPr/>
        </p:nvCxnSpPr>
        <p:spPr>
          <a:xfrm>
            <a:off x="8039100" y="3098800"/>
            <a:ext cx="31623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46BF01-2CE5-4655-BF27-D4CF8981F94A}"/>
              </a:ext>
            </a:extLst>
          </p:cNvPr>
          <p:cNvSpPr/>
          <p:nvPr/>
        </p:nvSpPr>
        <p:spPr>
          <a:xfrm>
            <a:off x="8039100" y="3390900"/>
            <a:ext cx="1930400" cy="355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1E9CE-3084-4F85-9324-58DE7EFBC907}"/>
              </a:ext>
            </a:extLst>
          </p:cNvPr>
          <p:cNvSpPr txBox="1"/>
          <p:nvPr/>
        </p:nvSpPr>
        <p:spPr>
          <a:xfrm>
            <a:off x="8039100" y="34290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CONCRETE FAMILY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32595A-6EF9-4546-808F-DE3D87FAEBCF}"/>
              </a:ext>
            </a:extLst>
          </p:cNvPr>
          <p:cNvSpPr txBox="1"/>
          <p:nvPr/>
        </p:nvSpPr>
        <p:spPr>
          <a:xfrm>
            <a:off x="8039100" y="4013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0F172A"/>
                </a:solidFill>
                <a:latin typeface="Aptos"/>
              </a:rPr>
              <a:t>WinFactory
WinButton / WinCheckbox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157878-B426-408E-B82F-AE527F63679C}"/>
              </a:ext>
            </a:extLst>
          </p:cNvPr>
          <p:cNvSpPr txBox="1"/>
          <p:nvPr/>
        </p:nvSpPr>
        <p:spPr>
          <a:xfrm>
            <a:off x="8039100" y="5029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4748B"/>
                </a:solidFill>
                <a:latin typeface="Aptos"/>
              </a:rPr>
              <a:t>Source: abstract_factory_implementation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4056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0FFC06B-A897-4540-BE95-89F51187C73F}"/>
              </a:ext>
            </a:extLst>
          </p:cNvPr>
          <p:cNvSpPr/>
          <p:nvPr/>
        </p:nvSpPr>
        <p:spPr>
          <a:xfrm>
            <a:off x="8572500" y="-1460500"/>
            <a:ext cx="4826000" cy="4826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8CB979-C422-475E-949E-B5B31420CC41}"/>
              </a:ext>
            </a:extLst>
          </p:cNvPr>
          <p:cNvSpPr/>
          <p:nvPr/>
        </p:nvSpPr>
        <p:spPr>
          <a:xfrm>
            <a:off x="9906000" y="508000"/>
            <a:ext cx="2603500" cy="26035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8D9DE-5170-41B7-A5FE-64784847CD7C}"/>
              </a:ext>
            </a:extLst>
          </p:cNvPr>
          <p:cNvSpPr txBox="1"/>
          <p:nvPr/>
        </p:nvSpPr>
        <p:spPr>
          <a:xfrm>
            <a:off x="736600" y="660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2D3EE"/>
                </a:solidFill>
                <a:latin typeface="Aptos"/>
              </a:rPr>
              <a:t>SECTION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7515E-D423-4E20-A0B6-F5351D9E92F8}"/>
              </a:ext>
            </a:extLst>
          </p:cNvPr>
          <p:cNvSpPr txBox="1"/>
          <p:nvPr/>
        </p:nvSpPr>
        <p:spPr>
          <a:xfrm>
            <a:off x="736600" y="20828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Aptos Display"/>
              </a:rPr>
              <a:t>Trade-offs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331D3-D708-4A8D-98D4-DE8BE0361858}"/>
              </a:ext>
            </a:extLst>
          </p:cNvPr>
          <p:cNvSpPr txBox="1"/>
          <p:nvPr/>
        </p:nvSpPr>
        <p:spPr>
          <a:xfrm>
            <a:off x="787400" y="3378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E0E7FF"/>
                </a:solidFill>
                <a:latin typeface="Aptos"/>
              </a:rPr>
              <a:t>Strong family consistency and extensibility, with an intentional increase in structure.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7E466-2124-49CF-B19D-92A969BC70F5}"/>
              </a:ext>
            </a:extLst>
          </p:cNvPr>
          <p:cNvSpPr txBox="1"/>
          <p:nvPr/>
        </p:nvSpPr>
        <p:spPr>
          <a:xfrm>
            <a:off x="736600" y="618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BBEB3-BBDD-4B08-9F5D-70FECEFCC2B5}"/>
              </a:ext>
            </a:extLst>
          </p:cNvPr>
          <p:cNvSpPr txBox="1"/>
          <p:nvPr/>
        </p:nvSpPr>
        <p:spPr>
          <a:xfrm>
            <a:off x="10858500" y="6184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7649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42802-95B2-45F0-9C7C-B4D72370A2FE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04  /  TRADE-OFFS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74202-C009-46D7-B7F4-65A34E9E7AE7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Where Abstract Factory earns its keep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FB562-B734-4ACE-885B-D3FAC21C4A3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04  /  TRADE-OFFS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27FB48-3336-41B4-9A14-145FB4087AF9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3B0A99-6840-4087-8606-4E21E3204189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367D53-DEF4-479B-8C03-DB0705FB7CC1}"/>
              </a:ext>
            </a:extLst>
          </p:cNvPr>
          <p:cNvSpPr/>
          <p:nvPr/>
        </p:nvSpPr>
        <p:spPr>
          <a:xfrm>
            <a:off x="609600" y="16764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8FBDA2-F102-4CFB-A99B-C68DAF8C122B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2C172-E849-44C1-A52C-3B387BA0C64E}"/>
              </a:ext>
            </a:extLst>
          </p:cNvPr>
          <p:cNvSpPr txBox="1"/>
          <p:nvPr/>
        </p:nvSpPr>
        <p:spPr>
          <a:xfrm>
            <a:off x="914400" y="1892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Dependency inversion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C1D7C-1D58-4E6C-BC38-0F6B8713EE9B}"/>
              </a:ext>
            </a:extLst>
          </p:cNvPr>
          <p:cNvSpPr txBox="1"/>
          <p:nvPr/>
        </p:nvSpPr>
        <p:spPr>
          <a:xfrm>
            <a:off x="914400" y="2349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The client depends on stable abstractions, not platform-specific classes.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2853EA-7857-4434-B99C-1C91E0B8C2E3}"/>
              </a:ext>
            </a:extLst>
          </p:cNvPr>
          <p:cNvSpPr/>
          <p:nvPr/>
        </p:nvSpPr>
        <p:spPr>
          <a:xfrm>
            <a:off x="6273800" y="16764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C92DD0-A37D-4A12-BD99-4889C22BF1C1}"/>
              </a:ext>
            </a:extLst>
          </p:cNvPr>
          <p:cNvSpPr/>
          <p:nvPr/>
        </p:nvSpPr>
        <p:spPr>
          <a:xfrm>
            <a:off x="6273800" y="1676400"/>
            <a:ext cx="88900" cy="18415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65AC3-D4B1-4096-953A-EA55D43C3C5A}"/>
              </a:ext>
            </a:extLst>
          </p:cNvPr>
          <p:cNvSpPr txBox="1"/>
          <p:nvPr/>
        </p:nvSpPr>
        <p:spPr>
          <a:xfrm>
            <a:off x="6578600" y="1892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Client decoupling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113E9C-2D02-490F-A195-7A894C1515EA}"/>
              </a:ext>
            </a:extLst>
          </p:cNvPr>
          <p:cNvSpPr txBox="1"/>
          <p:nvPr/>
        </p:nvSpPr>
        <p:spPr>
          <a:xfrm>
            <a:off x="6578600" y="2349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Concrete construction details stay behind the factory boundary.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6A1513-5273-4966-AAF0-85295C10F892}"/>
              </a:ext>
            </a:extLst>
          </p:cNvPr>
          <p:cNvSpPr/>
          <p:nvPr/>
        </p:nvSpPr>
        <p:spPr>
          <a:xfrm>
            <a:off x="609600" y="38100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386A18-817E-4366-ABBD-F28FA9277CE7}"/>
              </a:ext>
            </a:extLst>
          </p:cNvPr>
          <p:cNvSpPr/>
          <p:nvPr/>
        </p:nvSpPr>
        <p:spPr>
          <a:xfrm>
            <a:off x="609600" y="3810000"/>
            <a:ext cx="88900" cy="18415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74CCB4-BC30-41FA-9EEB-66025A1A52FF}"/>
              </a:ext>
            </a:extLst>
          </p:cNvPr>
          <p:cNvSpPr txBox="1"/>
          <p:nvPr/>
        </p:nvSpPr>
        <p:spPr>
          <a:xfrm>
            <a:off x="914400" y="40259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Family consistency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487D68-9FE4-4928-AA82-F21BFE2CF0C9}"/>
              </a:ext>
            </a:extLst>
          </p:cNvPr>
          <p:cNvSpPr txBox="1"/>
          <p:nvPr/>
        </p:nvSpPr>
        <p:spPr>
          <a:xfrm>
            <a:off x="914400" y="44831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Products from one factory are designed to work together.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E08FFF-4051-44D3-BDE2-9267989292FC}"/>
              </a:ext>
            </a:extLst>
          </p:cNvPr>
          <p:cNvSpPr/>
          <p:nvPr/>
        </p:nvSpPr>
        <p:spPr>
          <a:xfrm>
            <a:off x="6273800" y="3810000"/>
            <a:ext cx="53086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FDFC6E-827A-4F4A-99F3-C26B06A35BA8}"/>
              </a:ext>
            </a:extLst>
          </p:cNvPr>
          <p:cNvSpPr/>
          <p:nvPr/>
        </p:nvSpPr>
        <p:spPr>
          <a:xfrm>
            <a:off x="6273800" y="3810000"/>
            <a:ext cx="88900" cy="18415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2EE18-577A-4132-8E93-3ED7400A7F1E}"/>
              </a:ext>
            </a:extLst>
          </p:cNvPr>
          <p:cNvSpPr txBox="1"/>
          <p:nvPr/>
        </p:nvSpPr>
        <p:spPr>
          <a:xfrm>
            <a:off x="6578600" y="40259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New families are easy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39312-39EA-4E0C-9485-62963F49AA5B}"/>
              </a:ext>
            </a:extLst>
          </p:cNvPr>
          <p:cNvSpPr txBox="1"/>
          <p:nvPr/>
        </p:nvSpPr>
        <p:spPr>
          <a:xfrm>
            <a:off x="6578600" y="44831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Add LinuxFactory without rewriting existing client logic.</a:t>
            </a:r>
          </a:p>
        </p:txBody>
      </p:sp>
    </p:spTree>
    <p:extLst>
      <p:ext uri="{BB962C8B-B14F-4D97-AF65-F5344CB8AC3E}">
        <p14:creationId xmlns:p14="http://schemas.microsoft.com/office/powerpoint/2010/main" val="4242470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5C98D4-0F78-42F1-9DF0-6C76B5F8F08C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04  /  TRADE-OFFS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DD448-FF2D-405E-80CF-24CBFD335B8B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The cost of the abstraction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BF502-E606-4AF9-95B4-714C1FE085B6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04  /  TRADE-OFFS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AD0F37-5CE9-4B44-9018-9AC98A760470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D74638-B5BE-418B-8D71-EC142E2117B8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2946A0-420E-4DCD-94C6-805C31D39336}"/>
              </a:ext>
            </a:extLst>
          </p:cNvPr>
          <p:cNvSpPr/>
          <p:nvPr/>
        </p:nvSpPr>
        <p:spPr>
          <a:xfrm>
            <a:off x="609600" y="1803400"/>
            <a:ext cx="53086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4DEB47-C0B1-40AA-853E-5C986BAFDB6B}"/>
              </a:ext>
            </a:extLst>
          </p:cNvPr>
          <p:cNvSpPr/>
          <p:nvPr/>
        </p:nvSpPr>
        <p:spPr>
          <a:xfrm>
            <a:off x="609600" y="1803400"/>
            <a:ext cx="88900" cy="16510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7CBB4-2099-4EB2-BA53-4A7ABC86D471}"/>
              </a:ext>
            </a:extLst>
          </p:cNvPr>
          <p:cNvSpPr txBox="1"/>
          <p:nvPr/>
        </p:nvSpPr>
        <p:spPr>
          <a:xfrm>
            <a:off x="914400" y="2019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New product types ripple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920D1-490D-42EC-AACF-A3558D1374FE}"/>
              </a:ext>
            </a:extLst>
          </p:cNvPr>
          <p:cNvSpPr txBox="1"/>
          <p:nvPr/>
        </p:nvSpPr>
        <p:spPr>
          <a:xfrm>
            <a:off x="914400" y="2476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Adding createSlider() changes the abstract factory and every concrete factory.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1FD245-CCAE-4B94-92CE-7A5DF8881771}"/>
              </a:ext>
            </a:extLst>
          </p:cNvPr>
          <p:cNvSpPr/>
          <p:nvPr/>
        </p:nvSpPr>
        <p:spPr>
          <a:xfrm>
            <a:off x="6273800" y="1803400"/>
            <a:ext cx="53086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371CEC-5281-4DFC-A9EF-14928B8621FD}"/>
              </a:ext>
            </a:extLst>
          </p:cNvPr>
          <p:cNvSpPr/>
          <p:nvPr/>
        </p:nvSpPr>
        <p:spPr>
          <a:xfrm>
            <a:off x="6273800" y="1803400"/>
            <a:ext cx="88900" cy="16510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45C98-BC25-4B19-90C8-BDA4B53B14A1}"/>
              </a:ext>
            </a:extLst>
          </p:cNvPr>
          <p:cNvSpPr txBox="1"/>
          <p:nvPr/>
        </p:nvSpPr>
        <p:spPr>
          <a:xfrm>
            <a:off x="6578600" y="2019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More types to navigate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0E2FB-6FE6-4203-8E1C-12F5B579970E}"/>
              </a:ext>
            </a:extLst>
          </p:cNvPr>
          <p:cNvSpPr txBox="1"/>
          <p:nvPr/>
        </p:nvSpPr>
        <p:spPr>
          <a:xfrm>
            <a:off x="6578600" y="24765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Factories, interfaces, and products increase the number of classes in the system.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9C11F8-4185-4513-99C3-7F923DEF16EA}"/>
              </a:ext>
            </a:extLst>
          </p:cNvPr>
          <p:cNvSpPr/>
          <p:nvPr/>
        </p:nvSpPr>
        <p:spPr>
          <a:xfrm>
            <a:off x="3441700" y="3886200"/>
            <a:ext cx="53086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82FB86-AC93-4A28-8A44-8A289E30789C}"/>
              </a:ext>
            </a:extLst>
          </p:cNvPr>
          <p:cNvSpPr/>
          <p:nvPr/>
        </p:nvSpPr>
        <p:spPr>
          <a:xfrm>
            <a:off x="3441700" y="3886200"/>
            <a:ext cx="88900" cy="16510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EEA72-40A5-43BB-B8FE-5BB6E135CE34}"/>
              </a:ext>
            </a:extLst>
          </p:cNvPr>
          <p:cNvSpPr txBox="1"/>
          <p:nvPr/>
        </p:nvSpPr>
        <p:spPr>
          <a:xfrm>
            <a:off x="3746500" y="41021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Upfront design matters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1F0462-5B11-43C2-8A7B-A91B1738B664}"/>
              </a:ext>
            </a:extLst>
          </p:cNvPr>
          <p:cNvSpPr txBox="1"/>
          <p:nvPr/>
        </p:nvSpPr>
        <p:spPr>
          <a:xfrm>
            <a:off x="3746500" y="45593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75569"/>
                </a:solidFill>
                <a:latin typeface="Aptos"/>
              </a:rPr>
              <a:t>The product-family boundaries must be understood early enough to remain useful.</a:t>
            </a:r>
          </a:p>
        </p:txBody>
      </p:sp>
    </p:spTree>
    <p:extLst>
      <p:ext uri="{BB962C8B-B14F-4D97-AF65-F5344CB8AC3E}">
        <p14:creationId xmlns:p14="http://schemas.microsoft.com/office/powerpoint/2010/main" val="364645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0955E31-9D5E-49B0-97BB-1068044E5CA6}"/>
              </a:ext>
            </a:extLst>
          </p:cNvPr>
          <p:cNvSpPr/>
          <p:nvPr/>
        </p:nvSpPr>
        <p:spPr>
          <a:xfrm>
            <a:off x="8572500" y="-1460500"/>
            <a:ext cx="4826000" cy="4826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CD576A-22F4-4800-968A-0B02356D0FAA}"/>
              </a:ext>
            </a:extLst>
          </p:cNvPr>
          <p:cNvSpPr/>
          <p:nvPr/>
        </p:nvSpPr>
        <p:spPr>
          <a:xfrm>
            <a:off x="9906000" y="508000"/>
            <a:ext cx="2603500" cy="26035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5CABCB-DAD6-462E-8B78-7ABAC804D499}"/>
              </a:ext>
            </a:extLst>
          </p:cNvPr>
          <p:cNvSpPr txBox="1"/>
          <p:nvPr/>
        </p:nvSpPr>
        <p:spPr>
          <a:xfrm>
            <a:off x="736600" y="660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2D3EE"/>
                </a:solidFill>
                <a:latin typeface="Aptos"/>
              </a:rPr>
              <a:t>SECTION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617EF4-CCE4-4323-8C18-BB2B281C2C02}"/>
              </a:ext>
            </a:extLst>
          </p:cNvPr>
          <p:cNvSpPr txBox="1"/>
          <p:nvPr/>
        </p:nvSpPr>
        <p:spPr>
          <a:xfrm>
            <a:off x="736600" y="20828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Aptos Display"/>
              </a:rPr>
              <a:t>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67708-CFF1-4D82-AEE4-1D0A66E418C4}"/>
              </a:ext>
            </a:extLst>
          </p:cNvPr>
          <p:cNvSpPr txBox="1"/>
          <p:nvPr/>
        </p:nvSpPr>
        <p:spPr>
          <a:xfrm>
            <a:off x="787400" y="3378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E0E7FF"/>
                </a:solidFill>
                <a:latin typeface="Aptos"/>
              </a:rPr>
              <a:t>Use it when the system must switch complete families, not isolated objects.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8CF0D-77E4-403E-98A1-85DF400F5AD0}"/>
              </a:ext>
            </a:extLst>
          </p:cNvPr>
          <p:cNvSpPr txBox="1"/>
          <p:nvPr/>
        </p:nvSpPr>
        <p:spPr>
          <a:xfrm>
            <a:off x="736600" y="618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B6148-FFBC-4815-8A88-7052BD0860EA}"/>
              </a:ext>
            </a:extLst>
          </p:cNvPr>
          <p:cNvSpPr txBox="1"/>
          <p:nvPr/>
        </p:nvSpPr>
        <p:spPr>
          <a:xfrm>
            <a:off x="10858500" y="6184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2328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4549C-B1FB-43FD-8431-D5AE41E17897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05  / 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EE456-893C-4381-88CA-2B1DC54A1E93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Game theming: one biome, one coherent world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8AA02-0FA1-4AA4-8929-FB87BB26403E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05  /  APPLICATIONS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C26B10-A415-48E8-BAB8-996357E32140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2482E2-544C-4C9B-BEBC-6F632C48AC3B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2CC711-2DFA-4997-B045-25D8236E7946}"/>
              </a:ext>
            </a:extLst>
          </p:cNvPr>
          <p:cNvSpPr/>
          <p:nvPr/>
        </p:nvSpPr>
        <p:spPr>
          <a:xfrm>
            <a:off x="609600" y="1676400"/>
            <a:ext cx="5207000" cy="3962400"/>
          </a:xfrm>
          <a:prstGeom prst="roundRect">
            <a:avLst/>
          </a:prstGeom>
          <a:solidFill>
            <a:srgbClr val="0B1739"/>
          </a:solidFill>
          <a:ln w="12700"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4EAD11-5545-426A-BF01-DFE1CCC2D04E}"/>
              </a:ext>
            </a:extLst>
          </p:cNvPr>
          <p:cNvSpPr/>
          <p:nvPr/>
        </p:nvSpPr>
        <p:spPr>
          <a:xfrm>
            <a:off x="914400" y="1955800"/>
            <a:ext cx="1422400" cy="355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B819DE-3D0F-4147-BAA8-45112E386747}"/>
              </a:ext>
            </a:extLst>
          </p:cNvPr>
          <p:cNvSpPr txBox="1"/>
          <p:nvPr/>
        </p:nvSpPr>
        <p:spPr>
          <a:xfrm>
            <a:off x="914400" y="1993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ICE FACTORY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3D5F75-51DF-4252-92CA-35EA3E7795ED}"/>
              </a:ext>
            </a:extLst>
          </p:cNvPr>
          <p:cNvSpPr/>
          <p:nvPr/>
        </p:nvSpPr>
        <p:spPr>
          <a:xfrm>
            <a:off x="1270000" y="2768600"/>
            <a:ext cx="1270000" cy="1270000"/>
          </a:xfrm>
          <a:prstGeom prst="ellipse">
            <a:avLst/>
          </a:prstGeom>
          <a:solidFill>
            <a:srgbClr val="CFFAFE"/>
          </a:solidFill>
          <a:ln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FAC0C-E887-40ED-9309-F8D4160ADEE8}"/>
              </a:ext>
            </a:extLst>
          </p:cNvPr>
          <p:cNvSpPr txBox="1"/>
          <p:nvPr/>
        </p:nvSpPr>
        <p:spPr>
          <a:xfrm>
            <a:off x="1270000" y="31496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0B1739"/>
                </a:solidFill>
                <a:latin typeface="Aptos"/>
              </a:rPr>
              <a:t>FROST
ENEMY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9058FA-D917-498E-902D-FAEE17355926}"/>
              </a:ext>
            </a:extLst>
          </p:cNvPr>
          <p:cNvSpPr/>
          <p:nvPr/>
        </p:nvSpPr>
        <p:spPr>
          <a:xfrm>
            <a:off x="3289300" y="2768600"/>
            <a:ext cx="1524000" cy="12700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B7540E-FECA-4E98-B25C-8DC6D54C2288}"/>
              </a:ext>
            </a:extLst>
          </p:cNvPr>
          <p:cNvSpPr txBox="1"/>
          <p:nvPr/>
        </p:nvSpPr>
        <p:spPr>
          <a:xfrm>
            <a:off x="3416300" y="31369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0B1739"/>
                </a:solidFill>
                <a:latin typeface="Aptos"/>
              </a:rPr>
              <a:t>ICE
WEAPON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1FA6D0-687A-40CD-BFB2-E2233D6AAC29}"/>
              </a:ext>
            </a:extLst>
          </p:cNvPr>
          <p:cNvSpPr/>
          <p:nvPr/>
        </p:nvSpPr>
        <p:spPr>
          <a:xfrm>
            <a:off x="914400" y="4406900"/>
            <a:ext cx="1549400" cy="355600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98C4A0-6EAE-408A-B057-0957F5029A55}"/>
              </a:ext>
            </a:extLst>
          </p:cNvPr>
          <p:cNvSpPr txBox="1"/>
          <p:nvPr/>
        </p:nvSpPr>
        <p:spPr>
          <a:xfrm>
            <a:off x="914400" y="4445000"/>
            <a:ext cx="1549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NETHER FACTORY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3DFB51-61F2-4BE9-AC74-F609AB846F35}"/>
              </a:ext>
            </a:extLst>
          </p:cNvPr>
          <p:cNvSpPr/>
          <p:nvPr/>
        </p:nvSpPr>
        <p:spPr>
          <a:xfrm>
            <a:off x="2717800" y="4368800"/>
            <a:ext cx="838200" cy="838200"/>
          </a:xfrm>
          <a:prstGeom prst="ellipse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0AC4E1-E7B0-49BA-B5C1-F73DD61E0FB4}"/>
              </a:ext>
            </a:extLst>
          </p:cNvPr>
          <p:cNvSpPr txBox="1"/>
          <p:nvPr/>
        </p:nvSpPr>
        <p:spPr>
          <a:xfrm>
            <a:off x="2717800" y="4635500"/>
            <a:ext cx="83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50" b="1">
                <a:solidFill>
                  <a:srgbClr val="0B1739"/>
                </a:solidFill>
                <a:latin typeface="Aptos"/>
              </a:rPr>
              <a:t>FIRE
ENEMY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0B68F8-2CB4-4C6E-BAC9-838E5A997FDA}"/>
              </a:ext>
            </a:extLst>
          </p:cNvPr>
          <p:cNvSpPr/>
          <p:nvPr/>
        </p:nvSpPr>
        <p:spPr>
          <a:xfrm>
            <a:off x="3886200" y="4368800"/>
            <a:ext cx="1219200" cy="8382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36C07-A631-47A1-9F2D-5EE14B206191}"/>
              </a:ext>
            </a:extLst>
          </p:cNvPr>
          <p:cNvSpPr txBox="1"/>
          <p:nvPr/>
        </p:nvSpPr>
        <p:spPr>
          <a:xfrm>
            <a:off x="3962400" y="46355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950" b="1">
                <a:solidFill>
                  <a:srgbClr val="0B1739"/>
                </a:solidFill>
                <a:latin typeface="Aptos"/>
              </a:rPr>
              <a:t>LAVA
WEAPON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240A48-DBFB-4428-9DBE-C20A60E18998}"/>
              </a:ext>
            </a:extLst>
          </p:cNvPr>
          <p:cNvSpPr txBox="1"/>
          <p:nvPr/>
        </p:nvSpPr>
        <p:spPr>
          <a:xfrm>
            <a:off x="6527800" y="1803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4F46E5"/>
                </a:solidFill>
                <a:latin typeface="Aptos"/>
              </a:rPr>
              <a:t>PATTERN MAPPING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B80AED-1634-41C0-9EA7-C22ED5D72BAD}"/>
              </a:ext>
            </a:extLst>
          </p:cNvPr>
          <p:cNvSpPr/>
          <p:nvPr/>
        </p:nvSpPr>
        <p:spPr>
          <a:xfrm>
            <a:off x="6527800" y="2286000"/>
            <a:ext cx="444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2BD5570-D91F-4FCC-A8B4-069D1824371B}"/>
              </a:ext>
            </a:extLst>
          </p:cNvPr>
          <p:cNvSpPr/>
          <p:nvPr/>
        </p:nvSpPr>
        <p:spPr>
          <a:xfrm>
            <a:off x="6527800" y="2286000"/>
            <a:ext cx="88900" cy="11938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E4ED3-F123-4AAE-8791-C3D5EA020BC3}"/>
              </a:ext>
            </a:extLst>
          </p:cNvPr>
          <p:cNvSpPr txBox="1"/>
          <p:nvPr/>
        </p:nvSpPr>
        <p:spPr>
          <a:xfrm>
            <a:off x="6832600" y="25019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Abstract factory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82138B-46F9-432C-B8CA-9D8517B1C47F}"/>
              </a:ext>
            </a:extLst>
          </p:cNvPr>
          <p:cNvSpPr txBox="1"/>
          <p:nvPr/>
        </p:nvSpPr>
        <p:spPr>
          <a:xfrm>
            <a:off x="6832600" y="29591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BiomeFactory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B996F2-0643-4FB5-BB0E-563884C2563C}"/>
              </a:ext>
            </a:extLst>
          </p:cNvPr>
          <p:cNvSpPr/>
          <p:nvPr/>
        </p:nvSpPr>
        <p:spPr>
          <a:xfrm>
            <a:off x="6527800" y="3695700"/>
            <a:ext cx="4445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740AB7-3F67-4EF4-B812-4A21977A434A}"/>
              </a:ext>
            </a:extLst>
          </p:cNvPr>
          <p:cNvSpPr/>
          <p:nvPr/>
        </p:nvSpPr>
        <p:spPr>
          <a:xfrm>
            <a:off x="6527800" y="3695700"/>
            <a:ext cx="88900" cy="11938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291552-7792-4D72-91B4-D95A12FC24CB}"/>
              </a:ext>
            </a:extLst>
          </p:cNvPr>
          <p:cNvSpPr txBox="1"/>
          <p:nvPr/>
        </p:nvSpPr>
        <p:spPr>
          <a:xfrm>
            <a:off x="6832600" y="39116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Abstract products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10B310-7137-4471-9E5A-8ED4629964B5}"/>
              </a:ext>
            </a:extLst>
          </p:cNvPr>
          <p:cNvSpPr txBox="1"/>
          <p:nvPr/>
        </p:nvSpPr>
        <p:spPr>
          <a:xfrm>
            <a:off x="6832600" y="43688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475569"/>
                </a:solidFill>
                <a:latin typeface="Aptos"/>
              </a:rPr>
              <a:t>Enemy + Weapon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C14A442-B572-490C-8FD9-03AA6D65174D}"/>
              </a:ext>
            </a:extLst>
          </p:cNvPr>
          <p:cNvSpPr/>
          <p:nvPr/>
        </p:nvSpPr>
        <p:spPr>
          <a:xfrm>
            <a:off x="6527800" y="5181600"/>
            <a:ext cx="44450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1FC1B5-8AE6-4A66-95EE-244655520088}"/>
              </a:ext>
            </a:extLst>
          </p:cNvPr>
          <p:cNvSpPr txBox="1"/>
          <p:nvPr/>
        </p:nvSpPr>
        <p:spPr>
          <a:xfrm>
            <a:off x="6527800" y="52197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SWITCH THE FACTORY -&gt; SWITCH THE WORLD</a:t>
            </a:r>
          </a:p>
        </p:txBody>
      </p:sp>
    </p:spTree>
    <p:extLst>
      <p:ext uri="{BB962C8B-B14F-4D97-AF65-F5344CB8AC3E}">
        <p14:creationId xmlns:p14="http://schemas.microsoft.com/office/powerpoint/2010/main" val="294589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B44D857-06AA-408F-BB6A-A8F5F66E3CF4}"/>
              </a:ext>
            </a:extLst>
          </p:cNvPr>
          <p:cNvSpPr/>
          <p:nvPr/>
        </p:nvSpPr>
        <p:spPr>
          <a:xfrm>
            <a:off x="8572500" y="-1460500"/>
            <a:ext cx="4826000" cy="4826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11E563-A069-4259-86B4-9073D02B08F2}"/>
              </a:ext>
            </a:extLst>
          </p:cNvPr>
          <p:cNvSpPr/>
          <p:nvPr/>
        </p:nvSpPr>
        <p:spPr>
          <a:xfrm>
            <a:off x="9906000" y="508000"/>
            <a:ext cx="2603500" cy="26035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362D1-3592-43E4-A3C3-1EC3D5625510}"/>
              </a:ext>
            </a:extLst>
          </p:cNvPr>
          <p:cNvSpPr txBox="1"/>
          <p:nvPr/>
        </p:nvSpPr>
        <p:spPr>
          <a:xfrm>
            <a:off x="736600" y="660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22D3EE"/>
                </a:solidFill>
                <a:latin typeface="Aptos"/>
              </a:rPr>
              <a:t>SECTION 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F8074-2564-479E-95E1-07AE302DCE22}"/>
              </a:ext>
            </a:extLst>
          </p:cNvPr>
          <p:cNvSpPr txBox="1"/>
          <p:nvPr/>
        </p:nvSpPr>
        <p:spPr>
          <a:xfrm>
            <a:off x="736600" y="20828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Aptos Display"/>
              </a:rPr>
              <a:t>Knowledge 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93587-E532-4C28-99D2-FBE4869890FF}"/>
              </a:ext>
            </a:extLst>
          </p:cNvPr>
          <p:cNvSpPr txBox="1"/>
          <p:nvPr/>
        </p:nvSpPr>
        <p:spPr>
          <a:xfrm>
            <a:off x="787400" y="33782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E0E7FF"/>
                </a:solidFill>
                <a:latin typeface="Aptos"/>
              </a:rPr>
              <a:t>Eight quick questions. Each answer is revealed on the following slide.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AD99A-9021-40BA-9DED-934EBC94A80A}"/>
              </a:ext>
            </a:extLst>
          </p:cNvPr>
          <p:cNvSpPr txBox="1"/>
          <p:nvPr/>
        </p:nvSpPr>
        <p:spPr>
          <a:xfrm>
            <a:off x="736600" y="618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67DF1-3EF3-416C-A438-80AC58F20833}"/>
              </a:ext>
            </a:extLst>
          </p:cNvPr>
          <p:cNvSpPr txBox="1"/>
          <p:nvPr/>
        </p:nvSpPr>
        <p:spPr>
          <a:xfrm>
            <a:off x="10858500" y="6184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2000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23D47B-8E21-48D0-88A5-24367EA04DFE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901D3-C9AD-4A56-8899-D645F61F0B8C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DDA02-DD40-4AD0-BF2C-D56091512D6F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74AD1-EB2D-438C-910A-4DAEAE6DF8B8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is the main purpose of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5C33F7-7785-434D-9BF4-BA02370623A8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982AC1-7354-4B53-9F52-52B82DE499EE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D9C8B-7AC4-462F-B93E-BA5BD907A572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0B994-62D8-47AB-908A-3FC7DC65977D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Ensure a class has one instance.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1432EB-3990-42AE-94D8-03C511EA475B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72233F-D4DC-4B6A-882A-F03BBB23C0AD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E5E2EC-3C4D-4EC4-BA5A-D895D741FF26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606F8-CB11-4838-B6BF-C24E52DE835B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Create families of related objects without naming concrete classes.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D15022-B862-43F3-8C7B-AA6C4DC6C66C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B187BC-C5B0-48C8-B675-04D55CA8893F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4BFD0-1AC0-48D9-988D-C77A56B2CDC7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70129-B71A-4A98-A473-295137B7FCDF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Separate complex object construction step by step.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5A9FD9-EDF8-40A5-A8C2-5EDC8A7129C7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06D865-889F-484E-AE10-543987980C7D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F149AF-22AD-4E67-8536-784BAF45E875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7591BD-9F0B-4108-8584-C77F494E85E5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Change an object's behavior at runtime.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B184FB-118F-46EC-9A83-C30D9715FFC6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B0878D-1F41-4C62-9947-27168DC7DA09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B43DE6F-C683-438A-AB14-7E7015EEF844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00615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824909-3DD1-4844-A25A-392157776179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32F0D-D591-46D2-B997-84C77F08AF63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88BDD-D872-4E3C-A423-2CCA1BBF5758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1B37C-E0A2-4065-9B9F-F5576F12B826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is the main purpose of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FECEB2-31AD-4EB7-BAD7-529DECB0C31C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0A06AB-938A-4582-B2FB-D15A7F134EFF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D857F-34A4-4F12-84A3-36F8994F4CB6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D2A49-2FA3-44F0-AACE-F3F2082C0FED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Ensure a class has one instance.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DDEE27-121D-43CA-BF54-99717C4B0A7B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2CA59C9-993C-4824-936C-9F343A48BFB8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F8A09-8E6A-4A0D-A385-644A92757DC7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675AC-5A1F-4902-8B0E-35AD1AAFE538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Create families of related objects without naming concrete classes.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91ED57-ED6D-456B-A7A7-993A844E1C93}"/>
              </a:ext>
            </a:extLst>
          </p:cNvPr>
          <p:cNvSpPr/>
          <p:nvPr/>
        </p:nvSpPr>
        <p:spPr>
          <a:xfrm>
            <a:off x="10248900" y="32639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85455-A537-4736-9221-99D8DFEAB6FE}"/>
              </a:ext>
            </a:extLst>
          </p:cNvPr>
          <p:cNvSpPr txBox="1"/>
          <p:nvPr/>
        </p:nvSpPr>
        <p:spPr>
          <a:xfrm>
            <a:off x="10248900" y="3302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CD4461-A851-418F-B81D-AAEDE0C6B217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370E70-6309-4104-B97D-84709D3BC4C9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1982E-92E4-4BFD-BC4D-B8538DA37CDF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915DA-F4FE-466B-85EB-1D44B98211E5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Separate complex object construction step by step.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6D41E16-CFB0-46E3-AFF8-D5043CAE6FFB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E9D431-2848-4FEB-9299-3FFD6F4E9916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6B8B1-40C1-497E-91F3-BFE14C1A8AC4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A30623-88BD-40A6-8BE2-37151D101082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Change an object's behavior at runtime.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CA6C07-ED8A-473B-B665-3D5FFB62A08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2E7980-F88D-4DEF-9D0D-DD76B00D12B7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F5AE56-7726-4973-8BB2-72F962722452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59250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86D73F-2A82-4B14-B7B8-217D0E1C3B0F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A0982-AC7B-4A7E-ADE1-649DA2D3056D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EF01-7094-46FC-9FFD-8724656D90D5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46A69-C403-4CA5-86FD-1CCCDCAAD9F3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How does Abstract Factory differ from Factory Method?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152FC2-E6BB-46C2-8FF0-26A246B16DF3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F188A9-4F32-42A7-A467-837D24FAB70A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DEC1A-F83C-444B-BC03-3C5E393C72CB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C7BF48-9A5C-4795-87CC-AAF8370F41A6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Factory Method creates families; Abstract Factory creates one object.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1DED12-05F3-4C38-87A7-786C802A122C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FD3C63-238D-48D9-9B71-0EB15B4AFF83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DB7D37-2141-4782-B326-A7BBCFB886B4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6E2B4-C713-4E9E-9872-9967516C2498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Abstract Factory uses inheritance; Factory Method uses composition.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30E437-71E1-4B5F-BEF1-85FBF5167B5B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3A3D9BC-DF5F-455B-B63D-9C5FA34697F6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48251C-C566-402A-99CC-71538437D271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A858CF-F348-4FDF-8C5F-7AEF4D0950C6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Abstract Factory creates product families; Factory Method focuses on one product type.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6A7EB2-4E0A-4C99-BFA8-2F8BCE834845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4879E1-DBA2-48B6-82FF-EAB13827E387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3A42F-5323-430E-B0AB-5BBAB2C141A2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84E0D-9930-4724-B675-1D13C3B11089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They are identical patterns.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9B806-32BA-4FD7-B9D2-1CD9A1EE49A7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B694B9-847F-4E0E-95AD-7254A7C02F48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C44307A-26DE-4E9A-9A51-709811AC050D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44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2961C6-F210-4D0A-8F9D-686A9BAA77B3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9AA38A-9B31-4903-AECF-8D8400D5D58B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BC3D1-CE27-4BBA-966D-5BC49E189316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E0F43-AF61-43DF-ACCA-E5CE0EA7F0EA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How does Abstract Factory differ from Factory Method?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06C70F-01AE-43C9-BFBD-3822C41AFF18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8B8994-8CCA-416A-97CD-85994571F72E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7A47F-F38A-4435-B2C0-7E393DC7D29A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B963B-3F34-4519-9658-3CE27FF6F8E0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Factory Method creates families; Abstract Factory creates one object.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E44FA6-CA64-4522-B3F8-0669409D3C30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8E2830-3FDC-4FD0-B27C-3F36A0EDDFAE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CF9756-2F8B-40E1-9AC3-F16E58759B4C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EC133-165D-41C0-9241-4A02BC9F8786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Abstract Factory uses inheritance; Factory Method uses composition.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CDC1EE-D1C5-4B5E-8C6E-A2A22C3E9BDE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9DBDCB-E16D-483B-8438-C802B68DB401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AD08DF-C137-4945-9F94-980E0A9AA9C3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5BB10-57C2-419D-8D51-B9837B17668E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Abstract Factory creates product families; Factory Method focuses on one product type.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304EF48-48F3-43B3-BAC0-6F8A7C85B533}"/>
              </a:ext>
            </a:extLst>
          </p:cNvPr>
          <p:cNvSpPr/>
          <p:nvPr/>
        </p:nvSpPr>
        <p:spPr>
          <a:xfrm>
            <a:off x="4635500" y="50673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6F8569-EF21-4255-B2B8-4898144E5BBC}"/>
              </a:ext>
            </a:extLst>
          </p:cNvPr>
          <p:cNvSpPr txBox="1"/>
          <p:nvPr/>
        </p:nvSpPr>
        <p:spPr>
          <a:xfrm>
            <a:off x="4635500" y="51054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B77C9E8-08C1-46AD-88DB-57B521D5D7DB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CB5364-A4AB-4472-A463-6039B874B171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7F253-8F91-46C9-8336-30E6D60A8075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FC85B6-CD94-4DE2-9E0E-1A3FFA20CD51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They are identical patterns.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545C77-383C-4BFA-BA88-892FA8C9CB41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E1023A-DA8B-48B4-8226-C49FA3A7107D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3E05413-2D6B-469B-B605-1A40374AC406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76312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0887E1-9237-4915-A456-D6D1C3EAB72D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C526B-BBD1-4D0B-BFCC-E92CBA9E1BF3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B19ED-973C-4A38-8154-AAF9BEC554FE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7B16B-C198-4FEC-BE9F-96D6FF52ADF4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is a major disadvantage of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EE0F86-657E-4314-A376-2443DF916467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4E0A2C-2ED8-4E53-917F-197752A6B029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1A099-79D1-4052-B316-CAE01B5EAECE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9E8C66-E14E-4D63-AD4D-1AADAF509AC7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It tightly couples clients to concrete products.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8815A1-CDFD-4EFD-8B51-D155F464AB1B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20FEEF-379C-4357-8378-592A7F850022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6E880-697C-411D-9594-125A74A9E241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BBBF3C-FBAD-4985-AEC4-90D2A537A54A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new product type requires changes across the factory hierarchy.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FD3E23-EBE6-48CE-AE16-F06CAAE16CBB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32545A-1073-4885-8644-64CAE23BE900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8FC14E-FE13-4940-9FD0-BF3CF323AC1B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1C0A8F-138B-4B9E-84F3-BD8EE002328A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Adding a new family is nearly impossible.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E8B4B1-A1DC-4CA6-9A8E-B1D8215F5843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CFBA4A-5BE9-4B94-A879-78A1F406E619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270E68-EFE8-407E-A0C6-CE8B22BB2DF8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D2105-A1B1-441E-81A6-454052829424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It exposes instantiation logic to the client.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647330-1E84-44B4-A7B4-60153269B226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6C8BDF-05EC-4647-B519-938624414058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BA363D1-70A9-40EB-B266-ED5B994345F1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9768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7A59DF-8573-43E2-B1DE-D80E0730DBB5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19D14-7405-413D-91D3-12A55E465024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22DFF-B58C-44E3-A4DD-366114F1C4F1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E38AF-A0D1-4029-A9E1-CA2B6A55FF92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is a major disadvantage of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326289-13AB-4359-8145-9D1BBD4A4422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4A3AD1-8ED8-4708-9D55-EF3469DE90F8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F0533-D3B4-4A14-99BD-FAC8AC6DCAF3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0FA75-B2DE-4F19-BE8D-52C114EB5130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It tightly couples clients to concrete products.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C8C3C3-63FE-4489-BDD4-CB3145924859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EBCAD3-D6DA-4C57-AFA4-239BAA651817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31946-591E-4491-A614-02722CCC9F72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E8A50-437A-405C-B20E-00CE2AFCDB05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A new product type requires changes across the factory hierarchy.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A00940-3652-4932-A7A7-9CB1F5E02971}"/>
              </a:ext>
            </a:extLst>
          </p:cNvPr>
          <p:cNvSpPr/>
          <p:nvPr/>
        </p:nvSpPr>
        <p:spPr>
          <a:xfrm>
            <a:off x="10248900" y="32639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59D79-7BAB-4E94-B0BF-6BD5FA1F8C2E}"/>
              </a:ext>
            </a:extLst>
          </p:cNvPr>
          <p:cNvSpPr txBox="1"/>
          <p:nvPr/>
        </p:nvSpPr>
        <p:spPr>
          <a:xfrm>
            <a:off x="10248900" y="3302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6BD3F7-BC38-40F8-97C8-57315AD80DA0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644D760-8912-407F-A824-AF3B4DDAE2B9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BF41F-8F02-4E1A-8A62-D48DEC6DB293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1DF85-F267-4EEB-8D7F-59A2A3B8550C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Adding a new family is nearly impossible.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A64E09-7EE6-4C2D-A939-54B387488CAB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8C2F53-3F80-421E-AEA5-F7BB83236652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9D6EA-C543-441B-A41F-FAFDD13474BD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EA9BE-85AD-45FE-9BA3-1548B38B9625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It exposes instantiation logic to the client.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62715F-D9B3-4E10-984C-2D890FC9CBD6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D422A1-C9AC-49C1-AB53-8274AE845294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7A4F66D-4898-4F1E-A21F-AF79DA24AB3F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55292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B10C77-B170-40E3-AF1A-1F529AD87303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13CEB-F7F6-40D7-B529-AD4FF8C64E05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A1D72-49DB-40C2-A002-A964ECFF3A37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D1EA4-BF88-45AE-A7F8-06D48DBB1CE9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scenario best fits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E463D1-A647-402A-835E-C6EEAA539E41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75F71F-C679-452A-9CB6-703EC90F3F4E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48CD8-1960-40DE-9F3C-62E12DAEE201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94A14-E390-4FC8-94E2-08B2F3628E1D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cross-platform UI toolkit with OS-specific component families.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408F5F-A702-4003-A758-1596D5172351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EDE747-AF26-4546-9E90-F87D1D25D347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A26617-6655-4DB9-93C9-DDDE064E74E7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8BA90-1C52-4FDC-BD91-6E62CE294E22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logger choosing between a file and a database.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D9307-40E6-41FE-8815-805CF43F2FF0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F6F24B6-1D56-4D68-A003-F8212BCDE3A9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8C2A2-F0A1-45F6-B61D-B7CD1A732463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2801EB-1D46-4B10-944D-F92AF08CA74E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parser building a document tree step by step.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79A7C8-01FE-452C-8058-917A92625CB5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48BDF6-1979-43BA-9353-802A4807670E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F7A4C1-0F3D-40CF-B949-3BA8E8AF3F65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506D35-9FF2-46FF-94C7-9FD1DA24DB0D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cache that clones prototype objects.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DE81D-0261-484D-A5BA-BC51E74794A1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5492AF-CBEE-45DF-A93C-0B060E386719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E9B08B-B4EA-454E-A2C7-2CC8DADC4055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40694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422AB1-61CA-4267-AB43-AFE4FA8AA826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B4C9A-85FE-4869-9BCC-1BEF3A706F49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FB3C7-925E-4242-ADE5-736A1FA2A51A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9F9BB-D1C2-430D-BEE7-9C4A358D2115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scenario best fits Abstract Factory?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FDE67D-67FC-4B4A-8815-3BF420189547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869AED-9396-49CD-9803-1605A70A58BD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1EE68-C142-4038-857E-AAD04EB632DD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78A2E-8F3E-4BE4-9412-6E5B04A8B52C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A cross-platform UI toolkit with OS-specific component families.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F617A1-0DA7-4AFE-9E39-86A5492DA870}"/>
              </a:ext>
            </a:extLst>
          </p:cNvPr>
          <p:cNvSpPr/>
          <p:nvPr/>
        </p:nvSpPr>
        <p:spPr>
          <a:xfrm>
            <a:off x="4635500" y="32639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3E138-88CD-46F4-9D89-81F58CBEE0DD}"/>
              </a:ext>
            </a:extLst>
          </p:cNvPr>
          <p:cNvSpPr txBox="1"/>
          <p:nvPr/>
        </p:nvSpPr>
        <p:spPr>
          <a:xfrm>
            <a:off x="4635500" y="3302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819289-3CC2-4E4D-AB00-A84D504FC085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D00078-8F7B-42F0-9A0C-981820087FDD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21584-6A74-4139-9DD8-BB2E48A60E9A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ECC02-0F4C-482C-AEFF-F711542C1695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logger choosing between a file and a database.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BE9142-449B-4A43-851F-782CD47D8979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7BAB18-366A-49F2-957D-7CA7858E8B82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E7ABA-B298-4DFE-B0D7-FD05B086A9A8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1B0657-8507-4929-9DD1-B690AB25A2BA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parser building a document tree step by step.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C1D944-B929-45C6-B1B0-9627A131A04C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307A0BD-0BAD-4280-97C8-EBCC7B981F53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9C1471-4839-4D8A-9259-6F080128CED8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C7AF19-C015-4E9D-974C-1B06071E5FD6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 cache that clones prototype objects.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D6351C-92A5-4461-80D0-C74E69D7FD1C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20B186-2D44-40B3-BFD9-AD5582C78581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471EBD-8391-46A2-BF21-867FD37C5FAD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0267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7680191-0B0F-4975-AE5E-B9E9790B3CCE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7CEC8-45E9-4DFE-AA6A-221E25FADF23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67443-31BE-4056-8105-C089DD9CF906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90C44-511F-4A20-AC7A-A59F7789E67C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component actually creates the concrete objects?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A28B56-D602-4D39-B73B-A1FC7FFF46A0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265216-767C-4EFA-B3B7-BBFB9E92F16F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4EBB0-D136-494E-9221-F6C322CD8E86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433EA-0FFA-4E86-A527-4ED67A35AD01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client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8E061E-735E-404D-B734-45A05125973B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EC9A5DA-9344-4F17-8C0C-C36DA5AA9475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C1782-5564-4256-9A96-5EA34509087E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FBE9C-5401-4086-BC36-A8B9CD2362D4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abstract factory interface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7F755E-F090-4779-8541-51CCAABCBE09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DA3A84-B3B0-4C4F-8DCF-08F37F4052E5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B72B75-7F12-4B26-9CD8-001954D47407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44654-593B-4803-AF05-021207760DF1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concrete factories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0CB217-A431-498D-957E-BF42044F88F3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83C9F8-5CED-4151-8E81-33B8E2CF9EC2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0A8D29-98AA-43A4-ADB3-A031E291701A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4FD59A-1762-4D07-9F02-E10E2D6A2204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abstract products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D1F802-3880-4D75-82BC-F47A2671BE1D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666FBC-A1A6-4D6F-BB20-7444C732A969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0B7B41F-110B-4344-ADC1-BCF1E2A48689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13867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1382FB-FC49-460A-941F-F13DE6DDB502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EF7FD-32C8-42B0-B3CC-809F8874301D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0C28D-4F9D-4FF5-B874-35B63CE986D4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38162-EE38-4231-AD81-959B57B38FD7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component actually creates the concrete objects?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64B28-A480-4FB6-ACDE-05B284A041E1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1A2969-EE25-49B4-B8BB-5728B8B7DBDB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6EF9E-1752-4B2C-8233-62092BE3A0A7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BDF81-97D0-4DFC-9EC3-A8500E615189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client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C23A33-D27C-4754-8340-0FB1C9BE817B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DBD1CE-E263-4118-9C8D-00C15915FF68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E9C6B-A039-4352-94D7-4D0DDD5FE0F6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44A18-8A43-4E53-B826-A964FDAC4F63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abstract factory interface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2920EF-4D24-4993-BAD9-1216E85112B0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503CCD-C941-4971-BAE5-E66D30C99C21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228325-6CEF-44FE-A665-25FB74051159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F76B05-FE7D-4F33-B3C9-16D60B7837A4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The concrete factories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C20FE5-F06A-4F3C-817A-CE0BB0638CFC}"/>
              </a:ext>
            </a:extLst>
          </p:cNvPr>
          <p:cNvSpPr/>
          <p:nvPr/>
        </p:nvSpPr>
        <p:spPr>
          <a:xfrm>
            <a:off x="4635500" y="50673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A79BA0-CB8B-4214-95A0-B0DCB7E57C86}"/>
              </a:ext>
            </a:extLst>
          </p:cNvPr>
          <p:cNvSpPr txBox="1"/>
          <p:nvPr/>
        </p:nvSpPr>
        <p:spPr>
          <a:xfrm>
            <a:off x="4635500" y="51054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FD86ED-8931-4D1B-AF55-23EC6FE8844E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B4B54F2-5677-4490-A856-9D88FE6317EF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2DB3D-B9E4-4160-BC5B-CBFA0F2D8FEB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DEE26-2F57-4D8C-9D01-4787E15E8558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The abstract products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E70AC4-6D3A-403D-8B14-24CFC3570BBD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53F6E7-7618-4CC4-943D-347EA069B417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A1385B-127E-4E99-800C-F23A09604F24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54899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EF70F5-05EF-4BAD-9065-0A18CCD2CC6A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BD960-15A0-4276-B7A9-3D410D72ACC1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23FAE-F28A-4DAD-87F0-317A49DC3B56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2EDB5-AEB9-4A31-A25F-E5BB8529674D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pattern is often used to manage a concrete factory instance?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CEA8F3-2CE0-40FE-AA91-E99E1908DB87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F99A1C-7516-45B3-98C5-4216C3C87D20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9D0B0-1EA3-4315-9354-73E36B661134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2B1B2-57B6-49DB-8D6D-16464CAEAF90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Observer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850114-CB81-4408-B53F-E4C9A29DFC64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F441F0-E285-4B90-BD4D-07621F626A99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B5FC5-27CD-4A69-8314-09E9F7B3BC26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25EC4B-7E04-4720-B118-F57BA8709A37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Singleton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0DE537-9B13-40DC-BCB6-31217429A816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A7F16C-8AFC-4702-A64A-592D0D04051A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CDCAB-1124-4BDE-842C-8B2C6F52E7DA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D31F3A-DD3B-4476-A88E-5943B36A8650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Strategy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BD9ED3-E607-4637-9A0E-29A842D85854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D3D59B-6928-422E-96B6-A7BC6A32508A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61C50-F28E-4907-8E5F-CFF843DF7B3A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E2648-5FF9-40C9-A1EB-1A36CAB5817D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Decorator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888E9D-6B6B-4E70-9BAB-E8A0C1A0191A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D3916F-008E-4156-AD57-54A24E136A78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69452C-EDF0-471B-95F4-8CC8621B0BB1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43380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5F9D1C-328F-4DEF-919D-7CF3D0D84800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0FB0F-C46B-49FC-9B6F-9CB94D1B9761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40E9C-607C-42D8-BD2F-F0EB1005FAD6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17448-2962-4F4B-8A1E-8194B3628662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pattern is often used to manage a concrete factory instance?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DECA6-50B9-40BA-B38E-FB7519174530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7EBF5-CD91-4AB7-8314-00F2BA10B64E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AA510-0D0E-45D9-A356-3AC75B0E797C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60E61-4478-49B2-AEAA-88B86073C214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Observer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8C3CDB-11D9-45BC-8FDD-81D1289B5CFF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A7D849-DAC5-4BF6-B65A-ED2266F59AF8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90279-3C2A-4CAD-96DC-8DE04599ACC5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4A7F4D-2B21-4338-AB5C-D10BCE6C4432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Singleton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553FE3-DB00-4C27-8C92-86EB64D0CDB6}"/>
              </a:ext>
            </a:extLst>
          </p:cNvPr>
          <p:cNvSpPr/>
          <p:nvPr/>
        </p:nvSpPr>
        <p:spPr>
          <a:xfrm>
            <a:off x="10248900" y="32639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E7090-CAFB-4DFE-A3E8-8363FFE9C2B9}"/>
              </a:ext>
            </a:extLst>
          </p:cNvPr>
          <p:cNvSpPr txBox="1"/>
          <p:nvPr/>
        </p:nvSpPr>
        <p:spPr>
          <a:xfrm>
            <a:off x="10248900" y="3302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1B6AEE9-6469-44E8-B576-B8EA37F7E01B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6C1403-7ECF-4265-9EF5-90AFBD4680A8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44055C-7DA5-4148-AAEC-EE853A29A63A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76247-0A02-44B1-9953-6B48B8394E0B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Strategy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2B7DE0-AE34-4CD7-B043-A6A4409E8602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A6655B-8767-4124-AF3D-B842783DCAC9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F9F57-255D-4D4B-AF80-6FA4BBE20C5D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956F3A-D1CF-43F2-9D9B-B293C41EAF27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Decorator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CB75E-DE1F-4AD8-8344-0DABFFCD0C7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620FCF-5E4F-44BB-A309-2FFD4B5313FA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15BB83E-CBA9-41CE-BB50-FFC07ADC71DD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693568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565653D-50B3-4CA3-ABD7-547C30D72A99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FDE5D-AF3D-4A34-91AF-3D0B30D68736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93EF1-34A6-49B4-AC04-9C68ECD26558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CA719-7906-4C38-A2EA-1C541CBF6226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should factory creation methods return?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4CA4D6-11E6-40D1-841D-BF307EF0607F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BABF4A-F18A-40F7-A199-E330E930FE4F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B6740-2763-4B78-BA45-DF62815B7C07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F9A5B-28BC-45D6-A86F-4486A9474230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Concrete product types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187AC7-0B00-4D13-B744-2F06D89D8A51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1A4856-B209-4AFC-9496-C5B116B800EC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A2631-C8EB-45BA-8729-9F6625867AEA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1FA09-34F4-432B-AF6B-EF2AA452CE31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Abstract product interfaces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5A84FE-4308-46EA-A629-2D73813717F0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D39118-A2B6-405F-946F-2888D3A169F6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5A37F-5659-4168-837F-751BB9DFD1D6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28BAA2-CBFB-4320-A87C-45C5CC919B1F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Generic Object or Any values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36661C-5168-4859-9D6F-24FBB788AA3A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8B4BF8-1180-4CEF-87B9-716A6088EBB5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CFDA13-3521-4F0D-A7EA-22E66DF735C8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5E67EC-E39C-4315-B160-D12EE464FC8C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Boolean success flags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31ACA-6A53-4E67-9A71-CE57845CFBD3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D1260D-E252-40D8-8A8C-D8778D0C0B88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424BD5-C3AD-4779-997F-58828C69019A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60006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B4D2F9-6A98-43F9-9101-F6B8FF81828F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A6C93-34D2-483A-A7A6-4F6F133C85BF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0FAAD-3BC3-47A6-A601-7209A3BF956E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0481B-A07F-452A-8BE2-61646C964567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What should factory creation methods return?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642050-DAC6-4BEE-B3F3-E635CC2430B1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EE15E5-B7FF-466A-8AAB-221E2F07E44F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0CF359-27DD-428F-BC51-41731CB2431B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A9B84-2160-4B01-9D11-6FBE4EB22D2A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Concrete product types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84C548-B922-44F7-885E-6E06100F8F1E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AA31FE-6849-4C3C-B826-DEDEE16FE7D9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695C6-AF3E-49A1-A35B-3A13E90B1735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9DB85-5B25-481B-8755-8C562F57F1EE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Abstract product interfaces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F59843-85D3-4A77-B7DE-E599C0141055}"/>
              </a:ext>
            </a:extLst>
          </p:cNvPr>
          <p:cNvSpPr/>
          <p:nvPr/>
        </p:nvSpPr>
        <p:spPr>
          <a:xfrm>
            <a:off x="10248900" y="32639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C52B29-9856-4EF9-B2C5-4D3215740158}"/>
              </a:ext>
            </a:extLst>
          </p:cNvPr>
          <p:cNvSpPr txBox="1"/>
          <p:nvPr/>
        </p:nvSpPr>
        <p:spPr>
          <a:xfrm>
            <a:off x="10248900" y="3302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A62183-0DF2-4A22-9B18-806F6CC7E2EA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D4065D-CCE2-44B1-92F1-6B45A995881D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8E37AE-E254-465E-9AFC-A3D4D04EE84C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B9D59-C1F3-4855-9067-CA285D1E9580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Generic Object or Any values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890EB8-554B-4473-8430-544843309438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797778-792B-4F3A-B99D-634EDFAF6F87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82716-0DB1-4016-97FD-B8A9141B295C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949F74-5319-4F1B-83F3-791B3FB74272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Boolean success flags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FBF0C9-1098-4400-8F25-F4A59671368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C8C35E-46BC-4216-9BEA-BF84A530380E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2383BC-EBF3-4E72-AD36-68CB4070A4F5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15423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149D872-B5FB-44C1-B655-0741DEBBB992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DECAF-5088-4FC9-9FC3-137F0CA993E5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527F54-0A4F-4093-92D9-8AEC06F10389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8AD84-9EA8-418A-801D-4D71296ECFEB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SOLID principle does Abstract Factory most directly promote?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1AE729-4935-4E42-AE16-08EBBB983DBF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37F53E-51A0-4DD6-8F15-052AC7919918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7EBD9-F3BC-4A15-A2C6-6EC5C20B49E1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3519F-07F5-435E-84A3-6678BD163BC3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Single Responsibility Principle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864A19-6C73-469D-A07F-BA6C725FF34A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FCD3B2-ED47-465D-92CA-B5A3CCDAB174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CA7E0-5797-439E-9FA2-99EC0CDC9A13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326D5-4588-4F93-A2FD-615957B4163B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Open/Closed Principle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93653C-6D05-4342-8B99-CF731590A7F7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DFB502-7844-4B89-94C5-DAE8AE221E74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182942-8F28-45E4-BC73-09832F790B26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B81612-41F3-4557-A81F-BF4A65019E93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Liskov Substitution Principle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6BA82D-6625-44B3-8BE9-9913591C2BB3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A6535B-83A0-4A7A-B517-500BE5DAB26B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7BC1B-2174-4177-BBFD-92BC6DF8A5E9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EC422-7932-438F-85E7-2A889A91671E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Dependency Inversion Principle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3EFD3-2E58-4421-87D1-FA54DDB0E4B4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830FF6-6608-419F-B50E-6DA7EE03605C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D7164A2-5847-476B-9CC7-793DFED39054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62838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F20E8C-A094-41A5-AD04-C7AF124B530B}"/>
              </a:ext>
            </a:extLst>
          </p:cNvPr>
          <p:cNvSpPr/>
          <p:nvPr/>
        </p:nvSpPr>
        <p:spPr>
          <a:xfrm>
            <a:off x="609600" y="355600"/>
            <a:ext cx="1168400" cy="355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0AA57-9BE2-4FC7-9A3F-898595FC57BA}"/>
              </a:ext>
            </a:extLst>
          </p:cNvPr>
          <p:cNvSpPr txBox="1"/>
          <p:nvPr/>
        </p:nvSpPr>
        <p:spPr>
          <a:xfrm>
            <a:off x="609600" y="393700"/>
            <a:ext cx="116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10B981"/>
                </a:solidFill>
                <a:latin typeface="Aptos"/>
              </a:rPr>
              <a:t>ANSWER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1D560-9C40-4A97-ACD2-FCB285C4AD19}"/>
              </a:ext>
            </a:extLst>
          </p:cNvPr>
          <p:cNvSpPr txBox="1"/>
          <p:nvPr/>
        </p:nvSpPr>
        <p:spPr>
          <a:xfrm>
            <a:off x="2032000" y="381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64748B"/>
                </a:solidFill>
                <a:latin typeface="Aptos"/>
              </a:rPr>
              <a:t>QUIZ  /  08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AC2E6-7683-4F06-AAC7-F02437A9FD55}"/>
              </a:ext>
            </a:extLst>
          </p:cNvPr>
          <p:cNvSpPr txBox="1"/>
          <p:nvPr/>
        </p:nvSpPr>
        <p:spPr>
          <a:xfrm>
            <a:off x="609600" y="990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700" b="1">
                <a:solidFill>
                  <a:srgbClr val="0F172A"/>
                </a:solidFill>
                <a:latin typeface="Aptos Display"/>
              </a:rPr>
              <a:t>Which SOLID principle does Abstract Factory most directly promote?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D5B7F1-0983-4FF8-8242-784BD34AA263}"/>
              </a:ext>
            </a:extLst>
          </p:cNvPr>
          <p:cNvSpPr/>
          <p:nvPr/>
        </p:nvSpPr>
        <p:spPr>
          <a:xfrm>
            <a:off x="6096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A8041F-E82B-430D-8525-C1C6C4A09C20}"/>
              </a:ext>
            </a:extLst>
          </p:cNvPr>
          <p:cNvSpPr/>
          <p:nvPr/>
        </p:nvSpPr>
        <p:spPr>
          <a:xfrm>
            <a:off x="8636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D5AD0-4644-431D-B55C-CC9C7D1D368C}"/>
              </a:ext>
            </a:extLst>
          </p:cNvPr>
          <p:cNvSpPr txBox="1"/>
          <p:nvPr/>
        </p:nvSpPr>
        <p:spPr>
          <a:xfrm>
            <a:off x="8636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ED57D-4796-42F7-B17B-1BFD88D538CB}"/>
              </a:ext>
            </a:extLst>
          </p:cNvPr>
          <p:cNvSpPr txBox="1"/>
          <p:nvPr/>
        </p:nvSpPr>
        <p:spPr>
          <a:xfrm>
            <a:off x="14986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Single Responsibility Principle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DC569E-E22D-4FC8-A946-CB23273B6D7D}"/>
              </a:ext>
            </a:extLst>
          </p:cNvPr>
          <p:cNvSpPr/>
          <p:nvPr/>
        </p:nvSpPr>
        <p:spPr>
          <a:xfrm>
            <a:off x="6223000" y="22860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7FEB54-9486-407E-97EA-4BC214BAA2C1}"/>
              </a:ext>
            </a:extLst>
          </p:cNvPr>
          <p:cNvSpPr/>
          <p:nvPr/>
        </p:nvSpPr>
        <p:spPr>
          <a:xfrm>
            <a:off x="6477000" y="25654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59303C-0451-48A8-A554-A763A663A0BF}"/>
              </a:ext>
            </a:extLst>
          </p:cNvPr>
          <p:cNvSpPr txBox="1"/>
          <p:nvPr/>
        </p:nvSpPr>
        <p:spPr>
          <a:xfrm>
            <a:off x="6477000" y="26543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F31A6-82F3-43B9-A78E-ABECC72D6817}"/>
              </a:ext>
            </a:extLst>
          </p:cNvPr>
          <p:cNvSpPr txBox="1"/>
          <p:nvPr/>
        </p:nvSpPr>
        <p:spPr>
          <a:xfrm>
            <a:off x="7112000" y="25400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Open/Closed Principle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BD38A0-5541-47FD-BBE8-52C9628C0008}"/>
              </a:ext>
            </a:extLst>
          </p:cNvPr>
          <p:cNvSpPr/>
          <p:nvPr/>
        </p:nvSpPr>
        <p:spPr>
          <a:xfrm>
            <a:off x="609600" y="4089400"/>
            <a:ext cx="5359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731FA0-AC04-4413-87E2-A678831D2143}"/>
              </a:ext>
            </a:extLst>
          </p:cNvPr>
          <p:cNvSpPr/>
          <p:nvPr/>
        </p:nvSpPr>
        <p:spPr>
          <a:xfrm>
            <a:off x="863600" y="4368800"/>
            <a:ext cx="444500" cy="444500"/>
          </a:xfrm>
          <a:prstGeom prst="ellipse">
            <a:avLst/>
          </a:prstGeom>
          <a:solidFill>
            <a:srgbClr val="0B1739"/>
          </a:solidFill>
          <a:ln>
            <a:solidFill>
              <a:srgbClr val="0B17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12E569-7CCE-4BAF-8391-D63BFF292845}"/>
              </a:ext>
            </a:extLst>
          </p:cNvPr>
          <p:cNvSpPr txBox="1"/>
          <p:nvPr/>
        </p:nvSpPr>
        <p:spPr>
          <a:xfrm>
            <a:off x="8636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0F417-08D9-4A6B-BA96-2CD213EF1AFF}"/>
              </a:ext>
            </a:extLst>
          </p:cNvPr>
          <p:cNvSpPr txBox="1"/>
          <p:nvPr/>
        </p:nvSpPr>
        <p:spPr>
          <a:xfrm>
            <a:off x="14986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0F172A"/>
                </a:solidFill>
                <a:latin typeface="Aptos"/>
              </a:rPr>
              <a:t>Liskov Substitution Principle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FB4250-5DAB-4932-9C72-4BA953CD1F5C}"/>
              </a:ext>
            </a:extLst>
          </p:cNvPr>
          <p:cNvSpPr/>
          <p:nvPr/>
        </p:nvSpPr>
        <p:spPr>
          <a:xfrm>
            <a:off x="6223000" y="4089400"/>
            <a:ext cx="5359400" cy="1422400"/>
          </a:xfrm>
          <a:prstGeom prst="roundRect">
            <a:avLst/>
          </a:prstGeom>
          <a:solidFill>
            <a:srgbClr val="D1FAE5"/>
          </a:solidFill>
          <a:ln w="2794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869DC6B-7BBE-42CB-9DCE-A0DEFFAA54B4}"/>
              </a:ext>
            </a:extLst>
          </p:cNvPr>
          <p:cNvSpPr/>
          <p:nvPr/>
        </p:nvSpPr>
        <p:spPr>
          <a:xfrm>
            <a:off x="6477000" y="4368800"/>
            <a:ext cx="444500" cy="4445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109AC7-20C9-48CA-B285-AE192B5FF0B0}"/>
              </a:ext>
            </a:extLst>
          </p:cNvPr>
          <p:cNvSpPr txBox="1"/>
          <p:nvPr/>
        </p:nvSpPr>
        <p:spPr>
          <a:xfrm>
            <a:off x="6477000" y="44577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11928-EF2C-4EF9-803F-C84FDD8DE0D0}"/>
              </a:ext>
            </a:extLst>
          </p:cNvPr>
          <p:cNvSpPr txBox="1"/>
          <p:nvPr/>
        </p:nvSpPr>
        <p:spPr>
          <a:xfrm>
            <a:off x="7112000" y="4343400"/>
            <a:ext cx="412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72A"/>
                </a:solidFill>
                <a:latin typeface="Aptos"/>
              </a:rPr>
              <a:t>Dependency Inversion Principle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2526BBC-B81D-43B4-ACC8-CF1A8C5D89B7}"/>
              </a:ext>
            </a:extLst>
          </p:cNvPr>
          <p:cNvSpPr/>
          <p:nvPr/>
        </p:nvSpPr>
        <p:spPr>
          <a:xfrm>
            <a:off x="10248900" y="5067300"/>
            <a:ext cx="1066800" cy="3556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D80476-FEA9-44C6-9D9B-BD2B7A0B8453}"/>
              </a:ext>
            </a:extLst>
          </p:cNvPr>
          <p:cNvSpPr txBox="1"/>
          <p:nvPr/>
        </p:nvSpPr>
        <p:spPr>
          <a:xfrm>
            <a:off x="10248900" y="51054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CORRECT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976825-33FB-4E53-A8A8-7D1C17F9AA35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KNOWLEDGE CHECK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13529B-0E33-4157-B625-19C04CE883FA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90C0FEF-03FE-49DC-B04E-A76A2F218B25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549494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8FC72-6F4F-47FE-B3BB-64BA17D337B8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RECAP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B1253-A5F6-40CD-94DF-5CEE009F6708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Abstract Factory vs. Factory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6F165-0A53-4DE6-BA3F-8B585DB09200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RECAP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111DC6-D9D7-4C4F-BA0A-DC25F5778461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C5BC02-5C0E-466F-B631-C637B1D40D31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2A1B9F-8BE3-4F26-9DA4-90C5C3DE080E}"/>
              </a:ext>
            </a:extLst>
          </p:cNvPr>
          <p:cNvSpPr/>
          <p:nvPr/>
        </p:nvSpPr>
        <p:spPr>
          <a:xfrm>
            <a:off x="609600" y="1587500"/>
            <a:ext cx="5207000" cy="355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64FC8-F616-4E0B-ACD1-834E779902E3}"/>
              </a:ext>
            </a:extLst>
          </p:cNvPr>
          <p:cNvSpPr txBox="1"/>
          <p:nvPr/>
        </p:nvSpPr>
        <p:spPr>
          <a:xfrm>
            <a:off x="609600" y="1625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ABSTRACT FACTORY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542EB6-256B-4311-9BC6-6063FF07F6F5}"/>
              </a:ext>
            </a:extLst>
          </p:cNvPr>
          <p:cNvSpPr/>
          <p:nvPr/>
        </p:nvSpPr>
        <p:spPr>
          <a:xfrm>
            <a:off x="6375400" y="1587500"/>
            <a:ext cx="5207000" cy="355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FE81E-C4CD-4135-ACB9-C4533B399D29}"/>
              </a:ext>
            </a:extLst>
          </p:cNvPr>
          <p:cNvSpPr txBox="1"/>
          <p:nvPr/>
        </p:nvSpPr>
        <p:spPr>
          <a:xfrm>
            <a:off x="6375400" y="1625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FACTORY METHOD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8DC7BD-7184-442E-AB4B-2C8F477428C7}"/>
              </a:ext>
            </a:extLst>
          </p:cNvPr>
          <p:cNvSpPr/>
          <p:nvPr/>
        </p:nvSpPr>
        <p:spPr>
          <a:xfrm>
            <a:off x="609600" y="2159000"/>
            <a:ext cx="5207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A2A318-45A2-483E-8BA1-C4CCAF576351}"/>
              </a:ext>
            </a:extLst>
          </p:cNvPr>
          <p:cNvSpPr/>
          <p:nvPr/>
        </p:nvSpPr>
        <p:spPr>
          <a:xfrm>
            <a:off x="609600" y="2159000"/>
            <a:ext cx="88900" cy="12065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FD0CF-05B0-4279-9BDA-D38BC48BD42C}"/>
              </a:ext>
            </a:extLst>
          </p:cNvPr>
          <p:cNvSpPr txBox="1"/>
          <p:nvPr/>
        </p:nvSpPr>
        <p:spPr>
          <a:xfrm>
            <a:off x="914400" y="23749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80CD4-1455-4554-8CBE-6E51201967E2}"/>
              </a:ext>
            </a:extLst>
          </p:cNvPr>
          <p:cNvSpPr txBox="1"/>
          <p:nvPr/>
        </p:nvSpPr>
        <p:spPr>
          <a:xfrm>
            <a:off x="914400" y="28321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Creates a family of related product types.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192408-4DB2-4C0A-B3A8-D8682B196BCF}"/>
              </a:ext>
            </a:extLst>
          </p:cNvPr>
          <p:cNvSpPr/>
          <p:nvPr/>
        </p:nvSpPr>
        <p:spPr>
          <a:xfrm>
            <a:off x="6375400" y="2159000"/>
            <a:ext cx="5207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0153C1-98CB-4C8F-870D-5F2F8322CD57}"/>
              </a:ext>
            </a:extLst>
          </p:cNvPr>
          <p:cNvSpPr/>
          <p:nvPr/>
        </p:nvSpPr>
        <p:spPr>
          <a:xfrm>
            <a:off x="6375400" y="2159000"/>
            <a:ext cx="88900" cy="12065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A0293-D655-43FB-954B-469D699FE786}"/>
              </a:ext>
            </a:extLst>
          </p:cNvPr>
          <p:cNvSpPr txBox="1"/>
          <p:nvPr/>
        </p:nvSpPr>
        <p:spPr>
          <a:xfrm>
            <a:off x="6680200" y="23749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Scope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7859BD-68AD-4CFD-8DCC-96DA935FFF93}"/>
              </a:ext>
            </a:extLst>
          </p:cNvPr>
          <p:cNvSpPr txBox="1"/>
          <p:nvPr/>
        </p:nvSpPr>
        <p:spPr>
          <a:xfrm>
            <a:off x="6680200" y="28321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Creates one product type.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2AC44F-F2E9-4F1C-85B8-A3F3F258E130}"/>
              </a:ext>
            </a:extLst>
          </p:cNvPr>
          <p:cNvSpPr/>
          <p:nvPr/>
        </p:nvSpPr>
        <p:spPr>
          <a:xfrm>
            <a:off x="609600" y="3581400"/>
            <a:ext cx="5207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265E5AD-05C3-4C16-A86B-702E5057198A}"/>
              </a:ext>
            </a:extLst>
          </p:cNvPr>
          <p:cNvSpPr/>
          <p:nvPr/>
        </p:nvSpPr>
        <p:spPr>
          <a:xfrm>
            <a:off x="609600" y="3581400"/>
            <a:ext cx="88900" cy="12065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A67FE2-49C6-4305-9129-00F11ED298A2}"/>
              </a:ext>
            </a:extLst>
          </p:cNvPr>
          <p:cNvSpPr txBox="1"/>
          <p:nvPr/>
        </p:nvSpPr>
        <p:spPr>
          <a:xfrm>
            <a:off x="914400" y="37973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Mechanism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D7B1A0-3FE5-4A4C-A7E0-C147372341BB}"/>
              </a:ext>
            </a:extLst>
          </p:cNvPr>
          <p:cNvSpPr txBox="1"/>
          <p:nvPr/>
        </p:nvSpPr>
        <p:spPr>
          <a:xfrm>
            <a:off x="914400" y="42545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Composition: the client receives a factory object.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FAD6E2-EB3D-46E0-BE8B-8EE1EE3E452B}"/>
              </a:ext>
            </a:extLst>
          </p:cNvPr>
          <p:cNvSpPr/>
          <p:nvPr/>
        </p:nvSpPr>
        <p:spPr>
          <a:xfrm>
            <a:off x="6375400" y="3581400"/>
            <a:ext cx="5207000" cy="120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D1EA13F-D1C9-472C-9760-B9A636FE2524}"/>
              </a:ext>
            </a:extLst>
          </p:cNvPr>
          <p:cNvSpPr/>
          <p:nvPr/>
        </p:nvSpPr>
        <p:spPr>
          <a:xfrm>
            <a:off x="6375400" y="3581400"/>
            <a:ext cx="88900" cy="12065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8B60D0-90D9-4479-A351-78B5F0DE2F4E}"/>
              </a:ext>
            </a:extLst>
          </p:cNvPr>
          <p:cNvSpPr txBox="1"/>
          <p:nvPr/>
        </p:nvSpPr>
        <p:spPr>
          <a:xfrm>
            <a:off x="6680200" y="37973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Mechanism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BE8FCE-4B14-498C-843D-F28C5591C1AA}"/>
              </a:ext>
            </a:extLst>
          </p:cNvPr>
          <p:cNvSpPr txBox="1"/>
          <p:nvPr/>
        </p:nvSpPr>
        <p:spPr>
          <a:xfrm>
            <a:off x="6680200" y="42545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Inheritance: subclasses override a creation method.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5C62872-EBE3-4A67-8EC5-63EDD59D65A9}"/>
              </a:ext>
            </a:extLst>
          </p:cNvPr>
          <p:cNvSpPr/>
          <p:nvPr/>
        </p:nvSpPr>
        <p:spPr>
          <a:xfrm>
            <a:off x="609600" y="5003800"/>
            <a:ext cx="5207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B9A59B-576B-42F7-8357-FCDAE0965EBB}"/>
              </a:ext>
            </a:extLst>
          </p:cNvPr>
          <p:cNvSpPr/>
          <p:nvPr/>
        </p:nvSpPr>
        <p:spPr>
          <a:xfrm>
            <a:off x="609600" y="5003800"/>
            <a:ext cx="88900" cy="990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3EA9CC-C9FE-4D6D-A49D-902E634CE4D9}"/>
              </a:ext>
            </a:extLst>
          </p:cNvPr>
          <p:cNvSpPr txBox="1"/>
          <p:nvPr/>
        </p:nvSpPr>
        <p:spPr>
          <a:xfrm>
            <a:off x="914400" y="52197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Design level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82BC78-5348-41BC-A422-AB8DE35797BB}"/>
              </a:ext>
            </a:extLst>
          </p:cNvPr>
          <p:cNvSpPr txBox="1"/>
          <p:nvPr/>
        </p:nvSpPr>
        <p:spPr>
          <a:xfrm>
            <a:off x="914400" y="56769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Object / family level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0D258A6-1ED6-4E6E-894D-C00A721BFC72}"/>
              </a:ext>
            </a:extLst>
          </p:cNvPr>
          <p:cNvSpPr/>
          <p:nvPr/>
        </p:nvSpPr>
        <p:spPr>
          <a:xfrm>
            <a:off x="6375400" y="5003800"/>
            <a:ext cx="5207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FEA01C-3D3F-4CE0-890C-4DDA1E88FD54}"/>
              </a:ext>
            </a:extLst>
          </p:cNvPr>
          <p:cNvSpPr/>
          <p:nvPr/>
        </p:nvSpPr>
        <p:spPr>
          <a:xfrm>
            <a:off x="6375400" y="5003800"/>
            <a:ext cx="88900" cy="990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31ADAA-C505-4B92-9F87-F9C3352AC4D3}"/>
              </a:ext>
            </a:extLst>
          </p:cNvPr>
          <p:cNvSpPr txBox="1"/>
          <p:nvPr/>
        </p:nvSpPr>
        <p:spPr>
          <a:xfrm>
            <a:off x="6680200" y="52197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Aptos"/>
              </a:rPr>
              <a:t>Design level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93401-EF91-4E87-AEC1-C4BACD3A5221}"/>
              </a:ext>
            </a:extLst>
          </p:cNvPr>
          <p:cNvSpPr txBox="1"/>
          <p:nvPr/>
        </p:nvSpPr>
        <p:spPr>
          <a:xfrm>
            <a:off x="6680200" y="56769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75569"/>
                </a:solidFill>
                <a:latin typeface="Aptos"/>
              </a:rPr>
              <a:t>Method / product level</a:t>
            </a:r>
          </a:p>
        </p:txBody>
      </p:sp>
    </p:spTree>
    <p:extLst>
      <p:ext uri="{BB962C8B-B14F-4D97-AF65-F5344CB8AC3E}">
        <p14:creationId xmlns:p14="http://schemas.microsoft.com/office/powerpoint/2010/main" val="39349057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F67AE-DE46-4ACC-9F8B-6B1F0174A479}"/>
              </a:ext>
            </a:extLst>
          </p:cNvPr>
          <p:cNvSpPr txBox="1"/>
          <p:nvPr/>
        </p:nvSpPr>
        <p:spPr>
          <a:xfrm>
            <a:off x="609600" y="3556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4F46E5"/>
                </a:solidFill>
                <a:latin typeface="Aptos"/>
              </a:rPr>
              <a:t>RECAP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95954-4D36-435D-A26C-9EE52BA1F7A6}"/>
              </a:ext>
            </a:extLst>
          </p:cNvPr>
          <p:cNvSpPr txBox="1"/>
          <p:nvPr/>
        </p:nvSpPr>
        <p:spPr>
          <a:xfrm>
            <a:off x="609600" y="6604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0F172A"/>
                </a:solidFill>
                <a:latin typeface="Aptos Display"/>
              </a:rPr>
              <a:t>Abstract Factory vs. Adapter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36D1B-0390-4AF3-BBD0-2D772793787C}"/>
              </a:ext>
            </a:extLst>
          </p:cNvPr>
          <p:cNvSpPr txBox="1"/>
          <p:nvPr/>
        </p:nvSpPr>
        <p:spPr>
          <a:xfrm>
            <a:off x="609600" y="6426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 b="1">
                <a:solidFill>
                  <a:srgbClr val="64748B"/>
                </a:solidFill>
                <a:latin typeface="Aptos"/>
              </a:rPr>
              <a:t>RECAP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11EB51-F51C-4BE2-9658-23C76EF98B0F}"/>
              </a:ext>
            </a:extLst>
          </p:cNvPr>
          <p:cNvCxnSpPr/>
          <p:nvPr/>
        </p:nvCxnSpPr>
        <p:spPr>
          <a:xfrm>
            <a:off x="609600" y="6311900"/>
            <a:ext cx="10972800" cy="0"/>
          </a:xfrm>
          <a:prstGeom prst="line">
            <a:avLst/>
          </a:prstGeom>
          <a:ln w="12700">
            <a:solidFill>
              <a:srgbClr val="DC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251B04-3D76-49B3-A5FA-1443CB98F318}"/>
              </a:ext>
            </a:extLst>
          </p:cNvPr>
          <p:cNvSpPr txBox="1"/>
          <p:nvPr/>
        </p:nvSpPr>
        <p:spPr>
          <a:xfrm>
            <a:off x="10731500" y="6400800"/>
            <a:ext cx="850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64748B"/>
                </a:solidFill>
                <a:latin typeface="Aptos"/>
              </a:rPr>
              <a:t>35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50B40A-6260-47BE-B5DA-BE0E7C81B171}"/>
              </a:ext>
            </a:extLst>
          </p:cNvPr>
          <p:cNvSpPr/>
          <p:nvPr/>
        </p:nvSpPr>
        <p:spPr>
          <a:xfrm>
            <a:off x="609600" y="1714500"/>
            <a:ext cx="5207000" cy="38862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8DBF20-6245-478E-B132-60B2EFE40BFB}"/>
              </a:ext>
            </a:extLst>
          </p:cNvPr>
          <p:cNvSpPr/>
          <p:nvPr/>
        </p:nvSpPr>
        <p:spPr>
          <a:xfrm>
            <a:off x="939800" y="2032000"/>
            <a:ext cx="1955800" cy="355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6DE39-F08F-4DF3-A998-69133F8FF322}"/>
              </a:ext>
            </a:extLst>
          </p:cNvPr>
          <p:cNvSpPr txBox="1"/>
          <p:nvPr/>
        </p:nvSpPr>
        <p:spPr>
          <a:xfrm>
            <a:off x="939800" y="2070100"/>
            <a:ext cx="195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CREATIONAL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DB709-8D1A-4021-BD47-3E0611D5402E}"/>
              </a:ext>
            </a:extLst>
          </p:cNvPr>
          <p:cNvSpPr txBox="1"/>
          <p:nvPr/>
        </p:nvSpPr>
        <p:spPr>
          <a:xfrm>
            <a:off x="939800" y="2679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0F172A"/>
                </a:solidFill>
                <a:latin typeface="Aptos"/>
              </a:rPr>
              <a:t>ABSTRACT FACTORY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2AA0B3-774C-4853-AA90-567BC3A24306}"/>
              </a:ext>
            </a:extLst>
          </p:cNvPr>
          <p:cNvSpPr txBox="1"/>
          <p:nvPr/>
        </p:nvSpPr>
        <p:spPr>
          <a:xfrm>
            <a:off x="939800" y="345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75569"/>
                </a:solidFill>
                <a:latin typeface="Aptos"/>
              </a:rPr>
              <a:t>Creates a compatible family of new objects behind shared product interfaces.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24D740-83B2-44A0-AF24-4A5821FB02CE}"/>
              </a:ext>
            </a:extLst>
          </p:cNvPr>
          <p:cNvSpPr/>
          <p:nvPr/>
        </p:nvSpPr>
        <p:spPr>
          <a:xfrm>
            <a:off x="939800" y="4902200"/>
            <a:ext cx="32512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B2A64-5353-451E-A42B-4BF18D208E52}"/>
              </a:ext>
            </a:extLst>
          </p:cNvPr>
          <p:cNvSpPr txBox="1"/>
          <p:nvPr/>
        </p:nvSpPr>
        <p:spPr>
          <a:xfrm>
            <a:off x="939800" y="49403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4F46E5"/>
                </a:solidFill>
                <a:latin typeface="Aptos"/>
              </a:rPr>
              <a:t>QUESTION: WHAT SHOULD WE CREATE?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F67054-DF9F-425D-A2CF-1B17F2A26A3C}"/>
              </a:ext>
            </a:extLst>
          </p:cNvPr>
          <p:cNvSpPr/>
          <p:nvPr/>
        </p:nvSpPr>
        <p:spPr>
          <a:xfrm>
            <a:off x="6375400" y="1714500"/>
            <a:ext cx="5207000" cy="388620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FEA039-089D-436C-A308-E1638BD7C2AD}"/>
              </a:ext>
            </a:extLst>
          </p:cNvPr>
          <p:cNvSpPr/>
          <p:nvPr/>
        </p:nvSpPr>
        <p:spPr>
          <a:xfrm>
            <a:off x="6705600" y="2032000"/>
            <a:ext cx="1752600" cy="35560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390DD4-568A-416D-9DF5-5A49311A98A2}"/>
              </a:ext>
            </a:extLst>
          </p:cNvPr>
          <p:cNvSpPr txBox="1"/>
          <p:nvPr/>
        </p:nvSpPr>
        <p:spPr>
          <a:xfrm>
            <a:off x="6705600" y="2070100"/>
            <a:ext cx="1752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STRUCTURAL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D43B5-DFCE-4938-86E7-93979113892F}"/>
              </a:ext>
            </a:extLst>
          </p:cNvPr>
          <p:cNvSpPr txBox="1"/>
          <p:nvPr/>
        </p:nvSpPr>
        <p:spPr>
          <a:xfrm>
            <a:off x="6705600" y="2679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 b="1">
                <a:solidFill>
                  <a:srgbClr val="0F172A"/>
                </a:solidFill>
                <a:latin typeface="Aptos"/>
              </a:rPr>
              <a:t>ADAPTER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EDCED0-8981-46D8-A95D-F39937EF162C}"/>
              </a:ext>
            </a:extLst>
          </p:cNvPr>
          <p:cNvSpPr txBox="1"/>
          <p:nvPr/>
        </p:nvSpPr>
        <p:spPr>
          <a:xfrm>
            <a:off x="6705600" y="3454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475569"/>
                </a:solidFill>
                <a:latin typeface="Aptos"/>
              </a:rPr>
              <a:t>Wraps an existing incompatible class so it matches the interface a client expects.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E879E9-2A36-4A62-9106-A1CEFB8D59FE}"/>
              </a:ext>
            </a:extLst>
          </p:cNvPr>
          <p:cNvSpPr/>
          <p:nvPr/>
        </p:nvSpPr>
        <p:spPr>
          <a:xfrm>
            <a:off x="6705600" y="4902200"/>
            <a:ext cx="332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C4EF2-AECA-44DE-A337-F1555EEF2710}"/>
              </a:ext>
            </a:extLst>
          </p:cNvPr>
          <p:cNvSpPr txBox="1"/>
          <p:nvPr/>
        </p:nvSpPr>
        <p:spPr>
          <a:xfrm>
            <a:off x="6705600" y="4940300"/>
            <a:ext cx="3327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0B1739"/>
                </a:solidFill>
                <a:latin typeface="Aptos"/>
              </a:rPr>
              <a:t>QUESTION: HOW CAN THESE CONNECT?</a:t>
            </a:r>
          </a:p>
        </p:txBody>
      </p:sp>
    </p:spTree>
    <p:extLst>
      <p:ext uri="{BB962C8B-B14F-4D97-AF65-F5344CB8AC3E}">
        <p14:creationId xmlns:p14="http://schemas.microsoft.com/office/powerpoint/2010/main" val="2697133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CA9A65-0A37-46DA-8ED2-15AE8A39E6EC}"/>
              </a:ext>
            </a:extLst>
          </p:cNvPr>
          <p:cNvSpPr/>
          <p:nvPr/>
        </p:nvSpPr>
        <p:spPr>
          <a:xfrm>
            <a:off x="8572500" y="-1270000"/>
            <a:ext cx="4572000" cy="457200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E88707C-DA02-401C-B8AA-1F8A6F9E0EF7}"/>
              </a:ext>
            </a:extLst>
          </p:cNvPr>
          <p:cNvSpPr/>
          <p:nvPr/>
        </p:nvSpPr>
        <p:spPr>
          <a:xfrm>
            <a:off x="10287000" y="406400"/>
            <a:ext cx="1905000" cy="1905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9835F4-3BE4-4581-9217-487C8AA41A71}"/>
              </a:ext>
            </a:extLst>
          </p:cNvPr>
          <p:cNvSpPr/>
          <p:nvPr/>
        </p:nvSpPr>
        <p:spPr>
          <a:xfrm>
            <a:off x="736600" y="660400"/>
            <a:ext cx="1219200" cy="3556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4409C-7077-4738-A506-5D390966CE8D}"/>
              </a:ext>
            </a:extLst>
          </p:cNvPr>
          <p:cNvSpPr txBox="1"/>
          <p:nvPr/>
        </p:nvSpPr>
        <p:spPr>
          <a:xfrm>
            <a:off x="736600" y="6985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/>
              </a:rPr>
              <a:t>RECAP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EB34B-38C0-40C2-86B9-C89CAA5B64E0}"/>
              </a:ext>
            </a:extLst>
          </p:cNvPr>
          <p:cNvSpPr txBox="1"/>
          <p:nvPr/>
        </p:nvSpPr>
        <p:spPr>
          <a:xfrm>
            <a:off x="736600" y="1701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900" b="1">
                <a:solidFill>
                  <a:srgbClr val="FFFFFF"/>
                </a:solidFill>
                <a:latin typeface="Aptos Display"/>
              </a:rPr>
              <a:t>One factory.
One compatible family.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E61AB-5C4B-4AB3-97FA-BBA44EE476A4}"/>
              </a:ext>
            </a:extLst>
          </p:cNvPr>
          <p:cNvSpPr txBox="1"/>
          <p:nvPr/>
        </p:nvSpPr>
        <p:spPr>
          <a:xfrm>
            <a:off x="787400" y="37084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E0E7FF"/>
                </a:solidFill>
                <a:latin typeface="Aptos"/>
              </a:rPr>
              <a:t>Use Abstract Factory when clients must switch complete product families without learning concrete types.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9D515-F199-4563-9071-17AA8F76C818}"/>
              </a:ext>
            </a:extLst>
          </p:cNvPr>
          <p:cNvCxnSpPr/>
          <p:nvPr/>
        </p:nvCxnSpPr>
        <p:spPr>
          <a:xfrm>
            <a:off x="787400" y="4953000"/>
            <a:ext cx="6832600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37B1CF-3E05-43B6-AA4C-D124F0700630}"/>
              </a:ext>
            </a:extLst>
          </p:cNvPr>
          <p:cNvSpPr txBox="1"/>
          <p:nvPr/>
        </p:nvSpPr>
        <p:spPr>
          <a:xfrm>
            <a:off x="787400" y="5334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22D3EE"/>
                </a:solidFill>
                <a:latin typeface="Aptos"/>
              </a:rPr>
              <a:t>Thank you  /  Questions?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DA1A7-1CC7-446F-8AFF-F2F7C0FBAAF8}"/>
              </a:ext>
            </a:extLst>
          </p:cNvPr>
          <p:cNvSpPr txBox="1"/>
          <p:nvPr/>
        </p:nvSpPr>
        <p:spPr>
          <a:xfrm>
            <a:off x="736600" y="61849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/>
              </a:rPr>
              <a:t>CS202  /  GROUP 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48B739-BBBD-42F8-8511-FB71940EA802}"/>
              </a:ext>
            </a:extLst>
          </p:cNvPr>
          <p:cNvSpPr txBox="1"/>
          <p:nvPr/>
        </p:nvSpPr>
        <p:spPr>
          <a:xfrm>
            <a:off x="10858500" y="6184900"/>
            <a:ext cx="69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 b="1">
                <a:solidFill>
                  <a:srgbClr val="FFFFFF"/>
                </a:solidFill>
                <a:latin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63338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Microsoft Office PowerPoint</Application>
  <PresentationFormat>Custom</PresentationFormat>
  <Paragraphs>443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 NGUYỄN GIA KHÁNH</dc:creator>
  <cp:lastModifiedBy>CHU NGUYỄN GIA KHÁNH</cp:lastModifiedBy>
  <cp:revision>1</cp:revision>
  <dcterms:created xsi:type="dcterms:W3CDTF">2026-08-29T10:42:16Z</dcterms:created>
  <dcterms:modified xsi:type="dcterms:W3CDTF">2026-08-29T10:43:04Z</dcterms:modified>
</cp:coreProperties>
</file>