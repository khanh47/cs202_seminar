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18288000" cy="10287000"/>
  <p:notesSz cx="6858000" cy="9144000"/>
  <p:embeddedFontLst>
    <p:embeddedFont>
      <p:font typeface="Pattanakarn Condensed Medium" charset="1" panose="00000000000000000000"/>
      <p:regular r:id="rId42"/>
    </p:embeddedFont>
    <p:embeddedFont>
      <p:font typeface="Cosmic Octo Medium" charset="1" panose="00000600000000000000"/>
      <p:regular r:id="rId43"/>
    </p:embeddedFont>
    <p:embeddedFont>
      <p:font typeface="Pattanakarn Condensed Semi-Bold" charset="1" panose="00000000000000000000"/>
      <p:regular r:id="rId44"/>
    </p:embeddedFont>
    <p:embeddedFont>
      <p:font typeface="Pattanakarn Condensed Bold" charset="1" panose="00000000000000000000"/>
      <p:regular r:id="rId45"/>
    </p:embeddedFont>
    <p:embeddedFont>
      <p:font typeface="Pattanakarn Condensed" charset="1" panose="00000000000000000000"/>
      <p:regular r:id="rId46"/>
    </p:embeddedFont>
    <p:embeddedFont>
      <p:font typeface="Roboto Mono" charset="1" panose="00000000000000000000"/>
      <p:regular r:id="rId47"/>
    </p:embeddedFont>
    <p:embeddedFont>
      <p:font typeface="Roboto Mono Medium" charset="1" panose="00000000000000000000"/>
      <p:regular r:id="rId48"/>
    </p:embeddedFont>
    <p:embeddedFont>
      <p:font typeface="Roboto Mono Bold" charset="1" panose="00000000000000000000"/>
      <p:regular r:id="rId49"/>
    </p:embeddedFont>
    <p:embeddedFont>
      <p:font typeface="Paytone One" charset="1" panose="00000500000000000000"/>
      <p:regular r:id="rId50"/>
    </p:embeddedFont>
    <p:embeddedFont>
      <p:font typeface="Cabin Bold" charset="1" panose="00000800000000000000"/>
      <p:regular r:id="rId5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png" Type="http://schemas.openxmlformats.org/officeDocument/2006/relationships/image"/><Relationship Id="rId12" Target="../media/image29.png" Type="http://schemas.openxmlformats.org/officeDocument/2006/relationships/image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Relationship Id="rId8" Target="../media/image25.pn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png" Type="http://schemas.openxmlformats.org/officeDocument/2006/relationships/image"/><Relationship Id="rId12" Target="../media/image29.png" Type="http://schemas.openxmlformats.org/officeDocument/2006/relationships/image"/><Relationship Id="rId2" Target="../media/image30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Relationship Id="rId8" Target="../media/image25.pn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3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3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32654" y="-3082800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4941" y="-3082800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32654" y="5444913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04941" y="5444913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216662" y="-181598"/>
            <a:ext cx="2864146" cy="10995720"/>
            <a:chOff x="0" y="0"/>
            <a:chExt cx="754343" cy="28959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4343" cy="2895992"/>
            </a:xfrm>
            <a:custGeom>
              <a:avLst/>
              <a:gdLst/>
              <a:ahLst/>
              <a:cxnLst/>
              <a:rect r="r" b="b" t="t" l="l"/>
              <a:pathLst>
                <a:path h="2895992" w="754343">
                  <a:moveTo>
                    <a:pt x="0" y="0"/>
                  </a:moveTo>
                  <a:lnTo>
                    <a:pt x="754343" y="0"/>
                  </a:lnTo>
                  <a:lnTo>
                    <a:pt x="754343" y="2895992"/>
                  </a:lnTo>
                  <a:lnTo>
                    <a:pt x="0" y="2895992"/>
                  </a:lnTo>
                  <a:close/>
                </a:path>
              </a:pathLst>
            </a:custGeom>
            <a:solidFill>
              <a:srgbClr val="53456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54343" cy="2934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400000">
            <a:off x="585902" y="1131508"/>
            <a:ext cx="487450" cy="281835"/>
          </a:xfrm>
          <a:custGeom>
            <a:avLst/>
            <a:gdLst/>
            <a:ahLst/>
            <a:cxnLst/>
            <a:rect r="r" b="b" t="t" l="l"/>
            <a:pathLst>
              <a:path h="281835" w="487450">
                <a:moveTo>
                  <a:pt x="0" y="0"/>
                </a:moveTo>
                <a:lnTo>
                  <a:pt x="487451" y="0"/>
                </a:lnTo>
                <a:lnTo>
                  <a:pt x="487451" y="281835"/>
                </a:lnTo>
                <a:lnTo>
                  <a:pt x="0" y="2818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-5400000">
            <a:off x="-1096116" y="7173489"/>
            <a:ext cx="381338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117" b="true">
                <a:solidFill>
                  <a:srgbClr val="FCF7F5"/>
                </a:solidFill>
                <a:latin typeface="Pattanakarn Condensed Medium"/>
                <a:ea typeface="Pattanakarn Condensed Medium"/>
                <a:cs typeface="Pattanakarn Condensed Medium"/>
                <a:sym typeface="Pattanakarn Condensed Medium"/>
              </a:rPr>
              <a:t>Group 02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190165" y="8269262"/>
            <a:ext cx="557224" cy="263415"/>
          </a:xfrm>
          <a:custGeom>
            <a:avLst/>
            <a:gdLst/>
            <a:ahLst/>
            <a:cxnLst/>
            <a:rect r="r" b="b" t="t" l="l"/>
            <a:pathLst>
              <a:path h="263415" w="557224">
                <a:moveTo>
                  <a:pt x="0" y="0"/>
                </a:moveTo>
                <a:lnTo>
                  <a:pt x="557224" y="0"/>
                </a:lnTo>
                <a:lnTo>
                  <a:pt x="557224" y="263414"/>
                </a:lnTo>
                <a:lnTo>
                  <a:pt x="0" y="263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485463" y="-368730"/>
            <a:ext cx="11537235" cy="4635871"/>
          </a:xfrm>
          <a:custGeom>
            <a:avLst/>
            <a:gdLst/>
            <a:ahLst/>
            <a:cxnLst/>
            <a:rect r="r" b="b" t="t" l="l"/>
            <a:pathLst>
              <a:path h="4635871" w="11537235">
                <a:moveTo>
                  <a:pt x="0" y="0"/>
                </a:moveTo>
                <a:lnTo>
                  <a:pt x="11537235" y="0"/>
                </a:lnTo>
                <a:lnTo>
                  <a:pt x="11537235" y="4635870"/>
                </a:lnTo>
                <a:lnTo>
                  <a:pt x="0" y="46358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121031" y="1071358"/>
            <a:ext cx="2138269" cy="3195783"/>
          </a:xfrm>
          <a:custGeom>
            <a:avLst/>
            <a:gdLst/>
            <a:ahLst/>
            <a:cxnLst/>
            <a:rect r="r" b="b" t="t" l="l"/>
            <a:pathLst>
              <a:path h="3195783" w="2138269">
                <a:moveTo>
                  <a:pt x="0" y="0"/>
                </a:moveTo>
                <a:lnTo>
                  <a:pt x="2138269" y="0"/>
                </a:lnTo>
                <a:lnTo>
                  <a:pt x="2138269" y="3195782"/>
                </a:lnTo>
                <a:lnTo>
                  <a:pt x="0" y="31957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415754" y="6144650"/>
            <a:ext cx="14843546" cy="317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81"/>
              </a:lnSpc>
            </a:pPr>
            <a:r>
              <a:rPr lang="en-US" b="true" sz="6870" spc="-261">
                <a:solidFill>
                  <a:srgbClr val="DC786D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introduction to </a:t>
            </a:r>
          </a:p>
          <a:p>
            <a:pPr algn="ctr">
              <a:lnSpc>
                <a:spcPts val="8381"/>
              </a:lnSpc>
            </a:pPr>
            <a:r>
              <a:rPr lang="en-US" b="true" sz="6870" spc="-261">
                <a:solidFill>
                  <a:srgbClr val="DC786D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abstract factory</a:t>
            </a:r>
          </a:p>
          <a:p>
            <a:pPr algn="ctr">
              <a:lnSpc>
                <a:spcPts val="8381"/>
              </a:lnSpc>
            </a:pPr>
            <a:r>
              <a:rPr lang="en-US" b="true" sz="6870" spc="-261">
                <a:solidFill>
                  <a:srgbClr val="DC786D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- Group 2 -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278508" y="8222700"/>
            <a:ext cx="3494851" cy="30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95"/>
              </a:lnSpc>
              <a:spcBef>
                <a:spcPct val="0"/>
              </a:spcBef>
            </a:pPr>
            <a:r>
              <a:rPr lang="en-US" b="true" sz="1782">
                <a:solidFill>
                  <a:srgbClr val="FCF7F5"/>
                </a:solidFill>
                <a:latin typeface="Pattanakarn Condensed Semi-Bold"/>
                <a:ea typeface="Pattanakarn Condensed Semi-Bold"/>
                <a:cs typeface="Pattanakarn Condensed Semi-Bold"/>
                <a:sym typeface="Pattanakarn Condensed Semi-Bold"/>
              </a:rPr>
              <a:t>Learn More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91935" y="-3384213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35778" y="5143500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91935" y="5143500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622840" y="-52947"/>
            <a:ext cx="2864146" cy="10995720"/>
            <a:chOff x="0" y="0"/>
            <a:chExt cx="754343" cy="28959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54343" cy="2895992"/>
            </a:xfrm>
            <a:custGeom>
              <a:avLst/>
              <a:gdLst/>
              <a:ahLst/>
              <a:cxnLst/>
              <a:rect r="r" b="b" t="t" l="l"/>
              <a:pathLst>
                <a:path h="2895992" w="754343">
                  <a:moveTo>
                    <a:pt x="0" y="0"/>
                  </a:moveTo>
                  <a:lnTo>
                    <a:pt x="754343" y="0"/>
                  </a:lnTo>
                  <a:lnTo>
                    <a:pt x="754343" y="2895992"/>
                  </a:lnTo>
                  <a:lnTo>
                    <a:pt x="0" y="2895992"/>
                  </a:lnTo>
                  <a:close/>
                </a:path>
              </a:pathLst>
            </a:custGeom>
            <a:solidFill>
              <a:srgbClr val="53456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54343" cy="2934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5400000">
            <a:off x="17226417" y="1260159"/>
            <a:ext cx="487450" cy="281835"/>
          </a:xfrm>
          <a:custGeom>
            <a:avLst/>
            <a:gdLst/>
            <a:ahLst/>
            <a:cxnLst/>
            <a:rect r="r" b="b" t="t" l="l"/>
            <a:pathLst>
              <a:path h="281835" w="487450">
                <a:moveTo>
                  <a:pt x="0" y="0"/>
                </a:moveTo>
                <a:lnTo>
                  <a:pt x="487451" y="0"/>
                </a:lnTo>
                <a:lnTo>
                  <a:pt x="487451" y="281835"/>
                </a:lnTo>
                <a:lnTo>
                  <a:pt x="0" y="2818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-5400000">
            <a:off x="15544399" y="7302141"/>
            <a:ext cx="381338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117" b="true">
                <a:solidFill>
                  <a:srgbClr val="FCF7F5"/>
                </a:solidFill>
                <a:latin typeface="Pattanakarn Condensed Medium"/>
                <a:ea typeface="Pattanakarn Condensed Medium"/>
                <a:cs typeface="Pattanakarn Condensed Medium"/>
                <a:sym typeface="Pattanakarn Condensed Medium"/>
              </a:rPr>
              <a:t>Group 02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235778" y="-3384213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233871" y="1028700"/>
            <a:ext cx="9084880" cy="2180371"/>
          </a:xfrm>
          <a:custGeom>
            <a:avLst/>
            <a:gdLst/>
            <a:ahLst/>
            <a:cxnLst/>
            <a:rect r="r" b="b" t="t" l="l"/>
            <a:pathLst>
              <a:path h="2180371" w="9084880">
                <a:moveTo>
                  <a:pt x="0" y="0"/>
                </a:moveTo>
                <a:lnTo>
                  <a:pt x="9084880" y="0"/>
                </a:lnTo>
                <a:lnTo>
                  <a:pt x="9084880" y="2180371"/>
                </a:lnTo>
                <a:lnTo>
                  <a:pt x="0" y="21803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086338" y="1009650"/>
            <a:ext cx="8218627" cy="105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81"/>
              </a:lnSpc>
            </a:pPr>
            <a:r>
              <a:rPr lang="en-US" b="true" sz="6870" spc="-261">
                <a:solidFill>
                  <a:srgbClr val="DC786D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0. contents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78931" y="3431361"/>
            <a:ext cx="9595474" cy="737727"/>
            <a:chOff x="0" y="0"/>
            <a:chExt cx="12793965" cy="983636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2375473" cy="983636"/>
              <a:chOff x="0" y="0"/>
              <a:chExt cx="409303" cy="169484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09303" cy="169484"/>
              </a:xfrm>
              <a:custGeom>
                <a:avLst/>
                <a:gdLst/>
                <a:ahLst/>
                <a:cxnLst/>
                <a:rect r="r" b="b" t="t" l="l"/>
                <a:pathLst>
                  <a:path h="169484" w="409303">
                    <a:moveTo>
                      <a:pt x="84742" y="0"/>
                    </a:moveTo>
                    <a:lnTo>
                      <a:pt x="324561" y="0"/>
                    </a:lnTo>
                    <a:cubicBezTo>
                      <a:pt x="371363" y="0"/>
                      <a:pt x="409303" y="37940"/>
                      <a:pt x="409303" y="84742"/>
                    </a:cubicBezTo>
                    <a:lnTo>
                      <a:pt x="409303" y="84742"/>
                    </a:lnTo>
                    <a:cubicBezTo>
                      <a:pt x="409303" y="131544"/>
                      <a:pt x="371363" y="169484"/>
                      <a:pt x="324561" y="169484"/>
                    </a:cubicBezTo>
                    <a:lnTo>
                      <a:pt x="84742" y="169484"/>
                    </a:lnTo>
                    <a:cubicBezTo>
                      <a:pt x="37940" y="169484"/>
                      <a:pt x="0" y="131544"/>
                      <a:pt x="0" y="84742"/>
                    </a:cubicBezTo>
                    <a:lnTo>
                      <a:pt x="0" y="84742"/>
                    </a:lnTo>
                    <a:cubicBezTo>
                      <a:pt x="0" y="37940"/>
                      <a:pt x="37940" y="0"/>
                      <a:pt x="84742" y="0"/>
                    </a:cubicBezTo>
                    <a:close/>
                  </a:path>
                </a:pathLst>
              </a:custGeom>
              <a:solidFill>
                <a:srgbClr val="7867B4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409303" cy="2075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218730" y="109961"/>
              <a:ext cx="1938013" cy="7541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5"/>
                </a:lnSpc>
              </a:pPr>
              <a:r>
                <a:rPr lang="en-US" b="true" sz="3668" spc="-139">
                  <a:solidFill>
                    <a:srgbClr val="FCF7F5"/>
                  </a:solidFill>
                  <a:latin typeface="Cosmic Octo Medium"/>
                  <a:ea typeface="Cosmic Octo Medium"/>
                  <a:cs typeface="Cosmic Octo Medium"/>
                  <a:sym typeface="Cosmic Octo Medium"/>
                </a:rPr>
                <a:t>01</a:t>
              </a:r>
            </a:p>
          </p:txBody>
        </p:sp>
        <p:grpSp>
          <p:nvGrpSpPr>
            <p:cNvPr name="Group 18" id="18"/>
            <p:cNvGrpSpPr/>
            <p:nvPr/>
          </p:nvGrpSpPr>
          <p:grpSpPr>
            <a:xfrm rot="0">
              <a:off x="2769415" y="0"/>
              <a:ext cx="7114590" cy="983636"/>
              <a:chOff x="0" y="0"/>
              <a:chExt cx="1584830" cy="219113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584830" cy="219113"/>
              </a:xfrm>
              <a:custGeom>
                <a:avLst/>
                <a:gdLst/>
                <a:ahLst/>
                <a:cxnLst/>
                <a:rect r="r" b="b" t="t" l="l"/>
                <a:pathLst>
                  <a:path h="219113" w="1584830">
                    <a:moveTo>
                      <a:pt x="33267" y="0"/>
                    </a:moveTo>
                    <a:lnTo>
                      <a:pt x="1551564" y="0"/>
                    </a:lnTo>
                    <a:cubicBezTo>
                      <a:pt x="1560387" y="0"/>
                      <a:pt x="1568848" y="3505"/>
                      <a:pt x="1575087" y="9744"/>
                    </a:cubicBezTo>
                    <a:cubicBezTo>
                      <a:pt x="1581326" y="15982"/>
                      <a:pt x="1584830" y="24444"/>
                      <a:pt x="1584830" y="33267"/>
                    </a:cubicBezTo>
                    <a:lnTo>
                      <a:pt x="1584830" y="185846"/>
                    </a:lnTo>
                    <a:cubicBezTo>
                      <a:pt x="1584830" y="194669"/>
                      <a:pt x="1581326" y="203130"/>
                      <a:pt x="1575087" y="209369"/>
                    </a:cubicBezTo>
                    <a:cubicBezTo>
                      <a:pt x="1568848" y="215608"/>
                      <a:pt x="1560387" y="219113"/>
                      <a:pt x="1551564" y="219113"/>
                    </a:cubicBezTo>
                    <a:lnTo>
                      <a:pt x="33267" y="219113"/>
                    </a:lnTo>
                    <a:cubicBezTo>
                      <a:pt x="24444" y="219113"/>
                      <a:pt x="15982" y="215608"/>
                      <a:pt x="9744" y="209369"/>
                    </a:cubicBezTo>
                    <a:cubicBezTo>
                      <a:pt x="3505" y="203130"/>
                      <a:pt x="0" y="194669"/>
                      <a:pt x="0" y="185846"/>
                    </a:cubicBezTo>
                    <a:lnTo>
                      <a:pt x="0" y="33267"/>
                    </a:lnTo>
                    <a:cubicBezTo>
                      <a:pt x="0" y="24444"/>
                      <a:pt x="3505" y="15982"/>
                      <a:pt x="9744" y="9744"/>
                    </a:cubicBezTo>
                    <a:cubicBezTo>
                      <a:pt x="15982" y="3505"/>
                      <a:pt x="24444" y="0"/>
                      <a:pt x="33267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584830" cy="257213"/>
              </a:xfrm>
              <a:prstGeom prst="rect">
                <a:avLst/>
              </a:prstGeom>
            </p:spPr>
            <p:txBody>
              <a:bodyPr anchor="ctr" rtlCol="false" tIns="44312" lIns="44312" bIns="44312" rIns="44312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3100314" y="169515"/>
              <a:ext cx="9693651" cy="6027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826"/>
                </a:lnSpc>
                <a:spcBef>
                  <a:spcPct val="0"/>
                </a:spcBef>
              </a:pPr>
              <a:r>
                <a:rPr lang="en-US" b="true" sz="2733">
                  <a:solidFill>
                    <a:srgbClr val="534569"/>
                  </a:solidFill>
                  <a:latin typeface="Pattanakarn Condensed Bold"/>
                  <a:ea typeface="Pattanakarn Condensed Bold"/>
                  <a:cs typeface="Pattanakarn Condensed Bold"/>
                  <a:sym typeface="Pattanakarn Condensed Bold"/>
                </a:rPr>
                <a:t>INTRODUCTORY PROBLEM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78931" y="4835838"/>
            <a:ext cx="1781605" cy="737727"/>
            <a:chOff x="0" y="0"/>
            <a:chExt cx="2375473" cy="983636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2375473" cy="983636"/>
              <a:chOff x="0" y="0"/>
              <a:chExt cx="409303" cy="169484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409303" cy="169484"/>
              </a:xfrm>
              <a:custGeom>
                <a:avLst/>
                <a:gdLst/>
                <a:ahLst/>
                <a:cxnLst/>
                <a:rect r="r" b="b" t="t" l="l"/>
                <a:pathLst>
                  <a:path h="169484" w="409303">
                    <a:moveTo>
                      <a:pt x="84742" y="0"/>
                    </a:moveTo>
                    <a:lnTo>
                      <a:pt x="324561" y="0"/>
                    </a:lnTo>
                    <a:cubicBezTo>
                      <a:pt x="371363" y="0"/>
                      <a:pt x="409303" y="37940"/>
                      <a:pt x="409303" y="84742"/>
                    </a:cubicBezTo>
                    <a:lnTo>
                      <a:pt x="409303" y="84742"/>
                    </a:lnTo>
                    <a:cubicBezTo>
                      <a:pt x="409303" y="131544"/>
                      <a:pt x="371363" y="169484"/>
                      <a:pt x="324561" y="169484"/>
                    </a:cubicBezTo>
                    <a:lnTo>
                      <a:pt x="84742" y="169484"/>
                    </a:lnTo>
                    <a:cubicBezTo>
                      <a:pt x="37940" y="169484"/>
                      <a:pt x="0" y="131544"/>
                      <a:pt x="0" y="84742"/>
                    </a:cubicBezTo>
                    <a:lnTo>
                      <a:pt x="0" y="84742"/>
                    </a:lnTo>
                    <a:cubicBezTo>
                      <a:pt x="0" y="37940"/>
                      <a:pt x="37940" y="0"/>
                      <a:pt x="84742" y="0"/>
                    </a:cubicBezTo>
                    <a:close/>
                  </a:path>
                </a:pathLst>
              </a:custGeom>
              <a:solidFill>
                <a:srgbClr val="7867B4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409303" cy="2075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218730" y="109961"/>
              <a:ext cx="1938013" cy="7541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5"/>
                </a:lnSpc>
              </a:pPr>
              <a:r>
                <a:rPr lang="en-US" b="true" sz="3668" spc="-139">
                  <a:solidFill>
                    <a:srgbClr val="FCF7F5"/>
                  </a:solidFill>
                  <a:latin typeface="Cosmic Octo Medium"/>
                  <a:ea typeface="Cosmic Octo Medium"/>
                  <a:cs typeface="Cosmic Octo Medium"/>
                  <a:sym typeface="Cosmic Octo Medium"/>
                </a:rPr>
                <a:t>02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955992" y="4835838"/>
            <a:ext cx="6188008" cy="737727"/>
            <a:chOff x="0" y="0"/>
            <a:chExt cx="1837903" cy="21911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837903" cy="219113"/>
            </a:xfrm>
            <a:custGeom>
              <a:avLst/>
              <a:gdLst/>
              <a:ahLst/>
              <a:cxnLst/>
              <a:rect r="r" b="b" t="t" l="l"/>
              <a:pathLst>
                <a:path h="219113" w="1837903">
                  <a:moveTo>
                    <a:pt x="25022" y="0"/>
                  </a:moveTo>
                  <a:lnTo>
                    <a:pt x="1812880" y="0"/>
                  </a:lnTo>
                  <a:cubicBezTo>
                    <a:pt x="1826700" y="0"/>
                    <a:pt x="1837903" y="11203"/>
                    <a:pt x="1837903" y="25022"/>
                  </a:cubicBezTo>
                  <a:lnTo>
                    <a:pt x="1837903" y="194090"/>
                  </a:lnTo>
                  <a:cubicBezTo>
                    <a:pt x="1837903" y="207910"/>
                    <a:pt x="1826700" y="219113"/>
                    <a:pt x="1812880" y="219113"/>
                  </a:cubicBezTo>
                  <a:lnTo>
                    <a:pt x="25022" y="219113"/>
                  </a:lnTo>
                  <a:cubicBezTo>
                    <a:pt x="11203" y="219113"/>
                    <a:pt x="0" y="207910"/>
                    <a:pt x="0" y="194090"/>
                  </a:cubicBezTo>
                  <a:lnTo>
                    <a:pt x="0" y="25022"/>
                  </a:lnTo>
                  <a:cubicBezTo>
                    <a:pt x="0" y="11203"/>
                    <a:pt x="11203" y="0"/>
                    <a:pt x="25022" y="0"/>
                  </a:cubicBezTo>
                  <a:close/>
                </a:path>
              </a:pathLst>
            </a:custGeom>
            <a:solidFill>
              <a:srgbClr val="EECACA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837903" cy="257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3204166" y="4951068"/>
            <a:ext cx="7270238" cy="463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26"/>
              </a:lnSpc>
              <a:spcBef>
                <a:spcPct val="0"/>
              </a:spcBef>
            </a:pPr>
            <a:r>
              <a:rPr lang="en-US" b="true" sz="2733">
                <a:solidFill>
                  <a:srgbClr val="534569"/>
                </a:solidFill>
                <a:latin typeface="Pattanakarn Condensed Bold"/>
                <a:ea typeface="Pattanakarn Condensed Bold"/>
                <a:cs typeface="Pattanakarn Condensed Bold"/>
                <a:sym typeface="Pattanakarn Condensed Bold"/>
              </a:rPr>
              <a:t>ABSTRACT FACTORY PATTERN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878931" y="6240315"/>
            <a:ext cx="1781605" cy="737727"/>
            <a:chOff x="0" y="0"/>
            <a:chExt cx="2375473" cy="983636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2375473" cy="983636"/>
              <a:chOff x="0" y="0"/>
              <a:chExt cx="409303" cy="169484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409303" cy="169484"/>
              </a:xfrm>
              <a:custGeom>
                <a:avLst/>
                <a:gdLst/>
                <a:ahLst/>
                <a:cxnLst/>
                <a:rect r="r" b="b" t="t" l="l"/>
                <a:pathLst>
                  <a:path h="169484" w="409303">
                    <a:moveTo>
                      <a:pt x="84742" y="0"/>
                    </a:moveTo>
                    <a:lnTo>
                      <a:pt x="324561" y="0"/>
                    </a:lnTo>
                    <a:cubicBezTo>
                      <a:pt x="371363" y="0"/>
                      <a:pt x="409303" y="37940"/>
                      <a:pt x="409303" y="84742"/>
                    </a:cubicBezTo>
                    <a:lnTo>
                      <a:pt x="409303" y="84742"/>
                    </a:lnTo>
                    <a:cubicBezTo>
                      <a:pt x="409303" y="131544"/>
                      <a:pt x="371363" y="169484"/>
                      <a:pt x="324561" y="169484"/>
                    </a:cubicBezTo>
                    <a:lnTo>
                      <a:pt x="84742" y="169484"/>
                    </a:lnTo>
                    <a:cubicBezTo>
                      <a:pt x="37940" y="169484"/>
                      <a:pt x="0" y="131544"/>
                      <a:pt x="0" y="84742"/>
                    </a:cubicBezTo>
                    <a:lnTo>
                      <a:pt x="0" y="84742"/>
                    </a:lnTo>
                    <a:cubicBezTo>
                      <a:pt x="0" y="37940"/>
                      <a:pt x="37940" y="0"/>
                      <a:pt x="84742" y="0"/>
                    </a:cubicBezTo>
                    <a:close/>
                  </a:path>
                </a:pathLst>
              </a:custGeom>
              <a:solidFill>
                <a:srgbClr val="7867B4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409303" cy="2075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218730" y="109961"/>
              <a:ext cx="1938013" cy="7541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5"/>
                </a:lnSpc>
              </a:pPr>
              <a:r>
                <a:rPr lang="en-US" b="true" sz="3668" spc="-139">
                  <a:solidFill>
                    <a:srgbClr val="FCF7F5"/>
                  </a:solidFill>
                  <a:latin typeface="Cosmic Octo Medium"/>
                  <a:ea typeface="Cosmic Octo Medium"/>
                  <a:cs typeface="Cosmic Octo Medium"/>
                  <a:sym typeface="Cosmic Octo Medium"/>
                </a:rPr>
                <a:t>03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955992" y="7644792"/>
            <a:ext cx="3700435" cy="737727"/>
            <a:chOff x="0" y="0"/>
            <a:chExt cx="1099068" cy="21911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9068" cy="219113"/>
            </a:xfrm>
            <a:custGeom>
              <a:avLst/>
              <a:gdLst/>
              <a:ahLst/>
              <a:cxnLst/>
              <a:rect r="r" b="b" t="t" l="l"/>
              <a:pathLst>
                <a:path h="219113" w="1099068">
                  <a:moveTo>
                    <a:pt x="41843" y="0"/>
                  </a:moveTo>
                  <a:lnTo>
                    <a:pt x="1057225" y="0"/>
                  </a:lnTo>
                  <a:cubicBezTo>
                    <a:pt x="1080334" y="0"/>
                    <a:pt x="1099068" y="18734"/>
                    <a:pt x="1099068" y="41843"/>
                  </a:cubicBezTo>
                  <a:lnTo>
                    <a:pt x="1099068" y="177269"/>
                  </a:lnTo>
                  <a:cubicBezTo>
                    <a:pt x="1099068" y="200379"/>
                    <a:pt x="1080334" y="219113"/>
                    <a:pt x="1057225" y="219113"/>
                  </a:cubicBezTo>
                  <a:lnTo>
                    <a:pt x="41843" y="219113"/>
                  </a:lnTo>
                  <a:cubicBezTo>
                    <a:pt x="18734" y="219113"/>
                    <a:pt x="0" y="200379"/>
                    <a:pt x="0" y="177269"/>
                  </a:cubicBezTo>
                  <a:lnTo>
                    <a:pt x="0" y="41843"/>
                  </a:lnTo>
                  <a:cubicBezTo>
                    <a:pt x="0" y="18734"/>
                    <a:pt x="18734" y="0"/>
                    <a:pt x="41843" y="0"/>
                  </a:cubicBezTo>
                  <a:close/>
                </a:path>
              </a:pathLst>
            </a:custGeom>
            <a:solidFill>
              <a:srgbClr val="EECACA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099068" cy="257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3204166" y="7759092"/>
            <a:ext cx="7270238" cy="463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26"/>
              </a:lnSpc>
              <a:spcBef>
                <a:spcPct val="0"/>
              </a:spcBef>
            </a:pPr>
            <a:r>
              <a:rPr lang="en-US" b="true" sz="2733">
                <a:solidFill>
                  <a:srgbClr val="534569"/>
                </a:solidFill>
                <a:latin typeface="Pattanakarn Condensed Bold"/>
                <a:ea typeface="Pattanakarn Condensed Bold"/>
                <a:cs typeface="Pattanakarn Condensed Bold"/>
                <a:sym typeface="Pattanakarn Condensed Bold"/>
              </a:rPr>
              <a:t>IMPLEMENTATION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878931" y="7644792"/>
            <a:ext cx="1781605" cy="737727"/>
            <a:chOff x="0" y="0"/>
            <a:chExt cx="2375473" cy="983636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0"/>
              <a:ext cx="2375473" cy="983636"/>
              <a:chOff x="0" y="0"/>
              <a:chExt cx="409303" cy="169484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409303" cy="169484"/>
              </a:xfrm>
              <a:custGeom>
                <a:avLst/>
                <a:gdLst/>
                <a:ahLst/>
                <a:cxnLst/>
                <a:rect r="r" b="b" t="t" l="l"/>
                <a:pathLst>
                  <a:path h="169484" w="409303">
                    <a:moveTo>
                      <a:pt x="84742" y="0"/>
                    </a:moveTo>
                    <a:lnTo>
                      <a:pt x="324561" y="0"/>
                    </a:lnTo>
                    <a:cubicBezTo>
                      <a:pt x="371363" y="0"/>
                      <a:pt x="409303" y="37940"/>
                      <a:pt x="409303" y="84742"/>
                    </a:cubicBezTo>
                    <a:lnTo>
                      <a:pt x="409303" y="84742"/>
                    </a:lnTo>
                    <a:cubicBezTo>
                      <a:pt x="409303" y="131544"/>
                      <a:pt x="371363" y="169484"/>
                      <a:pt x="324561" y="169484"/>
                    </a:cubicBezTo>
                    <a:lnTo>
                      <a:pt x="84742" y="169484"/>
                    </a:lnTo>
                    <a:cubicBezTo>
                      <a:pt x="37940" y="169484"/>
                      <a:pt x="0" y="131544"/>
                      <a:pt x="0" y="84742"/>
                    </a:cubicBezTo>
                    <a:lnTo>
                      <a:pt x="0" y="84742"/>
                    </a:lnTo>
                    <a:cubicBezTo>
                      <a:pt x="0" y="37940"/>
                      <a:pt x="37940" y="0"/>
                      <a:pt x="84742" y="0"/>
                    </a:cubicBezTo>
                    <a:close/>
                  </a:path>
                </a:pathLst>
              </a:custGeom>
              <a:solidFill>
                <a:srgbClr val="7867B4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409303" cy="2075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44" id="44"/>
            <p:cNvSpPr txBox="true"/>
            <p:nvPr/>
          </p:nvSpPr>
          <p:spPr>
            <a:xfrm rot="0">
              <a:off x="218730" y="109961"/>
              <a:ext cx="1938013" cy="7541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5"/>
                </a:lnSpc>
              </a:pPr>
              <a:r>
                <a:rPr lang="en-US" b="true" sz="3668" spc="-139">
                  <a:solidFill>
                    <a:srgbClr val="FCF7F5"/>
                  </a:solidFill>
                  <a:latin typeface="Cosmic Octo Medium"/>
                  <a:ea typeface="Cosmic Octo Medium"/>
                  <a:cs typeface="Cosmic Octo Medium"/>
                  <a:sym typeface="Cosmic Octo Medium"/>
                </a:rPr>
                <a:t>04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2955992" y="6240315"/>
            <a:ext cx="3201543" cy="737727"/>
            <a:chOff x="0" y="0"/>
            <a:chExt cx="950892" cy="21911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50892" cy="219113"/>
            </a:xfrm>
            <a:custGeom>
              <a:avLst/>
              <a:gdLst/>
              <a:ahLst/>
              <a:cxnLst/>
              <a:rect r="r" b="b" t="t" l="l"/>
              <a:pathLst>
                <a:path h="219113" w="950892">
                  <a:moveTo>
                    <a:pt x="48364" y="0"/>
                  </a:moveTo>
                  <a:lnTo>
                    <a:pt x="902528" y="0"/>
                  </a:lnTo>
                  <a:cubicBezTo>
                    <a:pt x="915355" y="0"/>
                    <a:pt x="927656" y="5095"/>
                    <a:pt x="936726" y="14165"/>
                  </a:cubicBezTo>
                  <a:cubicBezTo>
                    <a:pt x="945796" y="23235"/>
                    <a:pt x="950892" y="35537"/>
                    <a:pt x="950892" y="48364"/>
                  </a:cubicBezTo>
                  <a:lnTo>
                    <a:pt x="950892" y="170749"/>
                  </a:lnTo>
                  <a:cubicBezTo>
                    <a:pt x="950892" y="183576"/>
                    <a:pt x="945796" y="195877"/>
                    <a:pt x="936726" y="204947"/>
                  </a:cubicBezTo>
                  <a:cubicBezTo>
                    <a:pt x="927656" y="214017"/>
                    <a:pt x="915355" y="219113"/>
                    <a:pt x="902528" y="219113"/>
                  </a:cubicBezTo>
                  <a:lnTo>
                    <a:pt x="48364" y="219113"/>
                  </a:lnTo>
                  <a:cubicBezTo>
                    <a:pt x="35537" y="219113"/>
                    <a:pt x="23235" y="214017"/>
                    <a:pt x="14165" y="204947"/>
                  </a:cubicBezTo>
                  <a:cubicBezTo>
                    <a:pt x="5095" y="195877"/>
                    <a:pt x="0" y="183576"/>
                    <a:pt x="0" y="170749"/>
                  </a:cubicBezTo>
                  <a:lnTo>
                    <a:pt x="0" y="48364"/>
                  </a:lnTo>
                  <a:cubicBezTo>
                    <a:pt x="0" y="35537"/>
                    <a:pt x="5095" y="23235"/>
                    <a:pt x="14165" y="14165"/>
                  </a:cubicBezTo>
                  <a:cubicBezTo>
                    <a:pt x="23235" y="5095"/>
                    <a:pt x="35537" y="0"/>
                    <a:pt x="48364" y="0"/>
                  </a:cubicBezTo>
                  <a:close/>
                </a:path>
              </a:pathLst>
            </a:custGeom>
            <a:solidFill>
              <a:srgbClr val="EECACA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950892" cy="257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3204166" y="6347549"/>
            <a:ext cx="7270238" cy="463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26"/>
              </a:lnSpc>
              <a:spcBef>
                <a:spcPct val="0"/>
              </a:spcBef>
            </a:pPr>
            <a:r>
              <a:rPr lang="en-US" b="true" sz="2733">
                <a:solidFill>
                  <a:srgbClr val="534569"/>
                </a:solidFill>
                <a:latin typeface="Pattanakarn Condensed Bold"/>
                <a:ea typeface="Pattanakarn Condensed Bold"/>
                <a:cs typeface="Pattanakarn Condensed Bold"/>
                <a:sym typeface="Pattanakarn Condensed Bold"/>
              </a:rPr>
              <a:t>APPLICATIONS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878931" y="9049269"/>
            <a:ext cx="1781605" cy="737727"/>
            <a:chOff x="0" y="0"/>
            <a:chExt cx="2375473" cy="983636"/>
          </a:xfrm>
        </p:grpSpPr>
        <p:grpSp>
          <p:nvGrpSpPr>
            <p:cNvPr name="Group 50" id="50"/>
            <p:cNvGrpSpPr/>
            <p:nvPr/>
          </p:nvGrpSpPr>
          <p:grpSpPr>
            <a:xfrm rot="0">
              <a:off x="0" y="0"/>
              <a:ext cx="2375473" cy="983636"/>
              <a:chOff x="0" y="0"/>
              <a:chExt cx="409303" cy="169484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409303" cy="169484"/>
              </a:xfrm>
              <a:custGeom>
                <a:avLst/>
                <a:gdLst/>
                <a:ahLst/>
                <a:cxnLst/>
                <a:rect r="r" b="b" t="t" l="l"/>
                <a:pathLst>
                  <a:path h="169484" w="409303">
                    <a:moveTo>
                      <a:pt x="84742" y="0"/>
                    </a:moveTo>
                    <a:lnTo>
                      <a:pt x="324561" y="0"/>
                    </a:lnTo>
                    <a:cubicBezTo>
                      <a:pt x="371363" y="0"/>
                      <a:pt x="409303" y="37940"/>
                      <a:pt x="409303" y="84742"/>
                    </a:cubicBezTo>
                    <a:lnTo>
                      <a:pt x="409303" y="84742"/>
                    </a:lnTo>
                    <a:cubicBezTo>
                      <a:pt x="409303" y="131544"/>
                      <a:pt x="371363" y="169484"/>
                      <a:pt x="324561" y="169484"/>
                    </a:cubicBezTo>
                    <a:lnTo>
                      <a:pt x="84742" y="169484"/>
                    </a:lnTo>
                    <a:cubicBezTo>
                      <a:pt x="37940" y="169484"/>
                      <a:pt x="0" y="131544"/>
                      <a:pt x="0" y="84742"/>
                    </a:cubicBezTo>
                    <a:lnTo>
                      <a:pt x="0" y="84742"/>
                    </a:lnTo>
                    <a:cubicBezTo>
                      <a:pt x="0" y="37940"/>
                      <a:pt x="37940" y="0"/>
                      <a:pt x="84742" y="0"/>
                    </a:cubicBezTo>
                    <a:close/>
                  </a:path>
                </a:pathLst>
              </a:custGeom>
              <a:solidFill>
                <a:srgbClr val="7867B4"/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38100"/>
                <a:ext cx="409303" cy="2075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53" id="53"/>
            <p:cNvSpPr txBox="true"/>
            <p:nvPr/>
          </p:nvSpPr>
          <p:spPr>
            <a:xfrm rot="0">
              <a:off x="218730" y="109961"/>
              <a:ext cx="1938013" cy="7541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5"/>
                </a:lnSpc>
              </a:pPr>
              <a:r>
                <a:rPr lang="en-US" b="true" sz="3668" spc="-139">
                  <a:solidFill>
                    <a:srgbClr val="FCF7F5"/>
                  </a:solidFill>
                  <a:latin typeface="Cosmic Octo Medium"/>
                  <a:ea typeface="Cosmic Octo Medium"/>
                  <a:cs typeface="Cosmic Octo Medium"/>
                  <a:sym typeface="Cosmic Octo Medium"/>
                </a:rPr>
                <a:t>05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2955992" y="9049269"/>
            <a:ext cx="2058023" cy="737727"/>
            <a:chOff x="0" y="0"/>
            <a:chExt cx="611254" cy="21911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11254" cy="219113"/>
            </a:xfrm>
            <a:custGeom>
              <a:avLst/>
              <a:gdLst/>
              <a:ahLst/>
              <a:cxnLst/>
              <a:rect r="r" b="b" t="t" l="l"/>
              <a:pathLst>
                <a:path h="219113" w="611254">
                  <a:moveTo>
                    <a:pt x="75236" y="0"/>
                  </a:moveTo>
                  <a:lnTo>
                    <a:pt x="536018" y="0"/>
                  </a:lnTo>
                  <a:cubicBezTo>
                    <a:pt x="555972" y="0"/>
                    <a:pt x="575109" y="7927"/>
                    <a:pt x="589218" y="22036"/>
                  </a:cubicBezTo>
                  <a:cubicBezTo>
                    <a:pt x="603328" y="36146"/>
                    <a:pt x="611254" y="55283"/>
                    <a:pt x="611254" y="75236"/>
                  </a:cubicBezTo>
                  <a:lnTo>
                    <a:pt x="611254" y="143876"/>
                  </a:lnTo>
                  <a:cubicBezTo>
                    <a:pt x="611254" y="185428"/>
                    <a:pt x="577570" y="219113"/>
                    <a:pt x="536018" y="219113"/>
                  </a:cubicBezTo>
                  <a:lnTo>
                    <a:pt x="75236" y="219113"/>
                  </a:lnTo>
                  <a:cubicBezTo>
                    <a:pt x="33685" y="219113"/>
                    <a:pt x="0" y="185428"/>
                    <a:pt x="0" y="143876"/>
                  </a:cubicBezTo>
                  <a:lnTo>
                    <a:pt x="0" y="75236"/>
                  </a:lnTo>
                  <a:cubicBezTo>
                    <a:pt x="0" y="33685"/>
                    <a:pt x="33685" y="0"/>
                    <a:pt x="75236" y="0"/>
                  </a:cubicBezTo>
                  <a:close/>
                </a:path>
              </a:pathLst>
            </a:custGeom>
            <a:solidFill>
              <a:srgbClr val="EECACA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611254" cy="257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3204166" y="9164498"/>
            <a:ext cx="7270238" cy="463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26"/>
              </a:lnSpc>
              <a:spcBef>
                <a:spcPct val="0"/>
              </a:spcBef>
            </a:pPr>
            <a:r>
              <a:rPr lang="en-US" b="true" sz="2733">
                <a:solidFill>
                  <a:srgbClr val="534569"/>
                </a:solidFill>
                <a:latin typeface="Pattanakarn Condensed Bold"/>
                <a:ea typeface="Pattanakarn Condensed Bold"/>
                <a:cs typeface="Pattanakarn Condensed Bold"/>
                <a:sym typeface="Pattanakarn Condensed Bold"/>
              </a:rPr>
              <a:t>QUIZZES</a:t>
            </a:r>
          </a:p>
        </p:txBody>
      </p:sp>
      <p:sp>
        <p:nvSpPr>
          <p:cNvPr name="Freeform 58" id="58"/>
          <p:cNvSpPr/>
          <p:nvPr/>
        </p:nvSpPr>
        <p:spPr>
          <a:xfrm flipH="false" flipV="false" rot="5400000">
            <a:off x="5719423" y="7233935"/>
            <a:ext cx="14327995" cy="6278267"/>
          </a:xfrm>
          <a:custGeom>
            <a:avLst/>
            <a:gdLst/>
            <a:ahLst/>
            <a:cxnLst/>
            <a:rect r="r" b="b" t="t" l="l"/>
            <a:pathLst>
              <a:path h="6278267" w="14327995">
                <a:moveTo>
                  <a:pt x="0" y="0"/>
                </a:moveTo>
                <a:lnTo>
                  <a:pt x="14327995" y="0"/>
                </a:lnTo>
                <a:lnTo>
                  <a:pt x="14327995" y="6278267"/>
                </a:lnTo>
                <a:lnTo>
                  <a:pt x="0" y="62782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91935" y="-3384213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35778" y="-3384213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91935" y="5143500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35778" y="5143500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622840" y="-52947"/>
            <a:ext cx="2864146" cy="10995720"/>
            <a:chOff x="0" y="0"/>
            <a:chExt cx="754343" cy="28959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4343" cy="2895992"/>
            </a:xfrm>
            <a:custGeom>
              <a:avLst/>
              <a:gdLst/>
              <a:ahLst/>
              <a:cxnLst/>
              <a:rect r="r" b="b" t="t" l="l"/>
              <a:pathLst>
                <a:path h="2895992" w="754343">
                  <a:moveTo>
                    <a:pt x="0" y="0"/>
                  </a:moveTo>
                  <a:lnTo>
                    <a:pt x="754343" y="0"/>
                  </a:lnTo>
                  <a:lnTo>
                    <a:pt x="754343" y="2895992"/>
                  </a:lnTo>
                  <a:lnTo>
                    <a:pt x="0" y="2895992"/>
                  </a:lnTo>
                  <a:close/>
                </a:path>
              </a:pathLst>
            </a:custGeom>
            <a:solidFill>
              <a:srgbClr val="53456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54343" cy="2934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400000">
            <a:off x="17226417" y="1260159"/>
            <a:ext cx="487450" cy="281835"/>
          </a:xfrm>
          <a:custGeom>
            <a:avLst/>
            <a:gdLst/>
            <a:ahLst/>
            <a:cxnLst/>
            <a:rect r="r" b="b" t="t" l="l"/>
            <a:pathLst>
              <a:path h="281835" w="487450">
                <a:moveTo>
                  <a:pt x="0" y="0"/>
                </a:moveTo>
                <a:lnTo>
                  <a:pt x="487451" y="0"/>
                </a:lnTo>
                <a:lnTo>
                  <a:pt x="487451" y="281835"/>
                </a:lnTo>
                <a:lnTo>
                  <a:pt x="0" y="2818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485804" y="1961565"/>
            <a:ext cx="8095258" cy="7767040"/>
            <a:chOff x="0" y="0"/>
            <a:chExt cx="2132084" cy="2045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32084" cy="2045640"/>
            </a:xfrm>
            <a:custGeom>
              <a:avLst/>
              <a:gdLst/>
              <a:ahLst/>
              <a:cxnLst/>
              <a:rect r="r" b="b" t="t" l="l"/>
              <a:pathLst>
                <a:path h="2045640" w="2132084">
                  <a:moveTo>
                    <a:pt x="19127" y="0"/>
                  </a:moveTo>
                  <a:lnTo>
                    <a:pt x="2112957" y="0"/>
                  </a:lnTo>
                  <a:cubicBezTo>
                    <a:pt x="2123521" y="0"/>
                    <a:pt x="2132084" y="8563"/>
                    <a:pt x="2132084" y="19127"/>
                  </a:cubicBezTo>
                  <a:lnTo>
                    <a:pt x="2132084" y="2026513"/>
                  </a:lnTo>
                  <a:cubicBezTo>
                    <a:pt x="2132084" y="2037077"/>
                    <a:pt x="2123521" y="2045640"/>
                    <a:pt x="2112957" y="2045640"/>
                  </a:cubicBezTo>
                  <a:lnTo>
                    <a:pt x="19127" y="2045640"/>
                  </a:lnTo>
                  <a:cubicBezTo>
                    <a:pt x="14054" y="2045640"/>
                    <a:pt x="9189" y="2043625"/>
                    <a:pt x="5602" y="2040038"/>
                  </a:cubicBezTo>
                  <a:cubicBezTo>
                    <a:pt x="2015" y="2036451"/>
                    <a:pt x="0" y="2031586"/>
                    <a:pt x="0" y="2026513"/>
                  </a:cubicBezTo>
                  <a:lnTo>
                    <a:pt x="0" y="19127"/>
                  </a:lnTo>
                  <a:cubicBezTo>
                    <a:pt x="0" y="14054"/>
                    <a:pt x="2015" y="9189"/>
                    <a:pt x="5602" y="5602"/>
                  </a:cubicBezTo>
                  <a:cubicBezTo>
                    <a:pt x="9189" y="2015"/>
                    <a:pt x="14054" y="0"/>
                    <a:pt x="19127" y="0"/>
                  </a:cubicBezTo>
                  <a:close/>
                </a:path>
              </a:pathLst>
            </a:custGeom>
            <a:solidFill>
              <a:srgbClr val="EECAC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32084" cy="2083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1207529" y="1028700"/>
            <a:ext cx="4063277" cy="9632770"/>
          </a:xfrm>
          <a:custGeom>
            <a:avLst/>
            <a:gdLst/>
            <a:ahLst/>
            <a:cxnLst/>
            <a:rect r="r" b="b" t="t" l="l"/>
            <a:pathLst>
              <a:path h="9632770" w="4063277">
                <a:moveTo>
                  <a:pt x="0" y="0"/>
                </a:moveTo>
                <a:lnTo>
                  <a:pt x="4063277" y="0"/>
                </a:lnTo>
                <a:lnTo>
                  <a:pt x="4063277" y="9632770"/>
                </a:lnTo>
                <a:lnTo>
                  <a:pt x="0" y="96327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-5400000">
            <a:off x="15544399" y="7302141"/>
            <a:ext cx="381338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117" b="true">
                <a:solidFill>
                  <a:srgbClr val="FCF7F5"/>
                </a:solidFill>
                <a:latin typeface="Pattanakarn Condensed Medium"/>
                <a:ea typeface="Pattanakarn Condensed Medium"/>
                <a:cs typeface="Pattanakarn Condensed Medium"/>
                <a:sym typeface="Pattanakarn Condensed Medium"/>
              </a:rPr>
              <a:t>Group 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3595" y="512953"/>
            <a:ext cx="9840694" cy="1002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381759" indent="-690880" lvl="1">
              <a:lnSpc>
                <a:spcPts val="7807"/>
              </a:lnSpc>
              <a:buAutoNum type="arabicPeriod" startAt="1"/>
            </a:pPr>
            <a:r>
              <a:rPr lang="en-US" b="true" sz="6399" spc="-243">
                <a:solidFill>
                  <a:srgbClr val="DC786D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 introduction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485804" y="1797456"/>
            <a:ext cx="8095258" cy="8095258"/>
            <a:chOff x="0" y="0"/>
            <a:chExt cx="10793677" cy="1079367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93677" cy="10793677"/>
            </a:xfrm>
            <a:custGeom>
              <a:avLst/>
              <a:gdLst/>
              <a:ahLst/>
              <a:cxnLst/>
              <a:rect r="r" b="b" t="t" l="l"/>
              <a:pathLst>
                <a:path h="10793677" w="10793677">
                  <a:moveTo>
                    <a:pt x="0" y="0"/>
                  </a:moveTo>
                  <a:lnTo>
                    <a:pt x="10793677" y="0"/>
                  </a:lnTo>
                  <a:lnTo>
                    <a:pt x="10793677" y="10793677"/>
                  </a:lnTo>
                  <a:lnTo>
                    <a:pt x="0" y="107936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606948" y="1593176"/>
              <a:ext cx="9319603" cy="82018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35"/>
                </a:lnSpc>
              </a:pPr>
              <a:r>
                <a:rPr lang="en-US" sz="2882" b="true">
                  <a:solidFill>
                    <a:srgbClr val="534569"/>
                  </a:solidFill>
                  <a:latin typeface="Pattanakarn Condensed Bold"/>
                  <a:ea typeface="Pattanakarn Condensed Bold"/>
                  <a:cs typeface="Pattanakarn Condensed Bold"/>
                  <a:sym typeface="Pattanakarn Condensed Bold"/>
                </a:rPr>
                <a:t>You are building a</a:t>
              </a:r>
            </a:p>
            <a:p>
              <a:pPr algn="ctr">
                <a:lnSpc>
                  <a:spcPts val="4035"/>
                </a:lnSpc>
              </a:pPr>
              <a:r>
                <a:rPr lang="en-US" sz="2882" b="true">
                  <a:solidFill>
                    <a:srgbClr val="534569"/>
                  </a:solidFill>
                  <a:latin typeface="Pattanakarn Condensed Bold"/>
                  <a:ea typeface="Pattanakarn Condensed Bold"/>
                  <a:cs typeface="Pattanakarn Condensed Bold"/>
                  <a:sym typeface="Pattanakarn Condensed Bold"/>
                </a:rPr>
                <a:t>cross-platform text editor:</a:t>
              </a:r>
            </a:p>
            <a:p>
              <a:pPr algn="ctr">
                <a:lnSpc>
                  <a:spcPts val="4035"/>
                </a:lnSpc>
              </a:pPr>
            </a:p>
            <a:p>
              <a:pPr algn="l" marL="557503" indent="-278751" lvl="1">
                <a:lnSpc>
                  <a:spcPts val="3615"/>
                </a:lnSpc>
                <a:buFont typeface="Arial"/>
                <a:buChar char="•"/>
              </a:pPr>
              <a:r>
                <a:rPr lang="en-US" sz="2582">
                  <a:solidFill>
                    <a:srgbClr val="534569"/>
                  </a:solidFill>
                  <a:latin typeface="Pattanakarn Condensed"/>
                  <a:ea typeface="Pattanakarn Condensed"/>
                  <a:cs typeface="Pattanakarn Condensed"/>
                  <a:sym typeface="Pattanakarn Condensed"/>
                </a:rPr>
                <a:t>There are buttons, checkboxes, textboxes, ...</a:t>
              </a:r>
            </a:p>
            <a:p>
              <a:pPr algn="l" marL="557503" indent="-278751" lvl="1">
                <a:lnSpc>
                  <a:spcPts val="3615"/>
                </a:lnSpc>
                <a:buFont typeface="Arial"/>
                <a:buChar char="•"/>
              </a:pPr>
              <a:r>
                <a:rPr lang="en-US" sz="2582">
                  <a:solidFill>
                    <a:srgbClr val="534569"/>
                  </a:solidFill>
                  <a:latin typeface="Pattanakarn Condensed"/>
                  <a:ea typeface="Pattanakarn Condensed"/>
                  <a:cs typeface="Pattanakarn Condensed"/>
                  <a:sym typeface="Pattanakarn Condensed"/>
                </a:rPr>
                <a:t>It works on Windows, Mac and Linux.</a:t>
              </a:r>
            </a:p>
            <a:p>
              <a:pPr algn="l" marL="557503" indent="-278751" lvl="1">
                <a:lnSpc>
                  <a:spcPts val="3615"/>
                </a:lnSpc>
                <a:buFont typeface="Arial"/>
                <a:buChar char="•"/>
              </a:pPr>
              <a:r>
                <a:rPr lang="en-US" sz="2582">
                  <a:solidFill>
                    <a:srgbClr val="534569"/>
                  </a:solidFill>
                  <a:latin typeface="Pattanakarn Condensed"/>
                  <a:ea typeface="Pattanakarn Condensed"/>
                  <a:cs typeface="Pattanakarn Condensed"/>
                  <a:sym typeface="Pattanakarn Condensed"/>
                </a:rPr>
                <a:t>The UI components match the style of the operating system.</a:t>
              </a:r>
            </a:p>
            <a:p>
              <a:pPr algn="l" marL="557503" indent="-278751" lvl="1">
                <a:lnSpc>
                  <a:spcPts val="3615"/>
                </a:lnSpc>
                <a:buFont typeface="Arial"/>
                <a:buChar char="•"/>
              </a:pPr>
              <a:r>
                <a:rPr lang="en-US" sz="2582">
                  <a:solidFill>
                    <a:srgbClr val="534569"/>
                  </a:solidFill>
                  <a:latin typeface="Pattanakarn Condensed"/>
                  <a:ea typeface="Pattanakarn Condensed"/>
                  <a:cs typeface="Pattanakarn Condensed"/>
                  <a:sym typeface="Pattanakarn Condensed"/>
                </a:rPr>
                <a:t>Your company also plans to support additional platforms and UI compoments.</a:t>
              </a:r>
            </a:p>
            <a:p>
              <a:pPr algn="l">
                <a:lnSpc>
                  <a:spcPts val="3615"/>
                </a:lnSpc>
              </a:pPr>
            </a:p>
            <a:p>
              <a:pPr algn="ctr">
                <a:lnSpc>
                  <a:spcPts val="4031"/>
                </a:lnSpc>
              </a:pPr>
              <a:r>
                <a:rPr lang="en-US" sz="2879" b="true">
                  <a:solidFill>
                    <a:srgbClr val="534569"/>
                  </a:solidFill>
                  <a:latin typeface="Pattanakarn Condensed Bold"/>
                  <a:ea typeface="Pattanakarn Condensed Bold"/>
                  <a:cs typeface="Pattanakarn Condensed Bold"/>
                  <a:sym typeface="Pattanakarn Condensed Bold"/>
                </a:rPr>
                <a:t>How would you implement it?</a:t>
              </a:r>
            </a:p>
            <a:p>
              <a:pPr algn="l">
                <a:lnSpc>
                  <a:spcPts val="4031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54475" y="0"/>
            <a:ext cx="1533525" cy="10287000"/>
          </a:xfrm>
          <a:custGeom>
            <a:avLst/>
            <a:gdLst/>
            <a:ahLst/>
            <a:cxnLst/>
            <a:rect r="r" b="b" t="t" l="l"/>
            <a:pathLst>
              <a:path h="10287000" w="1533525">
                <a:moveTo>
                  <a:pt x="0" y="0"/>
                </a:moveTo>
                <a:lnTo>
                  <a:pt x="1533525" y="0"/>
                </a:lnTo>
                <a:lnTo>
                  <a:pt x="153352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12" r="0" b="-31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199429" y="849985"/>
            <a:ext cx="653143" cy="653835"/>
          </a:xfrm>
          <a:custGeom>
            <a:avLst/>
            <a:gdLst/>
            <a:ahLst/>
            <a:cxnLst/>
            <a:rect r="r" b="b" t="t" l="l"/>
            <a:pathLst>
              <a:path h="653835" w="653143">
                <a:moveTo>
                  <a:pt x="0" y="0"/>
                </a:moveTo>
                <a:lnTo>
                  <a:pt x="653142" y="0"/>
                </a:lnTo>
                <a:lnTo>
                  <a:pt x="653142" y="653835"/>
                </a:lnTo>
                <a:lnTo>
                  <a:pt x="0" y="6538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49808" y="554967"/>
            <a:ext cx="8778240" cy="814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14"/>
              </a:lnSpc>
            </a:pPr>
            <a:r>
              <a:rPr lang="en-US" sz="6114" b="true">
                <a:solidFill>
                  <a:srgbClr val="F47575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Naive Solution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53143" y="1492923"/>
            <a:ext cx="14586857" cy="6222327"/>
          </a:xfrm>
          <a:custGeom>
            <a:avLst/>
            <a:gdLst/>
            <a:ahLst/>
            <a:cxnLst/>
            <a:rect r="r" b="b" t="t" l="l"/>
            <a:pathLst>
              <a:path h="6222327" w="14586857">
                <a:moveTo>
                  <a:pt x="0" y="0"/>
                </a:moveTo>
                <a:lnTo>
                  <a:pt x="14586857" y="0"/>
                </a:lnTo>
                <a:lnTo>
                  <a:pt x="14586857" y="6222327"/>
                </a:lnTo>
                <a:lnTo>
                  <a:pt x="0" y="62223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70857" y="1492923"/>
            <a:ext cx="14151429" cy="653835"/>
          </a:xfrm>
          <a:custGeom>
            <a:avLst/>
            <a:gdLst/>
            <a:ahLst/>
            <a:cxnLst/>
            <a:rect r="r" b="b" t="t" l="l"/>
            <a:pathLst>
              <a:path h="653835" w="14151429">
                <a:moveTo>
                  <a:pt x="0" y="0"/>
                </a:moveTo>
                <a:lnTo>
                  <a:pt x="14151429" y="0"/>
                </a:lnTo>
                <a:lnTo>
                  <a:pt x="14151429" y="653834"/>
                </a:lnTo>
                <a:lnTo>
                  <a:pt x="0" y="6538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97280" y="1698440"/>
            <a:ext cx="5193792" cy="349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3"/>
              </a:lnSpc>
            </a:pPr>
            <a:r>
              <a:rPr lang="en-US" sz="2156" spc="107">
                <a:solidFill>
                  <a:srgbClr val="F47575"/>
                </a:solidFill>
                <a:latin typeface="Roboto Mono"/>
                <a:ea typeface="Roboto Mono"/>
                <a:cs typeface="Roboto Mono"/>
                <a:sym typeface="Roboto Mono"/>
              </a:rPr>
              <a:t>Naive Solution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3280571" y="1492923"/>
            <a:ext cx="653143" cy="653835"/>
          </a:xfrm>
          <a:custGeom>
            <a:avLst/>
            <a:gdLst/>
            <a:ahLst/>
            <a:cxnLst/>
            <a:rect r="r" b="b" t="t" l="l"/>
            <a:pathLst>
              <a:path h="653835" w="653143">
                <a:moveTo>
                  <a:pt x="0" y="0"/>
                </a:moveTo>
                <a:lnTo>
                  <a:pt x="653143" y="0"/>
                </a:lnTo>
                <a:lnTo>
                  <a:pt x="653143" y="653834"/>
                </a:lnTo>
                <a:lnTo>
                  <a:pt x="0" y="6538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716000" y="1492923"/>
            <a:ext cx="653143" cy="653835"/>
          </a:xfrm>
          <a:custGeom>
            <a:avLst/>
            <a:gdLst/>
            <a:ahLst/>
            <a:cxnLst/>
            <a:rect r="r" b="b" t="t" l="l"/>
            <a:pathLst>
              <a:path h="653835" w="653143">
                <a:moveTo>
                  <a:pt x="0" y="0"/>
                </a:moveTo>
                <a:lnTo>
                  <a:pt x="653143" y="0"/>
                </a:lnTo>
                <a:lnTo>
                  <a:pt x="653143" y="653834"/>
                </a:lnTo>
                <a:lnTo>
                  <a:pt x="0" y="6538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369143" y="1492923"/>
            <a:ext cx="653143" cy="653835"/>
          </a:xfrm>
          <a:custGeom>
            <a:avLst/>
            <a:gdLst/>
            <a:ahLst/>
            <a:cxnLst/>
            <a:rect r="r" b="b" t="t" l="l"/>
            <a:pathLst>
              <a:path h="653835" w="653143">
                <a:moveTo>
                  <a:pt x="0" y="0"/>
                </a:moveTo>
                <a:lnTo>
                  <a:pt x="653143" y="0"/>
                </a:lnTo>
                <a:lnTo>
                  <a:pt x="653143" y="653834"/>
                </a:lnTo>
                <a:lnTo>
                  <a:pt x="0" y="65383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53143" y="7922298"/>
            <a:ext cx="14586857" cy="2157655"/>
          </a:xfrm>
          <a:custGeom>
            <a:avLst/>
            <a:gdLst/>
            <a:ahLst/>
            <a:cxnLst/>
            <a:rect r="r" b="b" t="t" l="l"/>
            <a:pathLst>
              <a:path h="2157655" w="14586857">
                <a:moveTo>
                  <a:pt x="0" y="0"/>
                </a:moveTo>
                <a:lnTo>
                  <a:pt x="14586857" y="0"/>
                </a:lnTo>
                <a:lnTo>
                  <a:pt x="14586857" y="2157654"/>
                </a:lnTo>
                <a:lnTo>
                  <a:pt x="0" y="215765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24000" y="8140243"/>
            <a:ext cx="1306286" cy="1503820"/>
          </a:xfrm>
          <a:custGeom>
            <a:avLst/>
            <a:gdLst/>
            <a:ahLst/>
            <a:cxnLst/>
            <a:rect r="r" b="b" t="t" l="l"/>
            <a:pathLst>
              <a:path h="1503820" w="1306286">
                <a:moveTo>
                  <a:pt x="0" y="0"/>
                </a:moveTo>
                <a:lnTo>
                  <a:pt x="1306286" y="0"/>
                </a:lnTo>
                <a:lnTo>
                  <a:pt x="1306286" y="1503820"/>
                </a:lnTo>
                <a:lnTo>
                  <a:pt x="0" y="150382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265714" y="8140243"/>
            <a:ext cx="217714" cy="1503820"/>
          </a:xfrm>
          <a:custGeom>
            <a:avLst/>
            <a:gdLst/>
            <a:ahLst/>
            <a:cxnLst/>
            <a:rect r="r" b="b" t="t" l="l"/>
            <a:pathLst>
              <a:path h="1503820" w="217714">
                <a:moveTo>
                  <a:pt x="0" y="0"/>
                </a:moveTo>
                <a:lnTo>
                  <a:pt x="217715" y="0"/>
                </a:lnTo>
                <a:lnTo>
                  <a:pt x="217715" y="1503820"/>
                </a:lnTo>
                <a:lnTo>
                  <a:pt x="0" y="15038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822192" y="8393875"/>
            <a:ext cx="4371000" cy="346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6"/>
              </a:lnSpc>
            </a:pPr>
            <a:r>
              <a:rPr lang="en-US" sz="2646" b="true">
                <a:solidFill>
                  <a:srgbClr val="F47575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Your first try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822192" y="8835794"/>
            <a:ext cx="10497312" cy="373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5"/>
              </a:lnSpc>
            </a:pPr>
            <a:r>
              <a:rPr lang="en-US" sz="2239" spc="-111" b="true">
                <a:solidFill>
                  <a:srgbClr val="5A4A7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Hard coding with if-elses whenever an UI component is needed.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24000" y="2232482"/>
            <a:ext cx="10241280" cy="5288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0"/>
              </a:lnSpc>
            </a:pPr>
            <a:r>
              <a:rPr lang="en-US" sz="3577" b="true">
                <a:solidFill>
                  <a:srgbClr val="F47575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if </a:t>
            </a:r>
            <a:r>
              <a:rPr lang="en-US" sz="3577" b="true">
                <a:solidFill>
                  <a:srgbClr val="5A4A7B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(os == </a:t>
            </a:r>
            <a:r>
              <a:rPr lang="en-US" sz="3577" b="true">
                <a:solidFill>
                  <a:srgbClr val="A838A8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"Windows") </a:t>
            </a:r>
            <a:r>
              <a:rPr lang="en-US" sz="3577" b="true">
                <a:solidFill>
                  <a:srgbClr val="5A4A7B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{</a:t>
            </a:r>
          </a:p>
          <a:p>
            <a:pPr algn="l">
              <a:lnSpc>
                <a:spcPts val="4650"/>
              </a:lnSpc>
            </a:pPr>
            <a:r>
              <a:rPr lang="en-US" sz="3577" b="true">
                <a:solidFill>
                  <a:srgbClr val="5A4A7B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button = </a:t>
            </a:r>
            <a:r>
              <a:rPr lang="en-US" sz="3577" b="true">
                <a:solidFill>
                  <a:srgbClr val="F47575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new</a:t>
            </a:r>
            <a:r>
              <a:rPr lang="en-US" sz="3577" b="true">
                <a:solidFill>
                  <a:srgbClr val="5A4A7B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WindowsButton;</a:t>
            </a:r>
          </a:p>
          <a:p>
            <a:pPr algn="l">
              <a:lnSpc>
                <a:spcPts val="4650"/>
              </a:lnSpc>
            </a:pPr>
            <a:r>
              <a:rPr lang="en-US" sz="3577" b="true">
                <a:solidFill>
                  <a:srgbClr val="5A4A7B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checkbox = </a:t>
            </a:r>
            <a:r>
              <a:rPr lang="en-US" sz="3577" b="true">
                <a:solidFill>
                  <a:srgbClr val="F47575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new</a:t>
            </a:r>
            <a:r>
              <a:rPr lang="en-US" sz="3577" b="true">
                <a:solidFill>
                  <a:srgbClr val="5A4A7B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WindowsCheckbox;</a:t>
            </a:r>
          </a:p>
          <a:p>
            <a:pPr algn="l">
              <a:lnSpc>
                <a:spcPts val="4650"/>
              </a:lnSpc>
            </a:pPr>
            <a:r>
              <a:rPr lang="en-US" sz="3577" b="true">
                <a:solidFill>
                  <a:srgbClr val="5A4A7B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}</a:t>
            </a:r>
          </a:p>
          <a:p>
            <a:pPr algn="l">
              <a:lnSpc>
                <a:spcPts val="4650"/>
              </a:lnSpc>
            </a:pPr>
            <a:r>
              <a:rPr lang="en-US" sz="3577" b="true">
                <a:solidFill>
                  <a:srgbClr val="F47575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else if </a:t>
            </a:r>
            <a:r>
              <a:rPr lang="en-US" sz="3577" b="true">
                <a:solidFill>
                  <a:srgbClr val="5A4A7B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(os == </a:t>
            </a:r>
            <a:r>
              <a:rPr lang="en-US" sz="3577" b="true">
                <a:solidFill>
                  <a:srgbClr val="A838A8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"Mac")</a:t>
            </a:r>
            <a:r>
              <a:rPr lang="en-US" sz="3577" b="true">
                <a:solidFill>
                  <a:srgbClr val="5A4A7B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{</a:t>
            </a:r>
          </a:p>
          <a:p>
            <a:pPr algn="l">
              <a:lnSpc>
                <a:spcPts val="4650"/>
              </a:lnSpc>
            </a:pPr>
            <a:r>
              <a:rPr lang="en-US" sz="3577" b="true">
                <a:solidFill>
                  <a:srgbClr val="5A4A7B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button = </a:t>
            </a:r>
            <a:r>
              <a:rPr lang="en-US" sz="3577" b="true">
                <a:solidFill>
                  <a:srgbClr val="F47575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new</a:t>
            </a:r>
            <a:r>
              <a:rPr lang="en-US" sz="3577" b="true">
                <a:solidFill>
                  <a:srgbClr val="5A4A7B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MacButton;</a:t>
            </a:r>
          </a:p>
          <a:p>
            <a:pPr algn="l">
              <a:lnSpc>
                <a:spcPts val="4650"/>
              </a:lnSpc>
            </a:pPr>
            <a:r>
              <a:rPr lang="en-US" sz="3577" b="true">
                <a:solidFill>
                  <a:srgbClr val="5A4A7B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checkbox = </a:t>
            </a:r>
            <a:r>
              <a:rPr lang="en-US" sz="3577" b="true">
                <a:solidFill>
                  <a:srgbClr val="F47575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new</a:t>
            </a:r>
            <a:r>
              <a:rPr lang="en-US" sz="3577" b="true">
                <a:solidFill>
                  <a:srgbClr val="5A4A7B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MacCheckbox;</a:t>
            </a:r>
          </a:p>
          <a:p>
            <a:pPr algn="l">
              <a:lnSpc>
                <a:spcPts val="4650"/>
              </a:lnSpc>
            </a:pPr>
            <a:r>
              <a:rPr lang="en-US" sz="3577" b="true">
                <a:solidFill>
                  <a:srgbClr val="5A4A7B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}</a:t>
            </a:r>
          </a:p>
          <a:p>
            <a:pPr algn="l">
              <a:lnSpc>
                <a:spcPts val="4650"/>
              </a:lnSpc>
            </a:pPr>
            <a:r>
              <a:rPr lang="en-US" sz="3577" b="true">
                <a:solidFill>
                  <a:srgbClr val="5A4A7B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...</a:t>
            </a:r>
          </a:p>
        </p:txBody>
      </p:sp>
      <p:sp>
        <p:nvSpPr>
          <p:cNvPr name="TextBox 18" id="18"/>
          <p:cNvSpPr txBox="true"/>
          <p:nvPr/>
        </p:nvSpPr>
        <p:spPr>
          <a:xfrm rot="-5400000">
            <a:off x="16837021" y="8399673"/>
            <a:ext cx="1463040" cy="410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8"/>
              </a:lnSpc>
            </a:pPr>
            <a:r>
              <a:rPr lang="en-US" sz="2614" spc="-13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Group 02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C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6095" y="990600"/>
            <a:ext cx="13335000" cy="158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9"/>
              </a:lnSpc>
            </a:pPr>
            <a:r>
              <a:rPr lang="en-US" b="true" sz="6099">
                <a:solidFill>
                  <a:srgbClr val="F47575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Problems of the Naive Solution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86095" y="3186349"/>
            <a:ext cx="7429500" cy="2616916"/>
            <a:chOff x="0" y="0"/>
            <a:chExt cx="9906000" cy="348922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906000" cy="3489221"/>
              <a:chOff x="0" y="0"/>
              <a:chExt cx="9906000" cy="3489221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9906000" cy="3489222"/>
              </a:xfrm>
              <a:custGeom>
                <a:avLst/>
                <a:gdLst/>
                <a:ahLst/>
                <a:cxnLst/>
                <a:rect r="r" b="b" t="t" l="l"/>
                <a:pathLst>
                  <a:path h="3489222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156218"/>
                      <a:pt x="9906000" y="348922"/>
                    </a:cubicBezTo>
                    <a:lnTo>
                      <a:pt x="9906000" y="3140299"/>
                    </a:lnTo>
                    <a:cubicBezTo>
                      <a:pt x="9906000" y="3333004"/>
                      <a:pt x="9792281" y="3489222"/>
                      <a:pt x="9652000" y="3489222"/>
                    </a:cubicBezTo>
                    <a:lnTo>
                      <a:pt x="254000" y="3489222"/>
                    </a:lnTo>
                    <a:cubicBezTo>
                      <a:pt x="113720" y="3489222"/>
                      <a:pt x="0" y="3333004"/>
                      <a:pt x="0" y="3140299"/>
                    </a:cubicBezTo>
                    <a:lnTo>
                      <a:pt x="0" y="348922"/>
                    </a:lnTo>
                    <a:cubicBezTo>
                      <a:pt x="0" y="156218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9906000" cy="3527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988756" y="351263"/>
              <a:ext cx="8690488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534569"/>
                  </a:solidFill>
                  <a:latin typeface="Cosmic Octo Medium"/>
                  <a:ea typeface="Cosmic Octo Medium"/>
                  <a:cs typeface="Cosmic Octo Medium"/>
                  <a:sym typeface="Cosmic Octo Medium"/>
                </a:rPr>
                <a:t>Violation of Open-Closed Principle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685800" y="1202586"/>
              <a:ext cx="8534400" cy="164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534569"/>
                  </a:solidFill>
                  <a:latin typeface="Pattanakarn Condensed"/>
                  <a:ea typeface="Pattanakarn Condensed"/>
                  <a:cs typeface="Pattanakarn Condensed"/>
                  <a:sym typeface="Pattanakarn Condensed"/>
                </a:rPr>
                <a:t>Adding a new platform requires modifying existing code in every place components are created.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3404552"/>
            <a:ext cx="419100" cy="419100"/>
            <a:chOff x="0" y="0"/>
            <a:chExt cx="558800" cy="5588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558800" cy="558800"/>
              <a:chOff x="0" y="0"/>
              <a:chExt cx="558800" cy="558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558800" cy="558800"/>
              </a:xfrm>
              <a:custGeom>
                <a:avLst/>
                <a:gdLst/>
                <a:ahLst/>
                <a:cxnLst/>
                <a:rect r="r" b="b" t="t" l="l"/>
                <a:pathLst>
                  <a:path h="558800" w="558800">
                    <a:moveTo>
                      <a:pt x="279400" y="0"/>
                    </a:moveTo>
                    <a:cubicBezTo>
                      <a:pt x="125092" y="0"/>
                      <a:pt x="0" y="125092"/>
                      <a:pt x="0" y="279400"/>
                    </a:cubicBezTo>
                    <a:cubicBezTo>
                      <a:pt x="0" y="433708"/>
                      <a:pt x="125092" y="558800"/>
                      <a:pt x="279400" y="558800"/>
                    </a:cubicBezTo>
                    <a:cubicBezTo>
                      <a:pt x="433708" y="558800"/>
                      <a:pt x="558800" y="433708"/>
                      <a:pt x="558800" y="279400"/>
                    </a:cubicBezTo>
                    <a:cubicBezTo>
                      <a:pt x="558800" y="125092"/>
                      <a:pt x="433708" y="0"/>
                      <a:pt x="279400" y="0"/>
                    </a:cubicBezTo>
                    <a:close/>
                  </a:path>
                </a:pathLst>
              </a:custGeom>
              <a:solidFill>
                <a:srgbClr val="7867B4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558800" cy="596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0" y="-57150"/>
              <a:ext cx="558800" cy="6105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97"/>
                </a:lnSpc>
              </a:pPr>
              <a:r>
                <a:rPr lang="en-US" b="true" sz="2783">
                  <a:solidFill>
                    <a:srgbClr val="FCF7F5"/>
                  </a:solidFill>
                  <a:latin typeface="Cosmic Octo Medium"/>
                  <a:ea typeface="Cosmic Octo Medium"/>
                  <a:cs typeface="Cosmic Octo Medium"/>
                  <a:sym typeface="Cosmic Octo Medium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703610" y="3186349"/>
            <a:ext cx="7429500" cy="2616916"/>
            <a:chOff x="0" y="0"/>
            <a:chExt cx="9906000" cy="348922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06000" cy="3489222"/>
            </a:xfrm>
            <a:custGeom>
              <a:avLst/>
              <a:gdLst/>
              <a:ahLst/>
              <a:cxnLst/>
              <a:rect r="r" b="b" t="t" l="l"/>
              <a:pathLst>
                <a:path h="3489222" w="9906000">
                  <a:moveTo>
                    <a:pt x="254000" y="0"/>
                  </a:moveTo>
                  <a:lnTo>
                    <a:pt x="9652000" y="0"/>
                  </a:lnTo>
                  <a:cubicBezTo>
                    <a:pt x="9792281" y="0"/>
                    <a:pt x="9906000" y="156218"/>
                    <a:pt x="9906000" y="348922"/>
                  </a:cubicBezTo>
                  <a:lnTo>
                    <a:pt x="9906000" y="3140299"/>
                  </a:lnTo>
                  <a:cubicBezTo>
                    <a:pt x="9906000" y="3333004"/>
                    <a:pt x="9792281" y="3489222"/>
                    <a:pt x="9652000" y="3489222"/>
                  </a:cubicBezTo>
                  <a:lnTo>
                    <a:pt x="254000" y="3489222"/>
                  </a:lnTo>
                  <a:cubicBezTo>
                    <a:pt x="113720" y="3489222"/>
                    <a:pt x="0" y="3333004"/>
                    <a:pt x="0" y="3140299"/>
                  </a:cubicBezTo>
                  <a:lnTo>
                    <a:pt x="0" y="348922"/>
                  </a:lnTo>
                  <a:cubicBezTo>
                    <a:pt x="0" y="156218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EECAC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906000" cy="35273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934450" y="3404552"/>
            <a:ext cx="419100" cy="419100"/>
            <a:chOff x="0" y="0"/>
            <a:chExt cx="558800" cy="558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279400" y="0"/>
                  </a:moveTo>
                  <a:cubicBezTo>
                    <a:pt x="125092" y="0"/>
                    <a:pt x="0" y="125092"/>
                    <a:pt x="0" y="279400"/>
                  </a:cubicBezTo>
                  <a:cubicBezTo>
                    <a:pt x="0" y="433708"/>
                    <a:pt x="125092" y="558800"/>
                    <a:pt x="279400" y="558800"/>
                  </a:cubicBezTo>
                  <a:cubicBezTo>
                    <a:pt x="433708" y="558800"/>
                    <a:pt x="558800" y="433708"/>
                    <a:pt x="558800" y="279400"/>
                  </a:cubicBezTo>
                  <a:cubicBezTo>
                    <a:pt x="558800" y="125092"/>
                    <a:pt x="433708" y="0"/>
                    <a:pt x="279400" y="0"/>
                  </a:cubicBezTo>
                  <a:close/>
                </a:path>
              </a:pathLst>
            </a:custGeom>
            <a:solidFill>
              <a:srgbClr val="7867B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934450" y="3347402"/>
            <a:ext cx="419100" cy="47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7"/>
              </a:lnSpc>
            </a:pPr>
            <a:r>
              <a:rPr lang="en-US" b="true" sz="2783">
                <a:solidFill>
                  <a:srgbClr val="FCF7F5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217960" y="4076382"/>
            <a:ext cx="6400800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Cl</a:t>
            </a:r>
            <a:r>
              <a:rPr lang="en-US" sz="240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ient code depends directly on concrete classes, making it hard to swap implementations.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86095" y="6574790"/>
            <a:ext cx="7429500" cy="2607391"/>
            <a:chOff x="0" y="0"/>
            <a:chExt cx="9906000" cy="3476521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9906000" cy="3476521"/>
              <a:chOff x="0" y="0"/>
              <a:chExt cx="9906000" cy="3476521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9906000" cy="3476522"/>
              </a:xfrm>
              <a:custGeom>
                <a:avLst/>
                <a:gdLst/>
                <a:ahLst/>
                <a:cxnLst/>
                <a:rect r="r" b="b" t="t" l="l"/>
                <a:pathLst>
                  <a:path h="3476522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155649"/>
                      <a:pt x="9906000" y="347652"/>
                    </a:cubicBezTo>
                    <a:lnTo>
                      <a:pt x="9906000" y="3128869"/>
                    </a:lnTo>
                    <a:cubicBezTo>
                      <a:pt x="9906000" y="3320872"/>
                      <a:pt x="9792281" y="3476522"/>
                      <a:pt x="9652000" y="3476522"/>
                    </a:cubicBezTo>
                    <a:lnTo>
                      <a:pt x="254000" y="3476522"/>
                    </a:lnTo>
                    <a:cubicBezTo>
                      <a:pt x="113720" y="3476522"/>
                      <a:pt x="0" y="3320872"/>
                      <a:pt x="0" y="3128869"/>
                    </a:cubicBezTo>
                    <a:lnTo>
                      <a:pt x="0" y="347652"/>
                    </a:lnTo>
                    <a:cubicBezTo>
                      <a:pt x="0" y="155649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9906000" cy="35146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988756" y="341738"/>
              <a:ext cx="8690488" cy="425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34569"/>
                  </a:solidFill>
                  <a:latin typeface="Cosmic Octo Medium"/>
                  <a:ea typeface="Cosmic Octo Medium"/>
                  <a:cs typeface="Cosmic Octo Medium"/>
                  <a:sym typeface="Cosmic Octo Medium"/>
                </a:rPr>
                <a:t>F</a:t>
              </a:r>
              <a:r>
                <a:rPr lang="en-US" b="true" sz="2000">
                  <a:solidFill>
                    <a:srgbClr val="534569"/>
                  </a:solidFill>
                  <a:latin typeface="Cosmic Octo Medium"/>
                  <a:ea typeface="Cosmic Octo Medium"/>
                  <a:cs typeface="Cosmic Octo Medium"/>
                  <a:sym typeface="Cosmic Octo Medium"/>
                </a:rPr>
                <a:t>amily Consistency Not Guaranteed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685800" y="1189886"/>
              <a:ext cx="8534400" cy="164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534569"/>
                  </a:solidFill>
                  <a:latin typeface="Pattanakarn Condensed"/>
                  <a:ea typeface="Pattanakarn Condensed"/>
                  <a:cs typeface="Pattanakarn Condensed"/>
                  <a:sym typeface="Pattanakarn Condensed"/>
                </a:rPr>
                <a:t>Noth</a:t>
              </a:r>
              <a:r>
                <a:rPr lang="en-US" sz="2400">
                  <a:solidFill>
                    <a:srgbClr val="534569"/>
                  </a:solidFill>
                  <a:latin typeface="Pattanakarn Condensed"/>
                  <a:ea typeface="Pattanakarn Condensed"/>
                  <a:cs typeface="Pattanakarn Condensed"/>
                  <a:sym typeface="Pattanakarn Condensed"/>
                </a:rPr>
                <a:t>ing prevents mixing components from different families (e.g. WinButton + MacCheckbox).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28700" y="6812915"/>
            <a:ext cx="419100" cy="419100"/>
            <a:chOff x="0" y="0"/>
            <a:chExt cx="558800" cy="558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279400" y="0"/>
                  </a:moveTo>
                  <a:cubicBezTo>
                    <a:pt x="125092" y="0"/>
                    <a:pt x="0" y="125092"/>
                    <a:pt x="0" y="279400"/>
                  </a:cubicBezTo>
                  <a:cubicBezTo>
                    <a:pt x="0" y="433708"/>
                    <a:pt x="125092" y="558800"/>
                    <a:pt x="279400" y="558800"/>
                  </a:cubicBezTo>
                  <a:cubicBezTo>
                    <a:pt x="433708" y="558800"/>
                    <a:pt x="558800" y="433708"/>
                    <a:pt x="558800" y="279400"/>
                  </a:cubicBezTo>
                  <a:cubicBezTo>
                    <a:pt x="558800" y="125092"/>
                    <a:pt x="433708" y="0"/>
                    <a:pt x="279400" y="0"/>
                  </a:cubicBezTo>
                  <a:close/>
                </a:path>
              </a:pathLst>
            </a:custGeom>
            <a:solidFill>
              <a:srgbClr val="7867B4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028700" y="6755765"/>
            <a:ext cx="419100" cy="47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7"/>
              </a:lnSpc>
            </a:pPr>
            <a:r>
              <a:rPr lang="en-US" b="true" sz="2783">
                <a:solidFill>
                  <a:srgbClr val="FCF7F5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3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703610" y="6574790"/>
            <a:ext cx="7429500" cy="2607391"/>
            <a:chOff x="0" y="0"/>
            <a:chExt cx="9906000" cy="3476521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9906000" cy="3476521"/>
              <a:chOff x="0" y="0"/>
              <a:chExt cx="9906000" cy="3476521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9906000" cy="3476522"/>
              </a:xfrm>
              <a:custGeom>
                <a:avLst/>
                <a:gdLst/>
                <a:ahLst/>
                <a:cxnLst/>
                <a:rect r="r" b="b" t="t" l="l"/>
                <a:pathLst>
                  <a:path h="3476522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155649"/>
                      <a:pt x="9906000" y="347652"/>
                    </a:cubicBezTo>
                    <a:lnTo>
                      <a:pt x="9906000" y="3128869"/>
                    </a:lnTo>
                    <a:cubicBezTo>
                      <a:pt x="9906000" y="3320872"/>
                      <a:pt x="9792281" y="3476522"/>
                      <a:pt x="9652000" y="3476522"/>
                    </a:cubicBezTo>
                    <a:lnTo>
                      <a:pt x="254000" y="3476522"/>
                    </a:lnTo>
                    <a:cubicBezTo>
                      <a:pt x="113720" y="3476522"/>
                      <a:pt x="0" y="3320872"/>
                      <a:pt x="0" y="3128869"/>
                    </a:cubicBezTo>
                    <a:lnTo>
                      <a:pt x="0" y="347652"/>
                    </a:lnTo>
                    <a:cubicBezTo>
                      <a:pt x="0" y="155649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9906000" cy="35146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988756" y="341738"/>
              <a:ext cx="8690488" cy="425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34569"/>
                  </a:solidFill>
                  <a:latin typeface="Cosmic Octo Medium"/>
                  <a:ea typeface="Cosmic Octo Medium"/>
                  <a:cs typeface="Cosmic Octo Medium"/>
                  <a:sym typeface="Cosmic Octo Medium"/>
                </a:rPr>
                <a:t>Dup</a:t>
              </a:r>
              <a:r>
                <a:rPr lang="en-US" b="true" sz="2000">
                  <a:solidFill>
                    <a:srgbClr val="534569"/>
                  </a:solidFill>
                  <a:latin typeface="Cosmic Octo Medium"/>
                  <a:ea typeface="Cosmic Octo Medium"/>
                  <a:cs typeface="Cosmic Octo Medium"/>
                  <a:sym typeface="Cosmic Octo Medium"/>
                </a:rPr>
                <a:t>licate Creation Logic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685800" y="1189886"/>
              <a:ext cx="8534400" cy="164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534569"/>
                  </a:solidFill>
                  <a:latin typeface="Pattanakarn Condensed"/>
                  <a:ea typeface="Pattanakarn Condensed"/>
                  <a:cs typeface="Pattanakarn Condensed"/>
                  <a:sym typeface="Pattanakarn Condensed"/>
                </a:rPr>
                <a:t>The same </a:t>
              </a:r>
              <a:r>
                <a:rPr lang="en-US" sz="2400">
                  <a:solidFill>
                    <a:srgbClr val="534569"/>
                  </a:solidFill>
                  <a:latin typeface="Pattanakarn Condensed"/>
                  <a:ea typeface="Pattanakarn Condensed"/>
                  <a:cs typeface="Pattanakarn Condensed"/>
                  <a:sym typeface="Pattanakarn Condensed"/>
                </a:rPr>
                <a:t>if-else blocks are scattered across the codebase wherever components are instantiated.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934450" y="6808886"/>
            <a:ext cx="419100" cy="419100"/>
            <a:chOff x="0" y="0"/>
            <a:chExt cx="558800" cy="558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279400" y="0"/>
                  </a:moveTo>
                  <a:cubicBezTo>
                    <a:pt x="125092" y="0"/>
                    <a:pt x="0" y="125092"/>
                    <a:pt x="0" y="279400"/>
                  </a:cubicBezTo>
                  <a:cubicBezTo>
                    <a:pt x="0" y="433708"/>
                    <a:pt x="125092" y="558800"/>
                    <a:pt x="279400" y="558800"/>
                  </a:cubicBezTo>
                  <a:cubicBezTo>
                    <a:pt x="433708" y="558800"/>
                    <a:pt x="558800" y="433708"/>
                    <a:pt x="558800" y="279400"/>
                  </a:cubicBezTo>
                  <a:cubicBezTo>
                    <a:pt x="558800" y="125092"/>
                    <a:pt x="433708" y="0"/>
                    <a:pt x="279400" y="0"/>
                  </a:cubicBezTo>
                  <a:close/>
                </a:path>
              </a:pathLst>
            </a:custGeom>
            <a:solidFill>
              <a:srgbClr val="7867B4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8934450" y="6751736"/>
            <a:ext cx="419100" cy="47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7"/>
              </a:lnSpc>
            </a:pPr>
            <a:r>
              <a:rPr lang="en-US" b="true" sz="2783">
                <a:solidFill>
                  <a:srgbClr val="FCF7F5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4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6621125" y="-57150"/>
            <a:ext cx="2867025" cy="11001375"/>
            <a:chOff x="0" y="0"/>
            <a:chExt cx="3822700" cy="146685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822700" cy="14668500"/>
            </a:xfrm>
            <a:custGeom>
              <a:avLst/>
              <a:gdLst/>
              <a:ahLst/>
              <a:cxnLst/>
              <a:rect r="r" b="b" t="t" l="l"/>
              <a:pathLst>
                <a:path h="14668500" w="3822700">
                  <a:moveTo>
                    <a:pt x="0" y="0"/>
                  </a:moveTo>
                  <a:lnTo>
                    <a:pt x="3822700" y="0"/>
                  </a:lnTo>
                  <a:lnTo>
                    <a:pt x="3822700" y="14668500"/>
                  </a:lnTo>
                  <a:lnTo>
                    <a:pt x="0" y="14668500"/>
                  </a:lnTo>
                  <a:close/>
                </a:path>
              </a:pathLst>
            </a:custGeom>
            <a:solidFill>
              <a:srgbClr val="534569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3822700" cy="1470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-5400000">
            <a:off x="16734810" y="8509973"/>
            <a:ext cx="1677629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Group 02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445177" y="3447415"/>
            <a:ext cx="6517866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34569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T</a:t>
            </a:r>
            <a:r>
              <a:rPr lang="en-US" b="true" sz="2100">
                <a:solidFill>
                  <a:srgbClr val="534569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ight Coupling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64000" y="0"/>
            <a:ext cx="1524000" cy="10287000"/>
          </a:xfrm>
          <a:custGeom>
            <a:avLst/>
            <a:gdLst/>
            <a:ahLst/>
            <a:cxnLst/>
            <a:rect r="r" b="b" t="t" l="l"/>
            <a:pathLst>
              <a:path h="10287000" w="1524000">
                <a:moveTo>
                  <a:pt x="0" y="0"/>
                </a:moveTo>
                <a:lnTo>
                  <a:pt x="1524000" y="0"/>
                </a:lnTo>
                <a:lnTo>
                  <a:pt x="1524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199429" y="849985"/>
            <a:ext cx="653143" cy="653835"/>
          </a:xfrm>
          <a:custGeom>
            <a:avLst/>
            <a:gdLst/>
            <a:ahLst/>
            <a:cxnLst/>
            <a:rect r="r" b="b" t="t" l="l"/>
            <a:pathLst>
              <a:path h="653835" w="653143">
                <a:moveTo>
                  <a:pt x="0" y="0"/>
                </a:moveTo>
                <a:lnTo>
                  <a:pt x="653142" y="0"/>
                </a:lnTo>
                <a:lnTo>
                  <a:pt x="653142" y="653835"/>
                </a:lnTo>
                <a:lnTo>
                  <a:pt x="0" y="6538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53143" y="1492923"/>
            <a:ext cx="14586857" cy="6222327"/>
          </a:xfrm>
          <a:custGeom>
            <a:avLst/>
            <a:gdLst/>
            <a:ahLst/>
            <a:cxnLst/>
            <a:rect r="r" b="b" t="t" l="l"/>
            <a:pathLst>
              <a:path h="6222327" w="14586857">
                <a:moveTo>
                  <a:pt x="0" y="0"/>
                </a:moveTo>
                <a:lnTo>
                  <a:pt x="14586857" y="0"/>
                </a:lnTo>
                <a:lnTo>
                  <a:pt x="14586857" y="6222327"/>
                </a:lnTo>
                <a:lnTo>
                  <a:pt x="0" y="62223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70857" y="1492923"/>
            <a:ext cx="14151429" cy="653835"/>
          </a:xfrm>
          <a:custGeom>
            <a:avLst/>
            <a:gdLst/>
            <a:ahLst/>
            <a:cxnLst/>
            <a:rect r="r" b="b" t="t" l="l"/>
            <a:pathLst>
              <a:path h="653835" w="14151429">
                <a:moveTo>
                  <a:pt x="0" y="0"/>
                </a:moveTo>
                <a:lnTo>
                  <a:pt x="14151429" y="0"/>
                </a:lnTo>
                <a:lnTo>
                  <a:pt x="14151429" y="653834"/>
                </a:lnTo>
                <a:lnTo>
                  <a:pt x="0" y="6538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280571" y="1492923"/>
            <a:ext cx="653143" cy="653835"/>
          </a:xfrm>
          <a:custGeom>
            <a:avLst/>
            <a:gdLst/>
            <a:ahLst/>
            <a:cxnLst/>
            <a:rect r="r" b="b" t="t" l="l"/>
            <a:pathLst>
              <a:path h="653835" w="653143">
                <a:moveTo>
                  <a:pt x="0" y="0"/>
                </a:moveTo>
                <a:lnTo>
                  <a:pt x="653143" y="0"/>
                </a:lnTo>
                <a:lnTo>
                  <a:pt x="653143" y="653834"/>
                </a:lnTo>
                <a:lnTo>
                  <a:pt x="0" y="6538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16000" y="1492923"/>
            <a:ext cx="653143" cy="653835"/>
          </a:xfrm>
          <a:custGeom>
            <a:avLst/>
            <a:gdLst/>
            <a:ahLst/>
            <a:cxnLst/>
            <a:rect r="r" b="b" t="t" l="l"/>
            <a:pathLst>
              <a:path h="653835" w="653143">
                <a:moveTo>
                  <a:pt x="0" y="0"/>
                </a:moveTo>
                <a:lnTo>
                  <a:pt x="653143" y="0"/>
                </a:lnTo>
                <a:lnTo>
                  <a:pt x="653143" y="653834"/>
                </a:lnTo>
                <a:lnTo>
                  <a:pt x="0" y="6538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369143" y="1492923"/>
            <a:ext cx="653143" cy="653835"/>
          </a:xfrm>
          <a:custGeom>
            <a:avLst/>
            <a:gdLst/>
            <a:ahLst/>
            <a:cxnLst/>
            <a:rect r="r" b="b" t="t" l="l"/>
            <a:pathLst>
              <a:path h="653835" w="653143">
                <a:moveTo>
                  <a:pt x="0" y="0"/>
                </a:moveTo>
                <a:lnTo>
                  <a:pt x="653143" y="0"/>
                </a:lnTo>
                <a:lnTo>
                  <a:pt x="653143" y="653834"/>
                </a:lnTo>
                <a:lnTo>
                  <a:pt x="0" y="65383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53143" y="7922298"/>
            <a:ext cx="14586857" cy="2157655"/>
          </a:xfrm>
          <a:custGeom>
            <a:avLst/>
            <a:gdLst/>
            <a:ahLst/>
            <a:cxnLst/>
            <a:rect r="r" b="b" t="t" l="l"/>
            <a:pathLst>
              <a:path h="2157655" w="14586857">
                <a:moveTo>
                  <a:pt x="0" y="0"/>
                </a:moveTo>
                <a:lnTo>
                  <a:pt x="14586857" y="0"/>
                </a:lnTo>
                <a:lnTo>
                  <a:pt x="14586857" y="2157654"/>
                </a:lnTo>
                <a:lnTo>
                  <a:pt x="0" y="215765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24000" y="8140243"/>
            <a:ext cx="1306286" cy="1503820"/>
          </a:xfrm>
          <a:custGeom>
            <a:avLst/>
            <a:gdLst/>
            <a:ahLst/>
            <a:cxnLst/>
            <a:rect r="r" b="b" t="t" l="l"/>
            <a:pathLst>
              <a:path h="1503820" w="1306286">
                <a:moveTo>
                  <a:pt x="0" y="0"/>
                </a:moveTo>
                <a:lnTo>
                  <a:pt x="1306286" y="0"/>
                </a:lnTo>
                <a:lnTo>
                  <a:pt x="1306286" y="1503820"/>
                </a:lnTo>
                <a:lnTo>
                  <a:pt x="0" y="150382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265714" y="8140243"/>
            <a:ext cx="217714" cy="1503820"/>
          </a:xfrm>
          <a:custGeom>
            <a:avLst/>
            <a:gdLst/>
            <a:ahLst/>
            <a:cxnLst/>
            <a:rect r="r" b="b" t="t" l="l"/>
            <a:pathLst>
              <a:path h="1503820" w="217714">
                <a:moveTo>
                  <a:pt x="0" y="0"/>
                </a:moveTo>
                <a:lnTo>
                  <a:pt x="217715" y="0"/>
                </a:lnTo>
                <a:lnTo>
                  <a:pt x="217715" y="1503820"/>
                </a:lnTo>
                <a:lnTo>
                  <a:pt x="0" y="15038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-5400000">
            <a:off x="16837021" y="8399673"/>
            <a:ext cx="1463040" cy="410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8"/>
              </a:lnSpc>
            </a:pPr>
            <a:r>
              <a:rPr lang="en-US" sz="2614" spc="-13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Group 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500926"/>
            <a:ext cx="15153908" cy="81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10"/>
              </a:lnSpc>
            </a:pPr>
            <a:r>
              <a:rPr lang="en-US" b="true" sz="6110">
                <a:solidFill>
                  <a:srgbClr val="F47575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Second Naive Attempt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95375" y="1695450"/>
            <a:ext cx="5200650" cy="353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2160">
                <a:solidFill>
                  <a:srgbClr val="F47575"/>
                </a:solidFill>
                <a:latin typeface="Roboto Mono"/>
                <a:ea typeface="Roboto Mono"/>
                <a:cs typeface="Roboto Mono"/>
                <a:sym typeface="Roboto Mono"/>
              </a:rPr>
              <a:t>Second Naive Attempt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84502" y="2581675"/>
            <a:ext cx="13524139" cy="2290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4"/>
              </a:lnSpc>
            </a:pPr>
            <a:r>
              <a:rPr lang="en-US" sz="3280" b="true">
                <a:solidFill>
                  <a:srgbClr val="F47575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// lets abstract the style of the UI component created</a:t>
            </a:r>
          </a:p>
          <a:p>
            <a:pPr algn="l">
              <a:lnSpc>
                <a:spcPts val="4653"/>
              </a:lnSpc>
            </a:pPr>
            <a:r>
              <a:rPr lang="en-US" b="true" sz="3579">
                <a:solidFill>
                  <a:srgbClr val="F47575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Button button = </a:t>
            </a:r>
            <a:r>
              <a:rPr lang="en-US" b="true" sz="3579">
                <a:solidFill>
                  <a:srgbClr val="5A4A7B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ButtonFactory::create(os);</a:t>
            </a:r>
          </a:p>
          <a:p>
            <a:pPr algn="l">
              <a:lnSpc>
                <a:spcPts val="4653"/>
              </a:lnSpc>
            </a:pPr>
            <a:r>
              <a:rPr lang="en-US" b="true" sz="3579">
                <a:solidFill>
                  <a:srgbClr val="F47575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Checkbox checkbox = </a:t>
            </a:r>
            <a:r>
              <a:rPr lang="en-US" b="true" sz="3579">
                <a:solidFill>
                  <a:srgbClr val="5A4A7B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CheckboxFactory::create(os);</a:t>
            </a:r>
          </a:p>
          <a:p>
            <a:pPr algn="l">
              <a:lnSpc>
                <a:spcPts val="4653"/>
              </a:lnSpc>
            </a:pPr>
            <a:r>
              <a:rPr lang="en-US" b="true" sz="3579">
                <a:solidFill>
                  <a:srgbClr val="5A4A7B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...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819525" y="8252016"/>
            <a:ext cx="6406363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9"/>
              </a:lnSpc>
            </a:pPr>
            <a:r>
              <a:rPr lang="en-US" b="true" sz="2649">
                <a:solidFill>
                  <a:srgbClr val="F47575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Second naive attempt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819525" y="8662861"/>
            <a:ext cx="11202761" cy="1152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6"/>
              </a:lnSpc>
            </a:pPr>
            <a:r>
              <a:rPr lang="en-US" sz="2240">
                <a:solidFill>
                  <a:srgbClr val="5A4A7B"/>
                </a:solidFill>
                <a:latin typeface="Roboto Mono"/>
                <a:ea typeface="Roboto Mono"/>
                <a:cs typeface="Roboto Mono"/>
                <a:sym typeface="Roboto Mono"/>
              </a:rPr>
              <a:t>Creation is moved into factory calls, but the client still chooses the OS and duplicates the pattern for each product type.</a:t>
            </a:r>
          </a:p>
          <a:p>
            <a:pPr algn="l">
              <a:lnSpc>
                <a:spcPts val="3136"/>
              </a:lnSpc>
            </a:pPr>
            <a:r>
              <a:rPr lang="en-US" b="true" sz="2240">
                <a:solidFill>
                  <a:srgbClr val="5A4A7B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=&gt; Cannot fix all problems.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91935" y="-3384213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35778" y="-3384213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91935" y="5143500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35778" y="5143500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622840" y="-52947"/>
            <a:ext cx="2864146" cy="10995720"/>
            <a:chOff x="0" y="0"/>
            <a:chExt cx="754343" cy="28959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4343" cy="2895992"/>
            </a:xfrm>
            <a:custGeom>
              <a:avLst/>
              <a:gdLst/>
              <a:ahLst/>
              <a:cxnLst/>
              <a:rect r="r" b="b" t="t" l="l"/>
              <a:pathLst>
                <a:path h="2895992" w="754343">
                  <a:moveTo>
                    <a:pt x="0" y="0"/>
                  </a:moveTo>
                  <a:lnTo>
                    <a:pt x="754343" y="0"/>
                  </a:lnTo>
                  <a:lnTo>
                    <a:pt x="754343" y="2895992"/>
                  </a:lnTo>
                  <a:lnTo>
                    <a:pt x="0" y="2895992"/>
                  </a:lnTo>
                  <a:close/>
                </a:path>
              </a:pathLst>
            </a:custGeom>
            <a:solidFill>
              <a:srgbClr val="53456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54343" cy="2934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400000">
            <a:off x="17226417" y="1260159"/>
            <a:ext cx="487450" cy="281835"/>
          </a:xfrm>
          <a:custGeom>
            <a:avLst/>
            <a:gdLst/>
            <a:ahLst/>
            <a:cxnLst/>
            <a:rect r="r" b="b" t="t" l="l"/>
            <a:pathLst>
              <a:path h="281835" w="487450">
                <a:moveTo>
                  <a:pt x="0" y="0"/>
                </a:moveTo>
                <a:lnTo>
                  <a:pt x="487451" y="0"/>
                </a:lnTo>
                <a:lnTo>
                  <a:pt x="487451" y="281835"/>
                </a:lnTo>
                <a:lnTo>
                  <a:pt x="0" y="2818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-5400000">
            <a:off x="15544399" y="7302141"/>
            <a:ext cx="381338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117" b="true">
                <a:solidFill>
                  <a:srgbClr val="FCF7F5"/>
                </a:solidFill>
                <a:latin typeface="Pattanakarn Condensed Medium"/>
                <a:ea typeface="Pattanakarn Condensed Medium"/>
                <a:cs typeface="Pattanakarn Condensed Medium"/>
                <a:sym typeface="Pattanakarn Condensed Medium"/>
              </a:rPr>
              <a:t>Group 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66059" y="340681"/>
            <a:ext cx="10251751" cy="105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381"/>
              </a:lnSpc>
            </a:pPr>
            <a:r>
              <a:rPr lang="en-US" b="true" sz="6870" spc="-261">
                <a:solidFill>
                  <a:srgbClr val="DC786D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ABSTRACT FACTORY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8700" y="1723523"/>
            <a:ext cx="4330451" cy="643511"/>
            <a:chOff x="0" y="0"/>
            <a:chExt cx="1140530" cy="1694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40530" cy="169484"/>
            </a:xfrm>
            <a:custGeom>
              <a:avLst/>
              <a:gdLst/>
              <a:ahLst/>
              <a:cxnLst/>
              <a:rect r="r" b="b" t="t" l="l"/>
              <a:pathLst>
                <a:path h="169484" w="1140530">
                  <a:moveTo>
                    <a:pt x="35756" y="0"/>
                  </a:moveTo>
                  <a:lnTo>
                    <a:pt x="1104775" y="0"/>
                  </a:lnTo>
                  <a:cubicBezTo>
                    <a:pt x="1124522" y="0"/>
                    <a:pt x="1140530" y="16008"/>
                    <a:pt x="1140530" y="35756"/>
                  </a:cubicBezTo>
                  <a:lnTo>
                    <a:pt x="1140530" y="133729"/>
                  </a:lnTo>
                  <a:cubicBezTo>
                    <a:pt x="1140530" y="153476"/>
                    <a:pt x="1124522" y="169484"/>
                    <a:pt x="1104775" y="169484"/>
                  </a:cubicBezTo>
                  <a:lnTo>
                    <a:pt x="35756" y="169484"/>
                  </a:lnTo>
                  <a:cubicBezTo>
                    <a:pt x="16008" y="169484"/>
                    <a:pt x="0" y="153476"/>
                    <a:pt x="0" y="133729"/>
                  </a:cubicBezTo>
                  <a:lnTo>
                    <a:pt x="0" y="35756"/>
                  </a:lnTo>
                  <a:cubicBezTo>
                    <a:pt x="0" y="16008"/>
                    <a:pt x="16008" y="0"/>
                    <a:pt x="35756" y="0"/>
                  </a:cubicBezTo>
                  <a:close/>
                </a:path>
              </a:pathLst>
            </a:custGeom>
            <a:solidFill>
              <a:srgbClr val="7867B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140530" cy="2075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37435" y="2636740"/>
            <a:ext cx="3912982" cy="3127430"/>
            <a:chOff x="0" y="0"/>
            <a:chExt cx="1140530" cy="91156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40530" cy="911563"/>
            </a:xfrm>
            <a:custGeom>
              <a:avLst/>
              <a:gdLst/>
              <a:ahLst/>
              <a:cxnLst/>
              <a:rect r="r" b="b" t="t" l="l"/>
              <a:pathLst>
                <a:path h="911563" w="1140530">
                  <a:moveTo>
                    <a:pt x="39570" y="0"/>
                  </a:moveTo>
                  <a:lnTo>
                    <a:pt x="1100960" y="0"/>
                  </a:lnTo>
                  <a:cubicBezTo>
                    <a:pt x="1122814" y="0"/>
                    <a:pt x="1140530" y="17716"/>
                    <a:pt x="1140530" y="39570"/>
                  </a:cubicBezTo>
                  <a:lnTo>
                    <a:pt x="1140530" y="871992"/>
                  </a:lnTo>
                  <a:cubicBezTo>
                    <a:pt x="1140530" y="882487"/>
                    <a:pt x="1136361" y="892552"/>
                    <a:pt x="1128940" y="899973"/>
                  </a:cubicBezTo>
                  <a:cubicBezTo>
                    <a:pt x="1121520" y="907394"/>
                    <a:pt x="1111455" y="911563"/>
                    <a:pt x="1100960" y="911563"/>
                  </a:cubicBezTo>
                  <a:lnTo>
                    <a:pt x="39570" y="911563"/>
                  </a:lnTo>
                  <a:cubicBezTo>
                    <a:pt x="17716" y="911563"/>
                    <a:pt x="0" y="893847"/>
                    <a:pt x="0" y="871992"/>
                  </a:cubicBezTo>
                  <a:lnTo>
                    <a:pt x="0" y="39570"/>
                  </a:lnTo>
                  <a:cubicBezTo>
                    <a:pt x="0" y="17716"/>
                    <a:pt x="17716" y="0"/>
                    <a:pt x="39570" y="0"/>
                  </a:cubicBezTo>
                  <a:close/>
                </a:path>
              </a:pathLst>
            </a:custGeom>
            <a:solidFill>
              <a:srgbClr val="EECAC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140530" cy="949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27441" y="1876496"/>
            <a:ext cx="3532969" cy="32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2"/>
              </a:lnSpc>
            </a:pPr>
            <a:r>
              <a:rPr lang="en-US" b="true" sz="2100" spc="-79">
                <a:solidFill>
                  <a:srgbClr val="FCF7F5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Abstract Product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29687" y="3038054"/>
            <a:ext cx="2928478" cy="174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14"/>
              </a:lnSpc>
              <a:spcBef>
                <a:spcPct val="0"/>
              </a:spcBef>
            </a:pPr>
            <a:r>
              <a:rPr lang="en-US" sz="201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An</a:t>
            </a:r>
            <a:r>
              <a:rPr lang="en-US" sz="201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 interface or abstract class for a distinct type of product within a family. </a:t>
            </a:r>
          </a:p>
          <a:p>
            <a:pPr algn="just">
              <a:lnSpc>
                <a:spcPts val="2814"/>
              </a:lnSpc>
              <a:spcBef>
                <a:spcPct val="0"/>
              </a:spcBef>
            </a:pPr>
            <a:r>
              <a:rPr lang="en-US" sz="201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Ex: </a:t>
            </a:r>
            <a:r>
              <a:rPr lang="en-US" b="true" sz="2010">
                <a:solidFill>
                  <a:srgbClr val="534569"/>
                </a:solidFill>
                <a:latin typeface="Pattanakarn Condensed Bold"/>
                <a:ea typeface="Pattanakarn Condensed Bold"/>
                <a:cs typeface="Pattanakarn Condensed Bold"/>
                <a:sym typeface="Pattanakarn Condensed Bold"/>
              </a:rPr>
              <a:t>Button </a:t>
            </a:r>
            <a:r>
              <a:rPr lang="en-US" sz="201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or </a:t>
            </a:r>
            <a:r>
              <a:rPr lang="en-US" b="true" sz="2010">
                <a:solidFill>
                  <a:srgbClr val="534569"/>
                </a:solidFill>
                <a:latin typeface="Pattanakarn Condensed Bold"/>
                <a:ea typeface="Pattanakarn Condensed Bold"/>
                <a:cs typeface="Pattanakarn Condensed Bold"/>
                <a:sym typeface="Pattanakarn Condensed Bold"/>
              </a:rPr>
              <a:t>Checkbox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116370" y="1723523"/>
            <a:ext cx="4330451" cy="643511"/>
            <a:chOff x="0" y="0"/>
            <a:chExt cx="1140530" cy="1694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40530" cy="169484"/>
            </a:xfrm>
            <a:custGeom>
              <a:avLst/>
              <a:gdLst/>
              <a:ahLst/>
              <a:cxnLst/>
              <a:rect r="r" b="b" t="t" l="l"/>
              <a:pathLst>
                <a:path h="169484" w="1140530">
                  <a:moveTo>
                    <a:pt x="35756" y="0"/>
                  </a:moveTo>
                  <a:lnTo>
                    <a:pt x="1104775" y="0"/>
                  </a:lnTo>
                  <a:cubicBezTo>
                    <a:pt x="1124522" y="0"/>
                    <a:pt x="1140530" y="16008"/>
                    <a:pt x="1140530" y="35756"/>
                  </a:cubicBezTo>
                  <a:lnTo>
                    <a:pt x="1140530" y="133729"/>
                  </a:lnTo>
                  <a:cubicBezTo>
                    <a:pt x="1140530" y="153476"/>
                    <a:pt x="1124522" y="169484"/>
                    <a:pt x="1104775" y="169484"/>
                  </a:cubicBezTo>
                  <a:lnTo>
                    <a:pt x="35756" y="169484"/>
                  </a:lnTo>
                  <a:cubicBezTo>
                    <a:pt x="16008" y="169484"/>
                    <a:pt x="0" y="153476"/>
                    <a:pt x="0" y="133729"/>
                  </a:cubicBezTo>
                  <a:lnTo>
                    <a:pt x="0" y="35756"/>
                  </a:lnTo>
                  <a:cubicBezTo>
                    <a:pt x="0" y="16008"/>
                    <a:pt x="16008" y="0"/>
                    <a:pt x="35756" y="0"/>
                  </a:cubicBezTo>
                  <a:close/>
                </a:path>
              </a:pathLst>
            </a:custGeom>
            <a:solidFill>
              <a:srgbClr val="7867B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140530" cy="2075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325105" y="2636740"/>
            <a:ext cx="3912982" cy="3127430"/>
            <a:chOff x="0" y="0"/>
            <a:chExt cx="1140530" cy="91156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40530" cy="911563"/>
            </a:xfrm>
            <a:custGeom>
              <a:avLst/>
              <a:gdLst/>
              <a:ahLst/>
              <a:cxnLst/>
              <a:rect r="r" b="b" t="t" l="l"/>
              <a:pathLst>
                <a:path h="911563" w="1140530">
                  <a:moveTo>
                    <a:pt x="39570" y="0"/>
                  </a:moveTo>
                  <a:lnTo>
                    <a:pt x="1100960" y="0"/>
                  </a:lnTo>
                  <a:cubicBezTo>
                    <a:pt x="1122814" y="0"/>
                    <a:pt x="1140530" y="17716"/>
                    <a:pt x="1140530" y="39570"/>
                  </a:cubicBezTo>
                  <a:lnTo>
                    <a:pt x="1140530" y="871992"/>
                  </a:lnTo>
                  <a:cubicBezTo>
                    <a:pt x="1140530" y="882487"/>
                    <a:pt x="1136361" y="892552"/>
                    <a:pt x="1128940" y="899973"/>
                  </a:cubicBezTo>
                  <a:cubicBezTo>
                    <a:pt x="1121520" y="907394"/>
                    <a:pt x="1111455" y="911563"/>
                    <a:pt x="1100960" y="911563"/>
                  </a:cubicBezTo>
                  <a:lnTo>
                    <a:pt x="39570" y="911563"/>
                  </a:lnTo>
                  <a:cubicBezTo>
                    <a:pt x="17716" y="911563"/>
                    <a:pt x="0" y="893847"/>
                    <a:pt x="0" y="871992"/>
                  </a:cubicBezTo>
                  <a:lnTo>
                    <a:pt x="0" y="39570"/>
                  </a:lnTo>
                  <a:cubicBezTo>
                    <a:pt x="0" y="17716"/>
                    <a:pt x="17716" y="0"/>
                    <a:pt x="39570" y="0"/>
                  </a:cubicBezTo>
                  <a:close/>
                </a:path>
              </a:pathLst>
            </a:custGeom>
            <a:solidFill>
              <a:srgbClr val="EECACA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140530" cy="949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6515112" y="1876496"/>
            <a:ext cx="3532969" cy="32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2"/>
              </a:lnSpc>
            </a:pPr>
            <a:r>
              <a:rPr lang="en-US" b="true" sz="2100" spc="-79">
                <a:solidFill>
                  <a:srgbClr val="FCF7F5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Concrete Product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855562" y="3038054"/>
            <a:ext cx="3233238" cy="2454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4"/>
              </a:lnSpc>
              <a:spcBef>
                <a:spcPct val="0"/>
              </a:spcBef>
            </a:pPr>
            <a:r>
              <a:rPr lang="en-US" sz="201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Specific</a:t>
            </a:r>
            <a:r>
              <a:rPr lang="en-US" sz="201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 products.</a:t>
            </a:r>
          </a:p>
          <a:p>
            <a:pPr algn="l">
              <a:lnSpc>
                <a:spcPts val="2814"/>
              </a:lnSpc>
              <a:spcBef>
                <a:spcPct val="0"/>
              </a:spcBef>
            </a:pPr>
            <a:r>
              <a:rPr lang="en-US" sz="201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Ex: </a:t>
            </a:r>
            <a:r>
              <a:rPr lang="en-US" sz="2010" b="true">
                <a:solidFill>
                  <a:srgbClr val="534569"/>
                </a:solidFill>
                <a:latin typeface="Pattanakarn Condensed Bold"/>
                <a:ea typeface="Pattanakarn Condensed Bold"/>
                <a:cs typeface="Pattanakarn Condensed Bold"/>
                <a:sym typeface="Pattanakarn Condensed Bold"/>
              </a:rPr>
              <a:t>WinButton </a:t>
            </a:r>
            <a:r>
              <a:rPr lang="en-US" sz="201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and </a:t>
            </a:r>
            <a:r>
              <a:rPr lang="en-US" sz="2010" b="true">
                <a:solidFill>
                  <a:srgbClr val="534569"/>
                </a:solidFill>
                <a:latin typeface="Pattanakarn Condensed Bold"/>
                <a:ea typeface="Pattanakarn Condensed Bold"/>
                <a:cs typeface="Pattanakarn Condensed Bold"/>
                <a:sym typeface="Pattanakarn Condensed Bold"/>
              </a:rPr>
              <a:t>MacButton </a:t>
            </a:r>
            <a:r>
              <a:rPr lang="en-US" sz="201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implement </a:t>
            </a:r>
            <a:r>
              <a:rPr lang="en-US" sz="2010" b="true">
                <a:solidFill>
                  <a:srgbClr val="534569"/>
                </a:solidFill>
                <a:latin typeface="Pattanakarn Condensed Bold"/>
                <a:ea typeface="Pattanakarn Condensed Bold"/>
                <a:cs typeface="Pattanakarn Condensed Bold"/>
                <a:sym typeface="Pattanakarn Condensed Bold"/>
              </a:rPr>
              <a:t>Button</a:t>
            </a:r>
            <a:r>
              <a:rPr lang="en-US" sz="201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. </a:t>
            </a:r>
          </a:p>
          <a:p>
            <a:pPr algn="l">
              <a:lnSpc>
                <a:spcPts val="2814"/>
              </a:lnSpc>
              <a:spcBef>
                <a:spcPct val="0"/>
              </a:spcBef>
            </a:pPr>
            <a:r>
              <a:rPr lang="en-US" sz="201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Ex: </a:t>
            </a:r>
            <a:r>
              <a:rPr lang="en-US" sz="2010" b="true">
                <a:solidFill>
                  <a:srgbClr val="534569"/>
                </a:solidFill>
                <a:latin typeface="Pattanakarn Condensed Bold"/>
                <a:ea typeface="Pattanakarn Condensed Bold"/>
                <a:cs typeface="Pattanakarn Condensed Bold"/>
                <a:sym typeface="Pattanakarn Condensed Bold"/>
              </a:rPr>
              <a:t>WinCheckbox </a:t>
            </a:r>
            <a:r>
              <a:rPr lang="en-US" sz="201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and</a:t>
            </a:r>
          </a:p>
          <a:p>
            <a:pPr algn="l">
              <a:lnSpc>
                <a:spcPts val="2814"/>
              </a:lnSpc>
              <a:spcBef>
                <a:spcPct val="0"/>
              </a:spcBef>
            </a:pPr>
            <a:r>
              <a:rPr lang="en-US" sz="2010" b="true">
                <a:solidFill>
                  <a:srgbClr val="534569"/>
                </a:solidFill>
                <a:latin typeface="Pattanakarn Condensed Bold"/>
                <a:ea typeface="Pattanakarn Condensed Bold"/>
                <a:cs typeface="Pattanakarn Condensed Bold"/>
                <a:sym typeface="Pattanakarn Condensed Bold"/>
              </a:rPr>
              <a:t>MacCheckbox </a:t>
            </a:r>
            <a:r>
              <a:rPr lang="en-US" sz="201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implement </a:t>
            </a:r>
            <a:r>
              <a:rPr lang="en-US" sz="2010" b="true">
                <a:solidFill>
                  <a:srgbClr val="534569"/>
                </a:solidFill>
                <a:latin typeface="Pattanakarn Condensed Bold"/>
                <a:ea typeface="Pattanakarn Condensed Bold"/>
                <a:cs typeface="Pattanakarn Condensed Bold"/>
                <a:sym typeface="Pattanakarn Condensed Bold"/>
              </a:rPr>
              <a:t>Checkbox</a:t>
            </a:r>
            <a:r>
              <a:rPr lang="en-US" sz="201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204041" y="1723523"/>
            <a:ext cx="4330451" cy="643511"/>
            <a:chOff x="0" y="0"/>
            <a:chExt cx="1140530" cy="16948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40530" cy="169484"/>
            </a:xfrm>
            <a:custGeom>
              <a:avLst/>
              <a:gdLst/>
              <a:ahLst/>
              <a:cxnLst/>
              <a:rect r="r" b="b" t="t" l="l"/>
              <a:pathLst>
                <a:path h="169484" w="1140530">
                  <a:moveTo>
                    <a:pt x="35756" y="0"/>
                  </a:moveTo>
                  <a:lnTo>
                    <a:pt x="1104775" y="0"/>
                  </a:lnTo>
                  <a:cubicBezTo>
                    <a:pt x="1124522" y="0"/>
                    <a:pt x="1140530" y="16008"/>
                    <a:pt x="1140530" y="35756"/>
                  </a:cubicBezTo>
                  <a:lnTo>
                    <a:pt x="1140530" y="133729"/>
                  </a:lnTo>
                  <a:cubicBezTo>
                    <a:pt x="1140530" y="153476"/>
                    <a:pt x="1124522" y="169484"/>
                    <a:pt x="1104775" y="169484"/>
                  </a:cubicBezTo>
                  <a:lnTo>
                    <a:pt x="35756" y="169484"/>
                  </a:lnTo>
                  <a:cubicBezTo>
                    <a:pt x="16008" y="169484"/>
                    <a:pt x="0" y="153476"/>
                    <a:pt x="0" y="133729"/>
                  </a:cubicBezTo>
                  <a:lnTo>
                    <a:pt x="0" y="35756"/>
                  </a:lnTo>
                  <a:cubicBezTo>
                    <a:pt x="0" y="16008"/>
                    <a:pt x="16008" y="0"/>
                    <a:pt x="35756" y="0"/>
                  </a:cubicBezTo>
                  <a:close/>
                </a:path>
              </a:pathLst>
            </a:custGeom>
            <a:solidFill>
              <a:srgbClr val="7867B4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140530" cy="2075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412776" y="2636740"/>
            <a:ext cx="3912982" cy="3127430"/>
            <a:chOff x="0" y="0"/>
            <a:chExt cx="1140530" cy="91156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40530" cy="911563"/>
            </a:xfrm>
            <a:custGeom>
              <a:avLst/>
              <a:gdLst/>
              <a:ahLst/>
              <a:cxnLst/>
              <a:rect r="r" b="b" t="t" l="l"/>
              <a:pathLst>
                <a:path h="911563" w="1140530">
                  <a:moveTo>
                    <a:pt x="39570" y="0"/>
                  </a:moveTo>
                  <a:lnTo>
                    <a:pt x="1100960" y="0"/>
                  </a:lnTo>
                  <a:cubicBezTo>
                    <a:pt x="1122814" y="0"/>
                    <a:pt x="1140530" y="17716"/>
                    <a:pt x="1140530" y="39570"/>
                  </a:cubicBezTo>
                  <a:lnTo>
                    <a:pt x="1140530" y="871992"/>
                  </a:lnTo>
                  <a:cubicBezTo>
                    <a:pt x="1140530" y="882487"/>
                    <a:pt x="1136361" y="892552"/>
                    <a:pt x="1128940" y="899973"/>
                  </a:cubicBezTo>
                  <a:cubicBezTo>
                    <a:pt x="1121520" y="907394"/>
                    <a:pt x="1111455" y="911563"/>
                    <a:pt x="1100960" y="911563"/>
                  </a:cubicBezTo>
                  <a:lnTo>
                    <a:pt x="39570" y="911563"/>
                  </a:lnTo>
                  <a:cubicBezTo>
                    <a:pt x="17716" y="911563"/>
                    <a:pt x="0" y="893847"/>
                    <a:pt x="0" y="871992"/>
                  </a:cubicBezTo>
                  <a:lnTo>
                    <a:pt x="0" y="39570"/>
                  </a:lnTo>
                  <a:cubicBezTo>
                    <a:pt x="0" y="17716"/>
                    <a:pt x="17716" y="0"/>
                    <a:pt x="39570" y="0"/>
                  </a:cubicBezTo>
                  <a:close/>
                </a:path>
              </a:pathLst>
            </a:custGeom>
            <a:solidFill>
              <a:srgbClr val="EECACA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140530" cy="949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1602782" y="1876496"/>
            <a:ext cx="3532969" cy="32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2"/>
              </a:lnSpc>
            </a:pPr>
            <a:r>
              <a:rPr lang="en-US" b="true" sz="2100" spc="-79">
                <a:solidFill>
                  <a:srgbClr val="FCF7F5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Abstract Factory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905027" y="3038054"/>
            <a:ext cx="2928478" cy="198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74"/>
              </a:lnSpc>
              <a:spcBef>
                <a:spcPct val="0"/>
              </a:spcBef>
            </a:pPr>
            <a:r>
              <a:rPr lang="en-US" sz="191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An</a:t>
            </a:r>
            <a:r>
              <a:rPr lang="en-US" sz="191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 interface declaring a set of creation methods for each abstract product</a:t>
            </a:r>
          </a:p>
          <a:p>
            <a:pPr algn="just">
              <a:lnSpc>
                <a:spcPts val="2674"/>
              </a:lnSpc>
              <a:spcBef>
                <a:spcPct val="0"/>
              </a:spcBef>
            </a:pPr>
            <a:r>
              <a:rPr lang="en-US" sz="191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type </a:t>
            </a:r>
          </a:p>
          <a:p>
            <a:pPr algn="l">
              <a:lnSpc>
                <a:spcPts val="2674"/>
              </a:lnSpc>
              <a:spcBef>
                <a:spcPct val="0"/>
              </a:spcBef>
            </a:pPr>
            <a:r>
              <a:rPr lang="en-US" sz="191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Ex: </a:t>
            </a:r>
            <a:r>
              <a:rPr lang="en-US" sz="1910" b="true">
                <a:solidFill>
                  <a:srgbClr val="534569"/>
                </a:solidFill>
                <a:latin typeface="Pattanakarn Condensed Bold"/>
                <a:ea typeface="Pattanakarn Condensed Bold"/>
                <a:cs typeface="Pattanakarn Condensed Bold"/>
                <a:sym typeface="Pattanakarn Condensed Bold"/>
              </a:rPr>
              <a:t>createButton</a:t>
            </a:r>
            <a:r>
              <a:rPr lang="en-US" sz="191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() and </a:t>
            </a:r>
            <a:r>
              <a:rPr lang="en-US" sz="1910" b="true">
                <a:solidFill>
                  <a:srgbClr val="534569"/>
                </a:solidFill>
                <a:latin typeface="Pattanakarn Condensed Bold"/>
                <a:ea typeface="Pattanakarn Condensed Bold"/>
                <a:cs typeface="Pattanakarn Condensed Bold"/>
                <a:sym typeface="Pattanakarn Condensed Bold"/>
              </a:rPr>
              <a:t>createCheckbox</a:t>
            </a:r>
            <a:r>
              <a:rPr lang="en-US" sz="191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()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3601172" y="6030870"/>
            <a:ext cx="4330451" cy="643511"/>
            <a:chOff x="0" y="0"/>
            <a:chExt cx="1140530" cy="16948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40530" cy="169484"/>
            </a:xfrm>
            <a:custGeom>
              <a:avLst/>
              <a:gdLst/>
              <a:ahLst/>
              <a:cxnLst/>
              <a:rect r="r" b="b" t="t" l="l"/>
              <a:pathLst>
                <a:path h="169484" w="1140530">
                  <a:moveTo>
                    <a:pt x="35756" y="0"/>
                  </a:moveTo>
                  <a:lnTo>
                    <a:pt x="1104775" y="0"/>
                  </a:lnTo>
                  <a:cubicBezTo>
                    <a:pt x="1124522" y="0"/>
                    <a:pt x="1140530" y="16008"/>
                    <a:pt x="1140530" y="35756"/>
                  </a:cubicBezTo>
                  <a:lnTo>
                    <a:pt x="1140530" y="133729"/>
                  </a:lnTo>
                  <a:cubicBezTo>
                    <a:pt x="1140530" y="153476"/>
                    <a:pt x="1124522" y="169484"/>
                    <a:pt x="1104775" y="169484"/>
                  </a:cubicBezTo>
                  <a:lnTo>
                    <a:pt x="35756" y="169484"/>
                  </a:lnTo>
                  <a:cubicBezTo>
                    <a:pt x="16008" y="169484"/>
                    <a:pt x="0" y="153476"/>
                    <a:pt x="0" y="133729"/>
                  </a:cubicBezTo>
                  <a:lnTo>
                    <a:pt x="0" y="35756"/>
                  </a:lnTo>
                  <a:cubicBezTo>
                    <a:pt x="0" y="16008"/>
                    <a:pt x="16008" y="0"/>
                    <a:pt x="35756" y="0"/>
                  </a:cubicBezTo>
                  <a:close/>
                </a:path>
              </a:pathLst>
            </a:custGeom>
            <a:solidFill>
              <a:srgbClr val="7867B4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140530" cy="2075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3809907" y="6944087"/>
            <a:ext cx="3912982" cy="2986438"/>
            <a:chOff x="0" y="0"/>
            <a:chExt cx="1140530" cy="87046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40530" cy="870468"/>
            </a:xfrm>
            <a:custGeom>
              <a:avLst/>
              <a:gdLst/>
              <a:ahLst/>
              <a:cxnLst/>
              <a:rect r="r" b="b" t="t" l="l"/>
              <a:pathLst>
                <a:path h="870468" w="1140530">
                  <a:moveTo>
                    <a:pt x="39570" y="0"/>
                  </a:moveTo>
                  <a:lnTo>
                    <a:pt x="1100960" y="0"/>
                  </a:lnTo>
                  <a:cubicBezTo>
                    <a:pt x="1122814" y="0"/>
                    <a:pt x="1140530" y="17716"/>
                    <a:pt x="1140530" y="39570"/>
                  </a:cubicBezTo>
                  <a:lnTo>
                    <a:pt x="1140530" y="830897"/>
                  </a:lnTo>
                  <a:cubicBezTo>
                    <a:pt x="1140530" y="841392"/>
                    <a:pt x="1136361" y="851457"/>
                    <a:pt x="1128940" y="858878"/>
                  </a:cubicBezTo>
                  <a:cubicBezTo>
                    <a:pt x="1121520" y="866298"/>
                    <a:pt x="1111455" y="870468"/>
                    <a:pt x="1100960" y="870468"/>
                  </a:cubicBezTo>
                  <a:lnTo>
                    <a:pt x="39570" y="870468"/>
                  </a:lnTo>
                  <a:cubicBezTo>
                    <a:pt x="17716" y="870468"/>
                    <a:pt x="0" y="852751"/>
                    <a:pt x="0" y="830897"/>
                  </a:cubicBezTo>
                  <a:lnTo>
                    <a:pt x="0" y="39570"/>
                  </a:lnTo>
                  <a:cubicBezTo>
                    <a:pt x="0" y="17716"/>
                    <a:pt x="17716" y="0"/>
                    <a:pt x="39570" y="0"/>
                  </a:cubicBezTo>
                  <a:close/>
                </a:path>
              </a:pathLst>
            </a:custGeom>
            <a:solidFill>
              <a:srgbClr val="EECACA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140530" cy="908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3999913" y="6183842"/>
            <a:ext cx="3532969" cy="32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2"/>
              </a:lnSpc>
            </a:pPr>
            <a:r>
              <a:rPr lang="en-US" b="true" sz="2100" spc="-79">
                <a:solidFill>
                  <a:srgbClr val="FCF7F5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Concrete Factory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302159" y="7345400"/>
            <a:ext cx="2928478" cy="232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4"/>
              </a:lnSpc>
              <a:spcBef>
                <a:spcPct val="0"/>
              </a:spcBef>
            </a:pPr>
            <a:r>
              <a:rPr lang="en-US" sz="191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Specific classes that</a:t>
            </a:r>
            <a:r>
              <a:rPr lang="en-US" sz="191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 implement the Abstract Factory to produce a concrete variant. </a:t>
            </a:r>
          </a:p>
          <a:p>
            <a:pPr algn="l">
              <a:lnSpc>
                <a:spcPts val="2674"/>
              </a:lnSpc>
              <a:spcBef>
                <a:spcPct val="0"/>
              </a:spcBef>
            </a:pPr>
            <a:r>
              <a:rPr lang="en-US" sz="191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Ex: </a:t>
            </a:r>
            <a:r>
              <a:rPr lang="en-US" sz="1910" b="true">
                <a:solidFill>
                  <a:srgbClr val="534569"/>
                </a:solidFill>
                <a:latin typeface="Pattanakarn Condensed Bold"/>
                <a:ea typeface="Pattanakarn Condensed Bold"/>
                <a:cs typeface="Pattanakarn Condensed Bold"/>
                <a:sym typeface="Pattanakarn Condensed Bold"/>
              </a:rPr>
              <a:t>WinFactory </a:t>
            </a:r>
            <a:r>
              <a:rPr lang="en-US" sz="191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creates </a:t>
            </a:r>
            <a:r>
              <a:rPr lang="en-US" sz="1910" b="true">
                <a:solidFill>
                  <a:srgbClr val="534569"/>
                </a:solidFill>
                <a:latin typeface="Pattanakarn Condensed Bold"/>
                <a:ea typeface="Pattanakarn Condensed Bold"/>
                <a:cs typeface="Pattanakarn Condensed Bold"/>
                <a:sym typeface="Pattanakarn Condensed Bold"/>
              </a:rPr>
              <a:t>WinButton </a:t>
            </a:r>
            <a:r>
              <a:rPr lang="en-US" sz="191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and </a:t>
            </a:r>
            <a:r>
              <a:rPr lang="en-US" sz="1910" b="true">
                <a:solidFill>
                  <a:srgbClr val="534569"/>
                </a:solidFill>
                <a:latin typeface="Pattanakarn Condensed Bold"/>
                <a:ea typeface="Pattanakarn Condensed Bold"/>
                <a:cs typeface="Pattanakarn Condensed Bold"/>
                <a:sym typeface="Pattanakarn Condensed Bold"/>
              </a:rPr>
              <a:t>WinCheckbox 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012739" y="6044876"/>
            <a:ext cx="4330451" cy="643511"/>
            <a:chOff x="0" y="0"/>
            <a:chExt cx="1140530" cy="16948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40530" cy="169484"/>
            </a:xfrm>
            <a:custGeom>
              <a:avLst/>
              <a:gdLst/>
              <a:ahLst/>
              <a:cxnLst/>
              <a:rect r="r" b="b" t="t" l="l"/>
              <a:pathLst>
                <a:path h="169484" w="1140530">
                  <a:moveTo>
                    <a:pt x="35756" y="0"/>
                  </a:moveTo>
                  <a:lnTo>
                    <a:pt x="1104775" y="0"/>
                  </a:lnTo>
                  <a:cubicBezTo>
                    <a:pt x="1124522" y="0"/>
                    <a:pt x="1140530" y="16008"/>
                    <a:pt x="1140530" y="35756"/>
                  </a:cubicBezTo>
                  <a:lnTo>
                    <a:pt x="1140530" y="133729"/>
                  </a:lnTo>
                  <a:cubicBezTo>
                    <a:pt x="1140530" y="153476"/>
                    <a:pt x="1124522" y="169484"/>
                    <a:pt x="1104775" y="169484"/>
                  </a:cubicBezTo>
                  <a:lnTo>
                    <a:pt x="35756" y="169484"/>
                  </a:lnTo>
                  <a:cubicBezTo>
                    <a:pt x="16008" y="169484"/>
                    <a:pt x="0" y="153476"/>
                    <a:pt x="0" y="133729"/>
                  </a:cubicBezTo>
                  <a:lnTo>
                    <a:pt x="0" y="35756"/>
                  </a:lnTo>
                  <a:cubicBezTo>
                    <a:pt x="0" y="16008"/>
                    <a:pt x="16008" y="0"/>
                    <a:pt x="35756" y="0"/>
                  </a:cubicBezTo>
                  <a:close/>
                </a:path>
              </a:pathLst>
            </a:custGeom>
            <a:solidFill>
              <a:srgbClr val="7867B4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140530" cy="2075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221474" y="6958093"/>
            <a:ext cx="3912982" cy="2972432"/>
            <a:chOff x="0" y="0"/>
            <a:chExt cx="1140530" cy="86638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40530" cy="866385"/>
            </a:xfrm>
            <a:custGeom>
              <a:avLst/>
              <a:gdLst/>
              <a:ahLst/>
              <a:cxnLst/>
              <a:rect r="r" b="b" t="t" l="l"/>
              <a:pathLst>
                <a:path h="866385" w="1140530">
                  <a:moveTo>
                    <a:pt x="39570" y="0"/>
                  </a:moveTo>
                  <a:lnTo>
                    <a:pt x="1100960" y="0"/>
                  </a:lnTo>
                  <a:cubicBezTo>
                    <a:pt x="1122814" y="0"/>
                    <a:pt x="1140530" y="17716"/>
                    <a:pt x="1140530" y="39570"/>
                  </a:cubicBezTo>
                  <a:lnTo>
                    <a:pt x="1140530" y="826815"/>
                  </a:lnTo>
                  <a:cubicBezTo>
                    <a:pt x="1140530" y="837309"/>
                    <a:pt x="1136361" y="847374"/>
                    <a:pt x="1128940" y="854795"/>
                  </a:cubicBezTo>
                  <a:cubicBezTo>
                    <a:pt x="1121520" y="862216"/>
                    <a:pt x="1111455" y="866385"/>
                    <a:pt x="1100960" y="866385"/>
                  </a:cubicBezTo>
                  <a:lnTo>
                    <a:pt x="39570" y="866385"/>
                  </a:lnTo>
                  <a:cubicBezTo>
                    <a:pt x="17716" y="866385"/>
                    <a:pt x="0" y="848669"/>
                    <a:pt x="0" y="826815"/>
                  </a:cubicBezTo>
                  <a:lnTo>
                    <a:pt x="0" y="39570"/>
                  </a:lnTo>
                  <a:cubicBezTo>
                    <a:pt x="0" y="17716"/>
                    <a:pt x="17716" y="0"/>
                    <a:pt x="39570" y="0"/>
                  </a:cubicBezTo>
                  <a:close/>
                </a:path>
              </a:pathLst>
            </a:custGeom>
            <a:solidFill>
              <a:srgbClr val="EECACA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140530" cy="904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9411480" y="6197849"/>
            <a:ext cx="3532969" cy="32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2"/>
              </a:lnSpc>
            </a:pPr>
            <a:r>
              <a:rPr lang="en-US" b="true" sz="2100" spc="-79">
                <a:solidFill>
                  <a:srgbClr val="FCF7F5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Client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713726" y="7359407"/>
            <a:ext cx="2928478" cy="165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4"/>
              </a:lnSpc>
              <a:spcBef>
                <a:spcPct val="0"/>
              </a:spcBef>
            </a:pPr>
            <a:r>
              <a:rPr lang="en-US" sz="191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The application</a:t>
            </a:r>
            <a:r>
              <a:rPr lang="en-US" sz="191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 code that uses only the interfaces declared by </a:t>
            </a:r>
            <a:r>
              <a:rPr lang="en-US" sz="1910" b="true">
                <a:solidFill>
                  <a:srgbClr val="534569"/>
                </a:solidFill>
                <a:latin typeface="Pattanakarn Condensed Bold"/>
                <a:ea typeface="Pattanakarn Condensed Bold"/>
                <a:cs typeface="Pattanakarn Condensed Bold"/>
                <a:sym typeface="Pattanakarn Condensed Bold"/>
              </a:rPr>
              <a:t>AbstractFactory </a:t>
            </a:r>
            <a:r>
              <a:rPr lang="en-US" sz="191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and</a:t>
            </a:r>
          </a:p>
          <a:p>
            <a:pPr algn="l">
              <a:lnSpc>
                <a:spcPts val="2674"/>
              </a:lnSpc>
              <a:spcBef>
                <a:spcPct val="0"/>
              </a:spcBef>
            </a:pPr>
            <a:r>
              <a:rPr lang="en-US" sz="1910" b="true">
                <a:solidFill>
                  <a:srgbClr val="534569"/>
                </a:solidFill>
                <a:latin typeface="Pattanakarn Condensed Bold"/>
                <a:ea typeface="Pattanakarn Condensed Bold"/>
                <a:cs typeface="Pattanakarn Condensed Bold"/>
                <a:sym typeface="Pattanakarn Condensed Bold"/>
              </a:rPr>
              <a:t>AbstractProduct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91935" y="-3384213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35778" y="-3384213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91935" y="5143500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35778" y="5143500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622840" y="-52947"/>
            <a:ext cx="2864146" cy="10995720"/>
            <a:chOff x="0" y="0"/>
            <a:chExt cx="754343" cy="28959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4343" cy="2895992"/>
            </a:xfrm>
            <a:custGeom>
              <a:avLst/>
              <a:gdLst/>
              <a:ahLst/>
              <a:cxnLst/>
              <a:rect r="r" b="b" t="t" l="l"/>
              <a:pathLst>
                <a:path h="2895992" w="754343">
                  <a:moveTo>
                    <a:pt x="0" y="0"/>
                  </a:moveTo>
                  <a:lnTo>
                    <a:pt x="754343" y="0"/>
                  </a:lnTo>
                  <a:lnTo>
                    <a:pt x="754343" y="2895992"/>
                  </a:lnTo>
                  <a:lnTo>
                    <a:pt x="0" y="2895992"/>
                  </a:lnTo>
                  <a:close/>
                </a:path>
              </a:pathLst>
            </a:custGeom>
            <a:solidFill>
              <a:srgbClr val="53456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54343" cy="2934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400000">
            <a:off x="17226417" y="1260159"/>
            <a:ext cx="487450" cy="281835"/>
          </a:xfrm>
          <a:custGeom>
            <a:avLst/>
            <a:gdLst/>
            <a:ahLst/>
            <a:cxnLst/>
            <a:rect r="r" b="b" t="t" l="l"/>
            <a:pathLst>
              <a:path h="281835" w="487450">
                <a:moveTo>
                  <a:pt x="0" y="0"/>
                </a:moveTo>
                <a:lnTo>
                  <a:pt x="487451" y="0"/>
                </a:lnTo>
                <a:lnTo>
                  <a:pt x="487451" y="281835"/>
                </a:lnTo>
                <a:lnTo>
                  <a:pt x="0" y="2818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644100" y="371079"/>
            <a:ext cx="11295671" cy="9544842"/>
          </a:xfrm>
          <a:custGeom>
            <a:avLst/>
            <a:gdLst/>
            <a:ahLst/>
            <a:cxnLst/>
            <a:rect r="r" b="b" t="t" l="l"/>
            <a:pathLst>
              <a:path h="9544842" w="11295671">
                <a:moveTo>
                  <a:pt x="0" y="0"/>
                </a:moveTo>
                <a:lnTo>
                  <a:pt x="11295670" y="0"/>
                </a:lnTo>
                <a:lnTo>
                  <a:pt x="11295670" y="9544842"/>
                </a:lnTo>
                <a:lnTo>
                  <a:pt x="0" y="95448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-5400000">
            <a:off x="15544399" y="7302141"/>
            <a:ext cx="381338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117" b="true">
                <a:solidFill>
                  <a:srgbClr val="FCF7F5"/>
                </a:solidFill>
                <a:latin typeface="Pattanakarn Condensed Medium"/>
                <a:ea typeface="Pattanakarn Condensed Medium"/>
                <a:cs typeface="Pattanakarn Condensed Medium"/>
                <a:sym typeface="Pattanakarn Condensed Medium"/>
              </a:rPr>
              <a:t>Group 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00444" y="3760089"/>
            <a:ext cx="8982982" cy="1021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52"/>
              </a:lnSpc>
            </a:pPr>
            <a:r>
              <a:rPr lang="en-US" sz="6600" spc="-250">
                <a:solidFill>
                  <a:srgbClr val="DC786D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iMPLEmentation</a:t>
            </a: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91935" y="-3384213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35778" y="-3408451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2"/>
                </a:lnTo>
                <a:lnTo>
                  <a:pt x="0" y="85277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91935" y="5143500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35778" y="5143500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622840" y="-52947"/>
            <a:ext cx="2864146" cy="10995720"/>
            <a:chOff x="0" y="0"/>
            <a:chExt cx="754343" cy="28959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4343" cy="2895992"/>
            </a:xfrm>
            <a:custGeom>
              <a:avLst/>
              <a:gdLst/>
              <a:ahLst/>
              <a:cxnLst/>
              <a:rect r="r" b="b" t="t" l="l"/>
              <a:pathLst>
                <a:path h="2895992" w="754343">
                  <a:moveTo>
                    <a:pt x="0" y="0"/>
                  </a:moveTo>
                  <a:lnTo>
                    <a:pt x="754343" y="0"/>
                  </a:lnTo>
                  <a:lnTo>
                    <a:pt x="754343" y="2895992"/>
                  </a:lnTo>
                  <a:lnTo>
                    <a:pt x="0" y="2895992"/>
                  </a:lnTo>
                  <a:close/>
                </a:path>
              </a:pathLst>
            </a:custGeom>
            <a:solidFill>
              <a:srgbClr val="53456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54343" cy="2934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400000">
            <a:off x="17226417" y="1260159"/>
            <a:ext cx="487450" cy="281835"/>
          </a:xfrm>
          <a:custGeom>
            <a:avLst/>
            <a:gdLst/>
            <a:ahLst/>
            <a:cxnLst/>
            <a:rect r="r" b="b" t="t" l="l"/>
            <a:pathLst>
              <a:path h="281835" w="487450">
                <a:moveTo>
                  <a:pt x="0" y="0"/>
                </a:moveTo>
                <a:lnTo>
                  <a:pt x="487451" y="0"/>
                </a:lnTo>
                <a:lnTo>
                  <a:pt x="487451" y="281835"/>
                </a:lnTo>
                <a:lnTo>
                  <a:pt x="0" y="2818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55462" y="158589"/>
            <a:ext cx="13472733" cy="9969823"/>
          </a:xfrm>
          <a:custGeom>
            <a:avLst/>
            <a:gdLst/>
            <a:ahLst/>
            <a:cxnLst/>
            <a:rect r="r" b="b" t="t" l="l"/>
            <a:pathLst>
              <a:path h="9969823" w="13472733">
                <a:moveTo>
                  <a:pt x="0" y="0"/>
                </a:moveTo>
                <a:lnTo>
                  <a:pt x="13472733" y="0"/>
                </a:lnTo>
                <a:lnTo>
                  <a:pt x="13472733" y="9969822"/>
                </a:lnTo>
                <a:lnTo>
                  <a:pt x="0" y="99698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785141" y="855405"/>
            <a:ext cx="11213376" cy="7008360"/>
          </a:xfrm>
          <a:custGeom>
            <a:avLst/>
            <a:gdLst/>
            <a:ahLst/>
            <a:cxnLst/>
            <a:rect r="r" b="b" t="t" l="l"/>
            <a:pathLst>
              <a:path h="7008360" w="11213376">
                <a:moveTo>
                  <a:pt x="0" y="0"/>
                </a:moveTo>
                <a:lnTo>
                  <a:pt x="11213375" y="0"/>
                </a:lnTo>
                <a:lnTo>
                  <a:pt x="11213375" y="7008360"/>
                </a:lnTo>
                <a:lnTo>
                  <a:pt x="0" y="70083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-5400000">
            <a:off x="15544399" y="7302141"/>
            <a:ext cx="381338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117" b="true">
                <a:solidFill>
                  <a:srgbClr val="FCF7F5"/>
                </a:solidFill>
                <a:latin typeface="Pattanakarn Condensed Medium"/>
                <a:ea typeface="Pattanakarn Condensed Medium"/>
                <a:cs typeface="Pattanakarn Condensed Medium"/>
                <a:sym typeface="Pattanakarn Condensed Medium"/>
              </a:rPr>
              <a:t>Group 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289264" y="284829"/>
            <a:ext cx="4205129" cy="39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499" b="true">
                <a:solidFill>
                  <a:srgbClr val="243762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General Class Diagram</a:t>
            </a: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91935" y="-3384213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35778" y="-3408451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2"/>
                </a:lnTo>
                <a:lnTo>
                  <a:pt x="0" y="85277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91935" y="5143500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35778" y="5143500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622840" y="-52947"/>
            <a:ext cx="2864146" cy="10995720"/>
            <a:chOff x="0" y="0"/>
            <a:chExt cx="754343" cy="28959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4343" cy="2895992"/>
            </a:xfrm>
            <a:custGeom>
              <a:avLst/>
              <a:gdLst/>
              <a:ahLst/>
              <a:cxnLst/>
              <a:rect r="r" b="b" t="t" l="l"/>
              <a:pathLst>
                <a:path h="2895992" w="754343">
                  <a:moveTo>
                    <a:pt x="0" y="0"/>
                  </a:moveTo>
                  <a:lnTo>
                    <a:pt x="754343" y="0"/>
                  </a:lnTo>
                  <a:lnTo>
                    <a:pt x="754343" y="2895992"/>
                  </a:lnTo>
                  <a:lnTo>
                    <a:pt x="0" y="2895992"/>
                  </a:lnTo>
                  <a:close/>
                </a:path>
              </a:pathLst>
            </a:custGeom>
            <a:solidFill>
              <a:srgbClr val="53456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54343" cy="2934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400000">
            <a:off x="17226417" y="1260159"/>
            <a:ext cx="487450" cy="281835"/>
          </a:xfrm>
          <a:custGeom>
            <a:avLst/>
            <a:gdLst/>
            <a:ahLst/>
            <a:cxnLst/>
            <a:rect r="r" b="b" t="t" l="l"/>
            <a:pathLst>
              <a:path h="281835" w="487450">
                <a:moveTo>
                  <a:pt x="0" y="0"/>
                </a:moveTo>
                <a:lnTo>
                  <a:pt x="487451" y="0"/>
                </a:lnTo>
                <a:lnTo>
                  <a:pt x="487451" y="281835"/>
                </a:lnTo>
                <a:lnTo>
                  <a:pt x="0" y="2818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55462" y="158589"/>
            <a:ext cx="13472733" cy="9969823"/>
          </a:xfrm>
          <a:custGeom>
            <a:avLst/>
            <a:gdLst/>
            <a:ahLst/>
            <a:cxnLst/>
            <a:rect r="r" b="b" t="t" l="l"/>
            <a:pathLst>
              <a:path h="9969823" w="13472733">
                <a:moveTo>
                  <a:pt x="0" y="0"/>
                </a:moveTo>
                <a:lnTo>
                  <a:pt x="13472733" y="0"/>
                </a:lnTo>
                <a:lnTo>
                  <a:pt x="13472733" y="9969822"/>
                </a:lnTo>
                <a:lnTo>
                  <a:pt x="0" y="99698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338316" y="879644"/>
            <a:ext cx="10107024" cy="7127667"/>
          </a:xfrm>
          <a:custGeom>
            <a:avLst/>
            <a:gdLst/>
            <a:ahLst/>
            <a:cxnLst/>
            <a:rect r="r" b="b" t="t" l="l"/>
            <a:pathLst>
              <a:path h="7127667" w="10107024">
                <a:moveTo>
                  <a:pt x="0" y="0"/>
                </a:moveTo>
                <a:lnTo>
                  <a:pt x="10107025" y="0"/>
                </a:lnTo>
                <a:lnTo>
                  <a:pt x="10107025" y="7127667"/>
                </a:lnTo>
                <a:lnTo>
                  <a:pt x="0" y="71276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48" t="0" r="-148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-5400000">
            <a:off x="15544399" y="7302141"/>
            <a:ext cx="381338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117" b="true">
                <a:solidFill>
                  <a:srgbClr val="FCF7F5"/>
                </a:solidFill>
                <a:latin typeface="Pattanakarn Condensed Medium"/>
                <a:ea typeface="Pattanakarn Condensed Medium"/>
                <a:cs typeface="Pattanakarn Condensed Medium"/>
                <a:sym typeface="Pattanakarn Condensed Medium"/>
              </a:rPr>
              <a:t>Group 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289264" y="284829"/>
            <a:ext cx="4205129" cy="39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499" b="true">
                <a:solidFill>
                  <a:srgbClr val="243762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Solution Class Diagram</a:t>
            </a: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91935" y="-3384213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35778" y="-3408451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2"/>
                </a:lnTo>
                <a:lnTo>
                  <a:pt x="0" y="85277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91935" y="5143500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35778" y="5143500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622840" y="-52947"/>
            <a:ext cx="2864146" cy="10995720"/>
            <a:chOff x="0" y="0"/>
            <a:chExt cx="754343" cy="28959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4343" cy="2895992"/>
            </a:xfrm>
            <a:custGeom>
              <a:avLst/>
              <a:gdLst/>
              <a:ahLst/>
              <a:cxnLst/>
              <a:rect r="r" b="b" t="t" l="l"/>
              <a:pathLst>
                <a:path h="2895992" w="754343">
                  <a:moveTo>
                    <a:pt x="0" y="0"/>
                  </a:moveTo>
                  <a:lnTo>
                    <a:pt x="754343" y="0"/>
                  </a:lnTo>
                  <a:lnTo>
                    <a:pt x="754343" y="2895992"/>
                  </a:lnTo>
                  <a:lnTo>
                    <a:pt x="0" y="2895992"/>
                  </a:lnTo>
                  <a:close/>
                </a:path>
              </a:pathLst>
            </a:custGeom>
            <a:solidFill>
              <a:srgbClr val="53456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54343" cy="2934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400000">
            <a:off x="17226417" y="1260159"/>
            <a:ext cx="487450" cy="281835"/>
          </a:xfrm>
          <a:custGeom>
            <a:avLst/>
            <a:gdLst/>
            <a:ahLst/>
            <a:cxnLst/>
            <a:rect r="r" b="b" t="t" l="l"/>
            <a:pathLst>
              <a:path h="281835" w="487450">
                <a:moveTo>
                  <a:pt x="0" y="0"/>
                </a:moveTo>
                <a:lnTo>
                  <a:pt x="487451" y="0"/>
                </a:lnTo>
                <a:lnTo>
                  <a:pt x="487451" y="281835"/>
                </a:lnTo>
                <a:lnTo>
                  <a:pt x="0" y="2818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210024" y="1759102"/>
            <a:ext cx="8163823" cy="8163823"/>
          </a:xfrm>
          <a:custGeom>
            <a:avLst/>
            <a:gdLst/>
            <a:ahLst/>
            <a:cxnLst/>
            <a:rect r="r" b="b" t="t" l="l"/>
            <a:pathLst>
              <a:path h="8163823" w="8163823">
                <a:moveTo>
                  <a:pt x="0" y="0"/>
                </a:moveTo>
                <a:lnTo>
                  <a:pt x="8163822" y="0"/>
                </a:lnTo>
                <a:lnTo>
                  <a:pt x="8163822" y="8163823"/>
                </a:lnTo>
                <a:lnTo>
                  <a:pt x="0" y="81638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-5400000">
            <a:off x="15544399" y="7302141"/>
            <a:ext cx="381338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117" b="true">
                <a:solidFill>
                  <a:srgbClr val="FCF7F5"/>
                </a:solidFill>
                <a:latin typeface="Pattanakarn Condensed Medium"/>
                <a:ea typeface="Pattanakarn Condensed Medium"/>
                <a:cs typeface="Pattanakarn Condensed Medium"/>
                <a:sym typeface="Pattanakarn Condensed Medium"/>
              </a:rPr>
              <a:t>Group 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928377" y="336550"/>
            <a:ext cx="6727116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8000" b="true">
                <a:solidFill>
                  <a:srgbClr val="243762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SAMPLE CODE</a:t>
            </a:r>
          </a:p>
        </p:txBody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32654" y="-3082800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4941" y="-3082800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32654" y="5444913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04941" y="5444913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216662" y="-181598"/>
            <a:ext cx="2864146" cy="10995720"/>
            <a:chOff x="0" y="0"/>
            <a:chExt cx="754343" cy="28959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4343" cy="2895992"/>
            </a:xfrm>
            <a:custGeom>
              <a:avLst/>
              <a:gdLst/>
              <a:ahLst/>
              <a:cxnLst/>
              <a:rect r="r" b="b" t="t" l="l"/>
              <a:pathLst>
                <a:path h="2895992" w="754343">
                  <a:moveTo>
                    <a:pt x="0" y="0"/>
                  </a:moveTo>
                  <a:lnTo>
                    <a:pt x="754343" y="0"/>
                  </a:lnTo>
                  <a:lnTo>
                    <a:pt x="754343" y="2895992"/>
                  </a:lnTo>
                  <a:lnTo>
                    <a:pt x="0" y="2895992"/>
                  </a:lnTo>
                  <a:close/>
                </a:path>
              </a:pathLst>
            </a:custGeom>
            <a:solidFill>
              <a:srgbClr val="53456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54343" cy="2934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400000">
            <a:off x="585902" y="1131508"/>
            <a:ext cx="487450" cy="281835"/>
          </a:xfrm>
          <a:custGeom>
            <a:avLst/>
            <a:gdLst/>
            <a:ahLst/>
            <a:cxnLst/>
            <a:rect r="r" b="b" t="t" l="l"/>
            <a:pathLst>
              <a:path h="281835" w="487450">
                <a:moveTo>
                  <a:pt x="0" y="0"/>
                </a:moveTo>
                <a:lnTo>
                  <a:pt x="487451" y="0"/>
                </a:lnTo>
                <a:lnTo>
                  <a:pt x="487451" y="281835"/>
                </a:lnTo>
                <a:lnTo>
                  <a:pt x="0" y="2818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-5400000">
            <a:off x="-1096116" y="7173489"/>
            <a:ext cx="381338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117" b="true">
                <a:solidFill>
                  <a:srgbClr val="FCF7F5"/>
                </a:solidFill>
                <a:latin typeface="Pattanakarn Condensed Medium"/>
                <a:ea typeface="Pattanakarn Condensed Medium"/>
                <a:cs typeface="Pattanakarn Condensed Medium"/>
                <a:sym typeface="Pattanakarn Condensed Medium"/>
              </a:rPr>
              <a:t>Group 02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190165" y="8269262"/>
            <a:ext cx="557224" cy="263415"/>
          </a:xfrm>
          <a:custGeom>
            <a:avLst/>
            <a:gdLst/>
            <a:ahLst/>
            <a:cxnLst/>
            <a:rect r="r" b="b" t="t" l="l"/>
            <a:pathLst>
              <a:path h="263415" w="557224">
                <a:moveTo>
                  <a:pt x="0" y="0"/>
                </a:moveTo>
                <a:lnTo>
                  <a:pt x="557224" y="0"/>
                </a:lnTo>
                <a:lnTo>
                  <a:pt x="557224" y="263414"/>
                </a:lnTo>
                <a:lnTo>
                  <a:pt x="0" y="263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450608" y="1028700"/>
            <a:ext cx="11537235" cy="4635871"/>
          </a:xfrm>
          <a:custGeom>
            <a:avLst/>
            <a:gdLst/>
            <a:ahLst/>
            <a:cxnLst/>
            <a:rect r="r" b="b" t="t" l="l"/>
            <a:pathLst>
              <a:path h="4635871" w="11537235">
                <a:moveTo>
                  <a:pt x="0" y="0"/>
                </a:moveTo>
                <a:lnTo>
                  <a:pt x="11537235" y="0"/>
                </a:lnTo>
                <a:lnTo>
                  <a:pt x="11537235" y="4635871"/>
                </a:lnTo>
                <a:lnTo>
                  <a:pt x="0" y="46358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086177" y="2468788"/>
            <a:ext cx="2138269" cy="3195783"/>
          </a:xfrm>
          <a:custGeom>
            <a:avLst/>
            <a:gdLst/>
            <a:ahLst/>
            <a:cxnLst/>
            <a:rect r="r" b="b" t="t" l="l"/>
            <a:pathLst>
              <a:path h="3195783" w="2138269">
                <a:moveTo>
                  <a:pt x="0" y="0"/>
                </a:moveTo>
                <a:lnTo>
                  <a:pt x="2138269" y="0"/>
                </a:lnTo>
                <a:lnTo>
                  <a:pt x="2138269" y="3195783"/>
                </a:lnTo>
                <a:lnTo>
                  <a:pt x="0" y="31957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415754" y="7470981"/>
            <a:ext cx="14843546" cy="105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81"/>
              </a:lnSpc>
            </a:pPr>
            <a:r>
              <a:rPr lang="en-US" sz="6870" spc="-261">
                <a:solidFill>
                  <a:srgbClr val="DC786D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Pros and cons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278508" y="8222700"/>
            <a:ext cx="3494851" cy="30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95"/>
              </a:lnSpc>
              <a:spcBef>
                <a:spcPct val="0"/>
              </a:spcBef>
            </a:pPr>
            <a:r>
              <a:rPr lang="en-US" b="true" sz="1782">
                <a:solidFill>
                  <a:srgbClr val="FCF7F5"/>
                </a:solidFill>
                <a:latin typeface="Pattanakarn Condensed Semi-Bold"/>
                <a:ea typeface="Pattanakarn Condensed Semi-Bold"/>
                <a:cs typeface="Pattanakarn Condensed Semi-Bold"/>
                <a:sym typeface="Pattanakarn Condensed Semi-Bold"/>
              </a:rPr>
              <a:t>Learn More</a:t>
            </a:r>
          </a:p>
        </p:txBody>
      </p: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C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6095" y="1376363"/>
            <a:ext cx="13335000" cy="81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9"/>
              </a:lnSpc>
            </a:pPr>
            <a:r>
              <a:rPr lang="en-US" sz="6099">
                <a:solidFill>
                  <a:srgbClr val="F47575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advantages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86095" y="3186349"/>
            <a:ext cx="7429500" cy="2616916"/>
            <a:chOff x="0" y="0"/>
            <a:chExt cx="9906000" cy="348922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906000" cy="3489221"/>
              <a:chOff x="0" y="0"/>
              <a:chExt cx="9906000" cy="3489221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9906000" cy="3489222"/>
              </a:xfrm>
              <a:custGeom>
                <a:avLst/>
                <a:gdLst/>
                <a:ahLst/>
                <a:cxnLst/>
                <a:rect r="r" b="b" t="t" l="l"/>
                <a:pathLst>
                  <a:path h="3489222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156218"/>
                      <a:pt x="9906000" y="348922"/>
                    </a:cubicBezTo>
                    <a:lnTo>
                      <a:pt x="9906000" y="3140299"/>
                    </a:lnTo>
                    <a:cubicBezTo>
                      <a:pt x="9906000" y="3333004"/>
                      <a:pt x="9792281" y="3489222"/>
                      <a:pt x="9652000" y="3489222"/>
                    </a:cubicBezTo>
                    <a:lnTo>
                      <a:pt x="254000" y="3489222"/>
                    </a:lnTo>
                    <a:cubicBezTo>
                      <a:pt x="113720" y="3489222"/>
                      <a:pt x="0" y="3333004"/>
                      <a:pt x="0" y="3140299"/>
                    </a:cubicBezTo>
                    <a:lnTo>
                      <a:pt x="0" y="348922"/>
                    </a:lnTo>
                    <a:cubicBezTo>
                      <a:pt x="0" y="156218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9906000" cy="3527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988756" y="351263"/>
              <a:ext cx="8690488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34569"/>
                  </a:solidFill>
                  <a:latin typeface="Cosmic Octo Medium"/>
                  <a:ea typeface="Cosmic Octo Medium"/>
                  <a:cs typeface="Cosmic Octo Medium"/>
                  <a:sym typeface="Cosmic Octo Medium"/>
                </a:rPr>
                <a:t>De</a:t>
              </a:r>
              <a:r>
                <a:rPr lang="en-US" b="true" sz="2100">
                  <a:solidFill>
                    <a:srgbClr val="534569"/>
                  </a:solidFill>
                  <a:latin typeface="Cosmic Octo Medium"/>
                  <a:ea typeface="Cosmic Octo Medium"/>
                  <a:cs typeface="Cosmic Octo Medium"/>
                  <a:sym typeface="Cosmic Octo Medium"/>
                </a:rPr>
                <a:t>pendency Inversion Principle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685800" y="1202586"/>
              <a:ext cx="8534400" cy="164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534569"/>
                  </a:solidFill>
                  <a:latin typeface="Pattanakarn Condensed"/>
                  <a:ea typeface="Pattanakarn Condensed"/>
                  <a:cs typeface="Pattanakarn Condensed"/>
                  <a:sym typeface="Pattanakarn Condensed"/>
                </a:rPr>
                <a:t>Th</a:t>
              </a:r>
              <a:r>
                <a:rPr lang="en-US" sz="2400">
                  <a:solidFill>
                    <a:srgbClr val="534569"/>
                  </a:solidFill>
                  <a:latin typeface="Pattanakarn Condensed"/>
                  <a:ea typeface="Pattanakarn Condensed"/>
                  <a:cs typeface="Pattanakarn Condensed"/>
                  <a:sym typeface="Pattanakarn Condensed"/>
                </a:rPr>
                <a:t>e pattern ensures that client code</a:t>
              </a:r>
            </a:p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534569"/>
                  </a:solidFill>
                  <a:latin typeface="Pattanakarn Condensed"/>
                  <a:ea typeface="Pattanakarn Condensed"/>
                  <a:cs typeface="Pattanakarn Condensed"/>
                  <a:sym typeface="Pattanakarn Condensed"/>
                </a:rPr>
                <a:t>depends on high-level abstractions rather than concrete implementations.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3404552"/>
            <a:ext cx="419100" cy="419100"/>
            <a:chOff x="0" y="0"/>
            <a:chExt cx="558800" cy="5588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558800" cy="558800"/>
              <a:chOff x="0" y="0"/>
              <a:chExt cx="558800" cy="558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558800" cy="558800"/>
              </a:xfrm>
              <a:custGeom>
                <a:avLst/>
                <a:gdLst/>
                <a:ahLst/>
                <a:cxnLst/>
                <a:rect r="r" b="b" t="t" l="l"/>
                <a:pathLst>
                  <a:path h="558800" w="558800">
                    <a:moveTo>
                      <a:pt x="279400" y="0"/>
                    </a:moveTo>
                    <a:cubicBezTo>
                      <a:pt x="125092" y="0"/>
                      <a:pt x="0" y="125092"/>
                      <a:pt x="0" y="279400"/>
                    </a:cubicBezTo>
                    <a:cubicBezTo>
                      <a:pt x="0" y="433708"/>
                      <a:pt x="125092" y="558800"/>
                      <a:pt x="279400" y="558800"/>
                    </a:cubicBezTo>
                    <a:cubicBezTo>
                      <a:pt x="433708" y="558800"/>
                      <a:pt x="558800" y="433708"/>
                      <a:pt x="558800" y="279400"/>
                    </a:cubicBezTo>
                    <a:cubicBezTo>
                      <a:pt x="558800" y="125092"/>
                      <a:pt x="433708" y="0"/>
                      <a:pt x="279400" y="0"/>
                    </a:cubicBezTo>
                    <a:close/>
                  </a:path>
                </a:pathLst>
              </a:custGeom>
              <a:solidFill>
                <a:srgbClr val="7867B4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558800" cy="596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0" y="-57150"/>
              <a:ext cx="558800" cy="6105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97"/>
                </a:lnSpc>
              </a:pPr>
              <a:r>
                <a:rPr lang="en-US" b="true" sz="2783">
                  <a:solidFill>
                    <a:srgbClr val="FCF7F5"/>
                  </a:solidFill>
                  <a:latin typeface="Cosmic Octo Medium"/>
                  <a:ea typeface="Cosmic Octo Medium"/>
                  <a:cs typeface="Cosmic Octo Medium"/>
                  <a:sym typeface="Cosmic Octo Medium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703610" y="3186349"/>
            <a:ext cx="7429500" cy="2616916"/>
            <a:chOff x="0" y="0"/>
            <a:chExt cx="9906000" cy="348922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06000" cy="3489222"/>
            </a:xfrm>
            <a:custGeom>
              <a:avLst/>
              <a:gdLst/>
              <a:ahLst/>
              <a:cxnLst/>
              <a:rect r="r" b="b" t="t" l="l"/>
              <a:pathLst>
                <a:path h="3489222" w="9906000">
                  <a:moveTo>
                    <a:pt x="254000" y="0"/>
                  </a:moveTo>
                  <a:lnTo>
                    <a:pt x="9652000" y="0"/>
                  </a:lnTo>
                  <a:cubicBezTo>
                    <a:pt x="9792281" y="0"/>
                    <a:pt x="9906000" y="156218"/>
                    <a:pt x="9906000" y="348922"/>
                  </a:cubicBezTo>
                  <a:lnTo>
                    <a:pt x="9906000" y="3140299"/>
                  </a:lnTo>
                  <a:cubicBezTo>
                    <a:pt x="9906000" y="3333004"/>
                    <a:pt x="9792281" y="3489222"/>
                    <a:pt x="9652000" y="3489222"/>
                  </a:cubicBezTo>
                  <a:lnTo>
                    <a:pt x="254000" y="3489222"/>
                  </a:lnTo>
                  <a:cubicBezTo>
                    <a:pt x="113720" y="3489222"/>
                    <a:pt x="0" y="3333004"/>
                    <a:pt x="0" y="3140299"/>
                  </a:cubicBezTo>
                  <a:lnTo>
                    <a:pt x="0" y="348922"/>
                  </a:lnTo>
                  <a:cubicBezTo>
                    <a:pt x="0" y="156218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EECAC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906000" cy="35273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934450" y="3404552"/>
            <a:ext cx="419100" cy="419100"/>
            <a:chOff x="0" y="0"/>
            <a:chExt cx="558800" cy="558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279400" y="0"/>
                  </a:moveTo>
                  <a:cubicBezTo>
                    <a:pt x="125092" y="0"/>
                    <a:pt x="0" y="125092"/>
                    <a:pt x="0" y="279400"/>
                  </a:cubicBezTo>
                  <a:cubicBezTo>
                    <a:pt x="0" y="433708"/>
                    <a:pt x="125092" y="558800"/>
                    <a:pt x="279400" y="558800"/>
                  </a:cubicBezTo>
                  <a:cubicBezTo>
                    <a:pt x="433708" y="558800"/>
                    <a:pt x="558800" y="433708"/>
                    <a:pt x="558800" y="279400"/>
                  </a:cubicBezTo>
                  <a:cubicBezTo>
                    <a:pt x="558800" y="125092"/>
                    <a:pt x="433708" y="0"/>
                    <a:pt x="279400" y="0"/>
                  </a:cubicBezTo>
                  <a:close/>
                </a:path>
              </a:pathLst>
            </a:custGeom>
            <a:solidFill>
              <a:srgbClr val="7867B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934450" y="3347402"/>
            <a:ext cx="419100" cy="47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7"/>
              </a:lnSpc>
            </a:pPr>
            <a:r>
              <a:rPr lang="en-US" b="true" sz="2783">
                <a:solidFill>
                  <a:srgbClr val="FCF7F5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217960" y="4076382"/>
            <a:ext cx="6400800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 By r</a:t>
            </a:r>
            <a:r>
              <a:rPr lang="en-US" sz="240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eturning abstract product types rather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than concrete classes, the pattern isolates the client from implementation details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86095" y="6574790"/>
            <a:ext cx="7429500" cy="2607391"/>
            <a:chOff x="0" y="0"/>
            <a:chExt cx="9906000" cy="3476521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9906000" cy="3476521"/>
              <a:chOff x="0" y="0"/>
              <a:chExt cx="9906000" cy="3476521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9906000" cy="3476522"/>
              </a:xfrm>
              <a:custGeom>
                <a:avLst/>
                <a:gdLst/>
                <a:ahLst/>
                <a:cxnLst/>
                <a:rect r="r" b="b" t="t" l="l"/>
                <a:pathLst>
                  <a:path h="3476522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155649"/>
                      <a:pt x="9906000" y="347652"/>
                    </a:cubicBezTo>
                    <a:lnTo>
                      <a:pt x="9906000" y="3128869"/>
                    </a:lnTo>
                    <a:cubicBezTo>
                      <a:pt x="9906000" y="3320872"/>
                      <a:pt x="9792281" y="3476522"/>
                      <a:pt x="9652000" y="3476522"/>
                    </a:cubicBezTo>
                    <a:lnTo>
                      <a:pt x="254000" y="3476522"/>
                    </a:lnTo>
                    <a:cubicBezTo>
                      <a:pt x="113720" y="3476522"/>
                      <a:pt x="0" y="3320872"/>
                      <a:pt x="0" y="3128869"/>
                    </a:cubicBezTo>
                    <a:lnTo>
                      <a:pt x="0" y="347652"/>
                    </a:lnTo>
                    <a:cubicBezTo>
                      <a:pt x="0" y="155649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9906000" cy="35146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988756" y="341738"/>
              <a:ext cx="8690488" cy="425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34569"/>
                  </a:solidFill>
                  <a:latin typeface="Cosmic Octo Medium"/>
                  <a:ea typeface="Cosmic Octo Medium"/>
                  <a:cs typeface="Cosmic Octo Medium"/>
                  <a:sym typeface="Cosmic Octo Medium"/>
                </a:rPr>
                <a:t>Product</a:t>
              </a:r>
              <a:r>
                <a:rPr lang="en-US" b="true" sz="2000">
                  <a:solidFill>
                    <a:srgbClr val="534569"/>
                  </a:solidFill>
                  <a:latin typeface="Cosmic Octo Medium"/>
                  <a:ea typeface="Cosmic Octo Medium"/>
                  <a:cs typeface="Cosmic Octo Medium"/>
                  <a:sym typeface="Cosmic Octo Medium"/>
                </a:rPr>
                <a:t> Consistency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685800" y="1189886"/>
              <a:ext cx="8534400" cy="164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534569"/>
                  </a:solidFill>
                  <a:latin typeface="Pattanakarn Condensed"/>
                  <a:ea typeface="Pattanakarn Condensed"/>
                  <a:cs typeface="Pattanakarn Condensed"/>
                  <a:sym typeface="Pattanakarn Condensed"/>
                </a:rPr>
                <a:t>The</a:t>
              </a:r>
              <a:r>
                <a:rPr lang="en-US" sz="2400">
                  <a:solidFill>
                    <a:srgbClr val="534569"/>
                  </a:solidFill>
                  <a:latin typeface="Pattanakarn Condensed"/>
                  <a:ea typeface="Pattanakarn Condensed"/>
                  <a:cs typeface="Pattanakarn Condensed"/>
                  <a:sym typeface="Pattanakarn Condensed"/>
                </a:rPr>
                <a:t> pattern is designed to create families of related objects, ensuring to receive compatible objects from the same family.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28700" y="6812915"/>
            <a:ext cx="419100" cy="419100"/>
            <a:chOff x="0" y="0"/>
            <a:chExt cx="558800" cy="558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279400" y="0"/>
                  </a:moveTo>
                  <a:cubicBezTo>
                    <a:pt x="125092" y="0"/>
                    <a:pt x="0" y="125092"/>
                    <a:pt x="0" y="279400"/>
                  </a:cubicBezTo>
                  <a:cubicBezTo>
                    <a:pt x="0" y="433708"/>
                    <a:pt x="125092" y="558800"/>
                    <a:pt x="279400" y="558800"/>
                  </a:cubicBezTo>
                  <a:cubicBezTo>
                    <a:pt x="433708" y="558800"/>
                    <a:pt x="558800" y="433708"/>
                    <a:pt x="558800" y="279400"/>
                  </a:cubicBezTo>
                  <a:cubicBezTo>
                    <a:pt x="558800" y="125092"/>
                    <a:pt x="433708" y="0"/>
                    <a:pt x="279400" y="0"/>
                  </a:cubicBezTo>
                  <a:close/>
                </a:path>
              </a:pathLst>
            </a:custGeom>
            <a:solidFill>
              <a:srgbClr val="7867B4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028700" y="6755765"/>
            <a:ext cx="419100" cy="47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7"/>
              </a:lnSpc>
            </a:pPr>
            <a:r>
              <a:rPr lang="en-US" b="true" sz="2783">
                <a:solidFill>
                  <a:srgbClr val="FCF7F5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3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703610" y="6574790"/>
            <a:ext cx="7429500" cy="2607391"/>
            <a:chOff x="0" y="0"/>
            <a:chExt cx="9906000" cy="3476521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9906000" cy="3476521"/>
              <a:chOff x="0" y="0"/>
              <a:chExt cx="9906000" cy="3476521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9906000" cy="3476522"/>
              </a:xfrm>
              <a:custGeom>
                <a:avLst/>
                <a:gdLst/>
                <a:ahLst/>
                <a:cxnLst/>
                <a:rect r="r" b="b" t="t" l="l"/>
                <a:pathLst>
                  <a:path h="3476522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155649"/>
                      <a:pt x="9906000" y="347652"/>
                    </a:cubicBezTo>
                    <a:lnTo>
                      <a:pt x="9906000" y="3128869"/>
                    </a:lnTo>
                    <a:cubicBezTo>
                      <a:pt x="9906000" y="3320872"/>
                      <a:pt x="9792281" y="3476522"/>
                      <a:pt x="9652000" y="3476522"/>
                    </a:cubicBezTo>
                    <a:lnTo>
                      <a:pt x="254000" y="3476522"/>
                    </a:lnTo>
                    <a:cubicBezTo>
                      <a:pt x="113720" y="3476522"/>
                      <a:pt x="0" y="3320872"/>
                      <a:pt x="0" y="3128869"/>
                    </a:cubicBezTo>
                    <a:lnTo>
                      <a:pt x="0" y="347652"/>
                    </a:lnTo>
                    <a:cubicBezTo>
                      <a:pt x="0" y="155649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9906000" cy="35146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988756" y="341738"/>
              <a:ext cx="8690488" cy="425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34569"/>
                  </a:solidFill>
                  <a:latin typeface="Cosmic Octo Medium"/>
                  <a:ea typeface="Cosmic Octo Medium"/>
                  <a:cs typeface="Cosmic Octo Medium"/>
                  <a:sym typeface="Cosmic Octo Medium"/>
                </a:rPr>
                <a:t>E</a:t>
              </a:r>
              <a:r>
                <a:rPr lang="en-US" b="true" sz="2000">
                  <a:solidFill>
                    <a:srgbClr val="534569"/>
                  </a:solidFill>
                  <a:latin typeface="Cosmic Octo Medium"/>
                  <a:ea typeface="Cosmic Octo Medium"/>
                  <a:cs typeface="Cosmic Octo Medium"/>
                  <a:sym typeface="Cosmic Octo Medium"/>
                </a:rPr>
                <a:t>ase of Adding Product Families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685800" y="1189886"/>
              <a:ext cx="8534400" cy="164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534569"/>
                  </a:solidFill>
                  <a:latin typeface="Pattanakarn Condensed"/>
                  <a:ea typeface="Pattanakarn Condensed"/>
                  <a:cs typeface="Pattanakarn Condensed"/>
                  <a:sym typeface="Pattanakarn Condensed"/>
                </a:rPr>
                <a:t>Adding a</a:t>
              </a:r>
              <a:r>
                <a:rPr lang="en-US" sz="2400">
                  <a:solidFill>
                    <a:srgbClr val="534569"/>
                  </a:solidFill>
                  <a:latin typeface="Pattanakarn Condensed"/>
                  <a:ea typeface="Pattanakarn Condensed"/>
                  <a:cs typeface="Pattanakarn Condensed"/>
                  <a:sym typeface="Pattanakarn Condensed"/>
                </a:rPr>
                <a:t> new product families, such as a new OS GUI factory, is easy and doesn’t require changes to existing client code.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934450" y="6808886"/>
            <a:ext cx="419100" cy="419100"/>
            <a:chOff x="0" y="0"/>
            <a:chExt cx="558800" cy="558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279400" y="0"/>
                  </a:moveTo>
                  <a:cubicBezTo>
                    <a:pt x="125092" y="0"/>
                    <a:pt x="0" y="125092"/>
                    <a:pt x="0" y="279400"/>
                  </a:cubicBezTo>
                  <a:cubicBezTo>
                    <a:pt x="0" y="433708"/>
                    <a:pt x="125092" y="558800"/>
                    <a:pt x="279400" y="558800"/>
                  </a:cubicBezTo>
                  <a:cubicBezTo>
                    <a:pt x="433708" y="558800"/>
                    <a:pt x="558800" y="433708"/>
                    <a:pt x="558800" y="279400"/>
                  </a:cubicBezTo>
                  <a:cubicBezTo>
                    <a:pt x="558800" y="125092"/>
                    <a:pt x="433708" y="0"/>
                    <a:pt x="279400" y="0"/>
                  </a:cubicBezTo>
                  <a:close/>
                </a:path>
              </a:pathLst>
            </a:custGeom>
            <a:solidFill>
              <a:srgbClr val="7867B4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8934450" y="6751736"/>
            <a:ext cx="419100" cy="47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7"/>
              </a:lnSpc>
            </a:pPr>
            <a:r>
              <a:rPr lang="en-US" b="true" sz="2783">
                <a:solidFill>
                  <a:srgbClr val="FCF7F5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4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6621125" y="-57150"/>
            <a:ext cx="2867025" cy="11001375"/>
            <a:chOff x="0" y="0"/>
            <a:chExt cx="3822700" cy="146685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822700" cy="14668500"/>
            </a:xfrm>
            <a:custGeom>
              <a:avLst/>
              <a:gdLst/>
              <a:ahLst/>
              <a:cxnLst/>
              <a:rect r="r" b="b" t="t" l="l"/>
              <a:pathLst>
                <a:path h="14668500" w="3822700">
                  <a:moveTo>
                    <a:pt x="0" y="0"/>
                  </a:moveTo>
                  <a:lnTo>
                    <a:pt x="3822700" y="0"/>
                  </a:lnTo>
                  <a:lnTo>
                    <a:pt x="3822700" y="14668500"/>
                  </a:lnTo>
                  <a:lnTo>
                    <a:pt x="0" y="14668500"/>
                  </a:lnTo>
                  <a:close/>
                </a:path>
              </a:pathLst>
            </a:custGeom>
            <a:solidFill>
              <a:srgbClr val="534569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3822700" cy="1470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-5400000">
            <a:off x="16734810" y="8509973"/>
            <a:ext cx="1677629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Group 02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445177" y="3447415"/>
            <a:ext cx="6517866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34569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Dec</a:t>
            </a:r>
            <a:r>
              <a:rPr lang="en-US" b="true" sz="2100">
                <a:solidFill>
                  <a:srgbClr val="534569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ouples the Client</a:t>
            </a:r>
          </a:p>
        </p:txBody>
      </p:sp>
    </p:spTree>
  </p:cSld>
  <p:clrMapOvr>
    <a:masterClrMapping/>
  </p:clrMapOvr>
  <p:transition spd="slow">
    <p:push dir="l"/>
  </p:transition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C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6095" y="1376363"/>
            <a:ext cx="13335000" cy="81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9"/>
              </a:lnSpc>
            </a:pPr>
            <a:r>
              <a:rPr lang="en-US" sz="6099">
                <a:solidFill>
                  <a:srgbClr val="F47575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Disadvantages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86095" y="3186349"/>
            <a:ext cx="7429500" cy="2616916"/>
            <a:chOff x="0" y="0"/>
            <a:chExt cx="9906000" cy="348922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906000" cy="3489221"/>
              <a:chOff x="0" y="0"/>
              <a:chExt cx="9906000" cy="3489221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9906000" cy="3489222"/>
              </a:xfrm>
              <a:custGeom>
                <a:avLst/>
                <a:gdLst/>
                <a:ahLst/>
                <a:cxnLst/>
                <a:rect r="r" b="b" t="t" l="l"/>
                <a:pathLst>
                  <a:path h="3489222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156218"/>
                      <a:pt x="9906000" y="348922"/>
                    </a:cubicBezTo>
                    <a:lnTo>
                      <a:pt x="9906000" y="3140299"/>
                    </a:lnTo>
                    <a:cubicBezTo>
                      <a:pt x="9906000" y="3333004"/>
                      <a:pt x="9792281" y="3489222"/>
                      <a:pt x="9652000" y="3489222"/>
                    </a:cubicBezTo>
                    <a:lnTo>
                      <a:pt x="254000" y="3489222"/>
                    </a:lnTo>
                    <a:cubicBezTo>
                      <a:pt x="113720" y="3489222"/>
                      <a:pt x="0" y="3333004"/>
                      <a:pt x="0" y="3140299"/>
                    </a:cubicBezTo>
                    <a:lnTo>
                      <a:pt x="0" y="348922"/>
                    </a:lnTo>
                    <a:cubicBezTo>
                      <a:pt x="0" y="156218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9906000" cy="3527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988756" y="351263"/>
              <a:ext cx="8690488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534569"/>
                  </a:solidFill>
                  <a:latin typeface="Cosmic Octo Medium"/>
                  <a:ea typeface="Cosmic Octo Medium"/>
                  <a:cs typeface="Cosmic Octo Medium"/>
                  <a:sym typeface="Cosmic Octo Medium"/>
                </a:rPr>
                <a:t>New Product Types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685800" y="1202586"/>
              <a:ext cx="8534400" cy="164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534569"/>
                  </a:solidFill>
                  <a:latin typeface="Pattanakarn Condensed"/>
                  <a:ea typeface="Pattanakarn Condensed"/>
                  <a:cs typeface="Pattanakarn Condensed"/>
                  <a:sym typeface="Pattanakarn Condensed"/>
                </a:rPr>
                <a:t>Requiring </a:t>
              </a:r>
              <a:r>
                <a:rPr lang="en-US" sz="2400">
                  <a:solidFill>
                    <a:srgbClr val="534569"/>
                  </a:solidFill>
                  <a:latin typeface="Pattanakarn Condensed"/>
                  <a:ea typeface="Pattanakarn Condensed"/>
                  <a:cs typeface="Pattanakarn Condensed"/>
                  <a:sym typeface="Pattanakarn Condensed"/>
                </a:rPr>
                <a:t>altering the main Abstract Factory interface and cascading those changes across all existing concrete factory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3404552"/>
            <a:ext cx="419100" cy="419100"/>
            <a:chOff x="0" y="0"/>
            <a:chExt cx="558800" cy="5588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558800" cy="558800"/>
              <a:chOff x="0" y="0"/>
              <a:chExt cx="558800" cy="558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558800" cy="558800"/>
              </a:xfrm>
              <a:custGeom>
                <a:avLst/>
                <a:gdLst/>
                <a:ahLst/>
                <a:cxnLst/>
                <a:rect r="r" b="b" t="t" l="l"/>
                <a:pathLst>
                  <a:path h="558800" w="558800">
                    <a:moveTo>
                      <a:pt x="279400" y="0"/>
                    </a:moveTo>
                    <a:cubicBezTo>
                      <a:pt x="125092" y="0"/>
                      <a:pt x="0" y="125092"/>
                      <a:pt x="0" y="279400"/>
                    </a:cubicBezTo>
                    <a:cubicBezTo>
                      <a:pt x="0" y="433708"/>
                      <a:pt x="125092" y="558800"/>
                      <a:pt x="279400" y="558800"/>
                    </a:cubicBezTo>
                    <a:cubicBezTo>
                      <a:pt x="433708" y="558800"/>
                      <a:pt x="558800" y="433708"/>
                      <a:pt x="558800" y="279400"/>
                    </a:cubicBezTo>
                    <a:cubicBezTo>
                      <a:pt x="558800" y="125092"/>
                      <a:pt x="433708" y="0"/>
                      <a:pt x="279400" y="0"/>
                    </a:cubicBezTo>
                    <a:close/>
                  </a:path>
                </a:pathLst>
              </a:custGeom>
              <a:solidFill>
                <a:srgbClr val="7867B4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558800" cy="596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0" y="-57150"/>
              <a:ext cx="558800" cy="6105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97"/>
                </a:lnSpc>
              </a:pPr>
              <a:r>
                <a:rPr lang="en-US" b="true" sz="2783">
                  <a:solidFill>
                    <a:srgbClr val="FCF7F5"/>
                  </a:solidFill>
                  <a:latin typeface="Cosmic Octo Medium"/>
                  <a:ea typeface="Cosmic Octo Medium"/>
                  <a:cs typeface="Cosmic Octo Medium"/>
                  <a:sym typeface="Cosmic Octo Medium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703610" y="3186349"/>
            <a:ext cx="7429500" cy="2616916"/>
            <a:chOff x="0" y="0"/>
            <a:chExt cx="9906000" cy="348922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06000" cy="3489222"/>
            </a:xfrm>
            <a:custGeom>
              <a:avLst/>
              <a:gdLst/>
              <a:ahLst/>
              <a:cxnLst/>
              <a:rect r="r" b="b" t="t" l="l"/>
              <a:pathLst>
                <a:path h="3489222" w="9906000">
                  <a:moveTo>
                    <a:pt x="254000" y="0"/>
                  </a:moveTo>
                  <a:lnTo>
                    <a:pt x="9652000" y="0"/>
                  </a:lnTo>
                  <a:cubicBezTo>
                    <a:pt x="9792281" y="0"/>
                    <a:pt x="9906000" y="156218"/>
                    <a:pt x="9906000" y="348922"/>
                  </a:cubicBezTo>
                  <a:lnTo>
                    <a:pt x="9906000" y="3140299"/>
                  </a:lnTo>
                  <a:cubicBezTo>
                    <a:pt x="9906000" y="3333004"/>
                    <a:pt x="9792281" y="3489222"/>
                    <a:pt x="9652000" y="3489222"/>
                  </a:cubicBezTo>
                  <a:lnTo>
                    <a:pt x="254000" y="3489222"/>
                  </a:lnTo>
                  <a:cubicBezTo>
                    <a:pt x="113720" y="3489222"/>
                    <a:pt x="0" y="3333004"/>
                    <a:pt x="0" y="3140299"/>
                  </a:cubicBezTo>
                  <a:lnTo>
                    <a:pt x="0" y="348922"/>
                  </a:lnTo>
                  <a:cubicBezTo>
                    <a:pt x="0" y="156218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EECAC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906000" cy="35273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934450" y="3404552"/>
            <a:ext cx="419100" cy="419100"/>
            <a:chOff x="0" y="0"/>
            <a:chExt cx="558800" cy="558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279400" y="0"/>
                  </a:moveTo>
                  <a:cubicBezTo>
                    <a:pt x="125092" y="0"/>
                    <a:pt x="0" y="125092"/>
                    <a:pt x="0" y="279400"/>
                  </a:cubicBezTo>
                  <a:cubicBezTo>
                    <a:pt x="0" y="433708"/>
                    <a:pt x="125092" y="558800"/>
                    <a:pt x="279400" y="558800"/>
                  </a:cubicBezTo>
                  <a:cubicBezTo>
                    <a:pt x="433708" y="558800"/>
                    <a:pt x="558800" y="433708"/>
                    <a:pt x="558800" y="279400"/>
                  </a:cubicBezTo>
                  <a:cubicBezTo>
                    <a:pt x="558800" y="125092"/>
                    <a:pt x="433708" y="0"/>
                    <a:pt x="279400" y="0"/>
                  </a:cubicBezTo>
                  <a:close/>
                </a:path>
              </a:pathLst>
            </a:custGeom>
            <a:solidFill>
              <a:srgbClr val="7867B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934450" y="3347402"/>
            <a:ext cx="419100" cy="47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7"/>
              </a:lnSpc>
            </a:pPr>
            <a:r>
              <a:rPr lang="en-US" b="true" sz="2783">
                <a:solidFill>
                  <a:srgbClr val="FCF7F5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217960" y="4076382"/>
            <a:ext cx="6400800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Th</a:t>
            </a:r>
            <a:r>
              <a:rPr lang="en-US" sz="240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e pattern introduces m</a:t>
            </a:r>
            <a:r>
              <a:rPr lang="en-US" sz="240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any new interfaces and classes into the codebase, make the system more complex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4500845" y="6574790"/>
            <a:ext cx="7429500" cy="2607391"/>
            <a:chOff x="0" y="0"/>
            <a:chExt cx="9906000" cy="3476521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9906000" cy="3476521"/>
              <a:chOff x="0" y="0"/>
              <a:chExt cx="9906000" cy="3476521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9906000" cy="3476522"/>
              </a:xfrm>
              <a:custGeom>
                <a:avLst/>
                <a:gdLst/>
                <a:ahLst/>
                <a:cxnLst/>
                <a:rect r="r" b="b" t="t" l="l"/>
                <a:pathLst>
                  <a:path h="3476522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155649"/>
                      <a:pt x="9906000" y="347652"/>
                    </a:cubicBezTo>
                    <a:lnTo>
                      <a:pt x="9906000" y="3128869"/>
                    </a:lnTo>
                    <a:cubicBezTo>
                      <a:pt x="9906000" y="3320872"/>
                      <a:pt x="9792281" y="3476522"/>
                      <a:pt x="9652000" y="3476522"/>
                    </a:cubicBezTo>
                    <a:lnTo>
                      <a:pt x="254000" y="3476522"/>
                    </a:lnTo>
                    <a:cubicBezTo>
                      <a:pt x="113720" y="3476522"/>
                      <a:pt x="0" y="3320872"/>
                      <a:pt x="0" y="3128869"/>
                    </a:cubicBezTo>
                    <a:lnTo>
                      <a:pt x="0" y="347652"/>
                    </a:lnTo>
                    <a:cubicBezTo>
                      <a:pt x="0" y="155649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9906000" cy="35146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988756" y="341738"/>
              <a:ext cx="8690488" cy="425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34569"/>
                  </a:solidFill>
                  <a:latin typeface="Cosmic Octo Medium"/>
                  <a:ea typeface="Cosmic Octo Medium"/>
                  <a:cs typeface="Cosmic Octo Medium"/>
                  <a:sym typeface="Cosmic Octo Medium"/>
                </a:rPr>
                <a:t>Upfront</a:t>
              </a:r>
              <a:r>
                <a:rPr lang="en-US" b="true" sz="2000">
                  <a:solidFill>
                    <a:srgbClr val="534569"/>
                  </a:solidFill>
                  <a:latin typeface="Cosmic Octo Medium"/>
                  <a:ea typeface="Cosmic Octo Medium"/>
                  <a:cs typeface="Cosmic Octo Medium"/>
                  <a:sym typeface="Cosmic Octo Medium"/>
                </a:rPr>
                <a:t> Design Overhead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685800" y="1189886"/>
              <a:ext cx="8534400" cy="164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534569"/>
                  </a:solidFill>
                  <a:latin typeface="Pattanakarn Condensed"/>
                  <a:ea typeface="Pattanakarn Condensed"/>
                  <a:cs typeface="Pattanakarn Condensed"/>
                  <a:sym typeface="Pattanakarn Condensed"/>
                </a:rPr>
                <a:t>R</a:t>
              </a:r>
              <a:r>
                <a:rPr lang="en-US" sz="2400">
                  <a:solidFill>
                    <a:srgbClr val="534569"/>
                  </a:solidFill>
                  <a:latin typeface="Pattanakarn Condensed"/>
                  <a:ea typeface="Pattanakarn Condensed"/>
                  <a:cs typeface="Pattanakarn Condensed"/>
                  <a:sym typeface="Pattanakarn Condensed"/>
                </a:rPr>
                <a:t>equiring correctly predicting the variations of product families early in the design phase. Or the structure can become a nightmare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743450" y="6812915"/>
            <a:ext cx="419100" cy="419100"/>
            <a:chOff x="0" y="0"/>
            <a:chExt cx="558800" cy="558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279400" y="0"/>
                  </a:moveTo>
                  <a:cubicBezTo>
                    <a:pt x="125092" y="0"/>
                    <a:pt x="0" y="125092"/>
                    <a:pt x="0" y="279400"/>
                  </a:cubicBezTo>
                  <a:cubicBezTo>
                    <a:pt x="0" y="433708"/>
                    <a:pt x="125092" y="558800"/>
                    <a:pt x="279400" y="558800"/>
                  </a:cubicBezTo>
                  <a:cubicBezTo>
                    <a:pt x="433708" y="558800"/>
                    <a:pt x="558800" y="433708"/>
                    <a:pt x="558800" y="279400"/>
                  </a:cubicBezTo>
                  <a:cubicBezTo>
                    <a:pt x="558800" y="125092"/>
                    <a:pt x="433708" y="0"/>
                    <a:pt x="279400" y="0"/>
                  </a:cubicBezTo>
                  <a:close/>
                </a:path>
              </a:pathLst>
            </a:custGeom>
            <a:solidFill>
              <a:srgbClr val="7867B4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4743450" y="6755765"/>
            <a:ext cx="419100" cy="47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7"/>
              </a:lnSpc>
            </a:pPr>
            <a:r>
              <a:rPr lang="en-US" b="true" sz="2783">
                <a:solidFill>
                  <a:srgbClr val="FCF7F5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3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6621125" y="-57150"/>
            <a:ext cx="2867025" cy="11001375"/>
            <a:chOff x="0" y="0"/>
            <a:chExt cx="3822700" cy="146685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822700" cy="14668500"/>
            </a:xfrm>
            <a:custGeom>
              <a:avLst/>
              <a:gdLst/>
              <a:ahLst/>
              <a:cxnLst/>
              <a:rect r="r" b="b" t="t" l="l"/>
              <a:pathLst>
                <a:path h="14668500" w="3822700">
                  <a:moveTo>
                    <a:pt x="0" y="0"/>
                  </a:moveTo>
                  <a:lnTo>
                    <a:pt x="3822700" y="0"/>
                  </a:lnTo>
                  <a:lnTo>
                    <a:pt x="3822700" y="14668500"/>
                  </a:lnTo>
                  <a:lnTo>
                    <a:pt x="0" y="14668500"/>
                  </a:lnTo>
                  <a:close/>
                </a:path>
              </a:pathLst>
            </a:custGeom>
            <a:solidFill>
              <a:srgbClr val="534569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3822700" cy="1470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-5400000">
            <a:off x="16734810" y="8509973"/>
            <a:ext cx="1677629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Group 02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445177" y="3447415"/>
            <a:ext cx="6517866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34569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Incr</a:t>
            </a:r>
            <a:r>
              <a:rPr lang="en-US" b="true" sz="2100">
                <a:solidFill>
                  <a:srgbClr val="534569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eased System Complexity</a:t>
            </a:r>
          </a:p>
        </p:txBody>
      </p:sp>
    </p:spTree>
  </p:cSld>
  <p:clrMapOvr>
    <a:masterClrMapping/>
  </p:clrMapOvr>
  <p:transition spd="slow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91935" y="-3384213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35778" y="-3384213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91935" y="5143500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35778" y="5143500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622840" y="-52947"/>
            <a:ext cx="2864146" cy="10995720"/>
            <a:chOff x="0" y="0"/>
            <a:chExt cx="754343" cy="28959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4343" cy="2895992"/>
            </a:xfrm>
            <a:custGeom>
              <a:avLst/>
              <a:gdLst/>
              <a:ahLst/>
              <a:cxnLst/>
              <a:rect r="r" b="b" t="t" l="l"/>
              <a:pathLst>
                <a:path h="2895992" w="754343">
                  <a:moveTo>
                    <a:pt x="0" y="0"/>
                  </a:moveTo>
                  <a:lnTo>
                    <a:pt x="754343" y="0"/>
                  </a:lnTo>
                  <a:lnTo>
                    <a:pt x="754343" y="2895992"/>
                  </a:lnTo>
                  <a:lnTo>
                    <a:pt x="0" y="2895992"/>
                  </a:lnTo>
                  <a:close/>
                </a:path>
              </a:pathLst>
            </a:custGeom>
            <a:solidFill>
              <a:srgbClr val="53456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54343" cy="2934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400000">
            <a:off x="17226417" y="1260159"/>
            <a:ext cx="487450" cy="281835"/>
          </a:xfrm>
          <a:custGeom>
            <a:avLst/>
            <a:gdLst/>
            <a:ahLst/>
            <a:cxnLst/>
            <a:rect r="r" b="b" t="t" l="l"/>
            <a:pathLst>
              <a:path h="281835" w="487450">
                <a:moveTo>
                  <a:pt x="0" y="0"/>
                </a:moveTo>
                <a:lnTo>
                  <a:pt x="487451" y="0"/>
                </a:lnTo>
                <a:lnTo>
                  <a:pt x="487451" y="281835"/>
                </a:lnTo>
                <a:lnTo>
                  <a:pt x="0" y="2818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-5400000">
            <a:off x="15544399" y="7302141"/>
            <a:ext cx="381338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117" b="true">
                <a:solidFill>
                  <a:srgbClr val="FCF7F5"/>
                </a:solidFill>
                <a:latin typeface="Pattanakarn Condensed Medium"/>
                <a:ea typeface="Pattanakarn Condensed Medium"/>
                <a:cs typeface="Pattanakarn Condensed Medium"/>
                <a:sym typeface="Pattanakarn Condensed Medium"/>
              </a:rPr>
              <a:t>Group 02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8700" y="3389797"/>
            <a:ext cx="8115300" cy="3957127"/>
            <a:chOff x="0" y="0"/>
            <a:chExt cx="2137363" cy="104220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37363" cy="1042206"/>
            </a:xfrm>
            <a:custGeom>
              <a:avLst/>
              <a:gdLst/>
              <a:ahLst/>
              <a:cxnLst/>
              <a:rect r="r" b="b" t="t" l="l"/>
              <a:pathLst>
                <a:path h="1042206" w="2137363">
                  <a:moveTo>
                    <a:pt x="19080" y="0"/>
                  </a:moveTo>
                  <a:lnTo>
                    <a:pt x="2118283" y="0"/>
                  </a:lnTo>
                  <a:cubicBezTo>
                    <a:pt x="2123343" y="0"/>
                    <a:pt x="2128196" y="2010"/>
                    <a:pt x="2131775" y="5588"/>
                  </a:cubicBezTo>
                  <a:cubicBezTo>
                    <a:pt x="2135353" y="9167"/>
                    <a:pt x="2137363" y="14020"/>
                    <a:pt x="2137363" y="19080"/>
                  </a:cubicBezTo>
                  <a:lnTo>
                    <a:pt x="2137363" y="1023127"/>
                  </a:lnTo>
                  <a:cubicBezTo>
                    <a:pt x="2137363" y="1033664"/>
                    <a:pt x="2128821" y="1042206"/>
                    <a:pt x="2118283" y="1042206"/>
                  </a:cubicBezTo>
                  <a:lnTo>
                    <a:pt x="19080" y="1042206"/>
                  </a:lnTo>
                  <a:cubicBezTo>
                    <a:pt x="8542" y="1042206"/>
                    <a:pt x="0" y="1033664"/>
                    <a:pt x="0" y="1023127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EECAC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137363" cy="1080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1207529" y="1028700"/>
            <a:ext cx="4063277" cy="9632770"/>
          </a:xfrm>
          <a:custGeom>
            <a:avLst/>
            <a:gdLst/>
            <a:ahLst/>
            <a:cxnLst/>
            <a:rect r="r" b="b" t="t" l="l"/>
            <a:pathLst>
              <a:path h="9632770" w="4063277">
                <a:moveTo>
                  <a:pt x="0" y="0"/>
                </a:moveTo>
                <a:lnTo>
                  <a:pt x="4063277" y="0"/>
                </a:lnTo>
                <a:lnTo>
                  <a:pt x="4063277" y="9632770"/>
                </a:lnTo>
                <a:lnTo>
                  <a:pt x="0" y="96327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689610" y="5188902"/>
            <a:ext cx="6546353" cy="1785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76"/>
              </a:lnSpc>
            </a:pPr>
            <a:r>
              <a:rPr lang="en-US" sz="5800" spc="-220" b="true">
                <a:solidFill>
                  <a:srgbClr val="534569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other applications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28700" y="8211381"/>
            <a:ext cx="8115300" cy="643511"/>
            <a:chOff x="0" y="0"/>
            <a:chExt cx="2137363" cy="1694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7363" cy="169484"/>
            </a:xfrm>
            <a:custGeom>
              <a:avLst/>
              <a:gdLst/>
              <a:ahLst/>
              <a:cxnLst/>
              <a:rect r="r" b="b" t="t" l="l"/>
              <a:pathLst>
                <a:path h="169484" w="2137363">
                  <a:moveTo>
                    <a:pt x="19080" y="0"/>
                  </a:moveTo>
                  <a:lnTo>
                    <a:pt x="2118283" y="0"/>
                  </a:lnTo>
                  <a:cubicBezTo>
                    <a:pt x="2123343" y="0"/>
                    <a:pt x="2128196" y="2010"/>
                    <a:pt x="2131775" y="5588"/>
                  </a:cubicBezTo>
                  <a:cubicBezTo>
                    <a:pt x="2135353" y="9167"/>
                    <a:pt x="2137363" y="14020"/>
                    <a:pt x="2137363" y="19080"/>
                  </a:cubicBezTo>
                  <a:lnTo>
                    <a:pt x="2137363" y="150405"/>
                  </a:lnTo>
                  <a:cubicBezTo>
                    <a:pt x="2137363" y="160942"/>
                    <a:pt x="2128821" y="169484"/>
                    <a:pt x="2118283" y="169484"/>
                  </a:cubicBezTo>
                  <a:lnTo>
                    <a:pt x="19080" y="169484"/>
                  </a:lnTo>
                  <a:cubicBezTo>
                    <a:pt x="8542" y="169484"/>
                    <a:pt x="0" y="160942"/>
                    <a:pt x="0" y="150405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7867B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137363" cy="2075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591499" y="8360509"/>
            <a:ext cx="3494851" cy="30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95"/>
              </a:lnSpc>
              <a:spcBef>
                <a:spcPct val="0"/>
              </a:spcBef>
            </a:pPr>
            <a:r>
              <a:rPr lang="en-US" b="true" sz="1782">
                <a:solidFill>
                  <a:srgbClr val="FCF7F5"/>
                </a:solidFill>
                <a:latin typeface="Pattanakarn Condensed Semi-Bold"/>
                <a:ea typeface="Pattanakarn Condensed Semi-Bold"/>
                <a:cs typeface="Pattanakarn Condensed Semi-Bold"/>
                <a:sym typeface="Pattanakarn Condensed Semi-Bold"/>
              </a:rPr>
              <a:t>Learn More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8023977" y="8398609"/>
            <a:ext cx="557224" cy="263415"/>
          </a:xfrm>
          <a:custGeom>
            <a:avLst/>
            <a:gdLst/>
            <a:ahLst/>
            <a:cxnLst/>
            <a:rect r="r" b="b" t="t" l="l"/>
            <a:pathLst>
              <a:path h="263415" w="557224">
                <a:moveTo>
                  <a:pt x="0" y="0"/>
                </a:moveTo>
                <a:lnTo>
                  <a:pt x="557224" y="0"/>
                </a:lnTo>
                <a:lnTo>
                  <a:pt x="557224" y="263415"/>
                </a:lnTo>
                <a:lnTo>
                  <a:pt x="0" y="2634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689610" y="3744679"/>
            <a:ext cx="2502168" cy="1160401"/>
            <a:chOff x="0" y="0"/>
            <a:chExt cx="3336224" cy="1547202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3336224" cy="1547202"/>
              <a:chOff x="0" y="0"/>
              <a:chExt cx="409303" cy="189818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09303" cy="189818"/>
              </a:xfrm>
              <a:custGeom>
                <a:avLst/>
                <a:gdLst/>
                <a:ahLst/>
                <a:cxnLst/>
                <a:rect r="r" b="b" t="t" l="l"/>
                <a:pathLst>
                  <a:path h="189818" w="409303">
                    <a:moveTo>
                      <a:pt x="94909" y="0"/>
                    </a:moveTo>
                    <a:lnTo>
                      <a:pt x="314394" y="0"/>
                    </a:lnTo>
                    <a:cubicBezTo>
                      <a:pt x="339566" y="0"/>
                      <a:pt x="363706" y="9999"/>
                      <a:pt x="381505" y="27798"/>
                    </a:cubicBezTo>
                    <a:cubicBezTo>
                      <a:pt x="399304" y="45597"/>
                      <a:pt x="409303" y="69738"/>
                      <a:pt x="409303" y="94909"/>
                    </a:cubicBezTo>
                    <a:lnTo>
                      <a:pt x="409303" y="94909"/>
                    </a:lnTo>
                    <a:cubicBezTo>
                      <a:pt x="409303" y="120080"/>
                      <a:pt x="399304" y="144221"/>
                      <a:pt x="381505" y="162020"/>
                    </a:cubicBezTo>
                    <a:cubicBezTo>
                      <a:pt x="363706" y="179819"/>
                      <a:pt x="339566" y="189818"/>
                      <a:pt x="314394" y="189818"/>
                    </a:cubicBezTo>
                    <a:lnTo>
                      <a:pt x="94909" y="189818"/>
                    </a:lnTo>
                    <a:cubicBezTo>
                      <a:pt x="69738" y="189818"/>
                      <a:pt x="45597" y="179819"/>
                      <a:pt x="27798" y="162020"/>
                    </a:cubicBezTo>
                    <a:cubicBezTo>
                      <a:pt x="9999" y="144221"/>
                      <a:pt x="0" y="120080"/>
                      <a:pt x="0" y="94909"/>
                    </a:cubicBezTo>
                    <a:lnTo>
                      <a:pt x="0" y="94909"/>
                    </a:lnTo>
                    <a:cubicBezTo>
                      <a:pt x="0" y="69738"/>
                      <a:pt x="9999" y="45597"/>
                      <a:pt x="27798" y="27798"/>
                    </a:cubicBezTo>
                    <a:cubicBezTo>
                      <a:pt x="45597" y="9999"/>
                      <a:pt x="69738" y="0"/>
                      <a:pt x="94909" y="0"/>
                    </a:cubicBezTo>
                    <a:close/>
                  </a:path>
                </a:pathLst>
              </a:custGeom>
              <a:solidFill>
                <a:srgbClr val="7867B4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409303" cy="2279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307194" y="139236"/>
              <a:ext cx="2721835" cy="12401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320"/>
                </a:lnSpc>
              </a:pPr>
              <a:r>
                <a:rPr lang="en-US" b="true" sz="6000" spc="-228">
                  <a:solidFill>
                    <a:srgbClr val="FCF7F5"/>
                  </a:solidFill>
                  <a:latin typeface="Cosmic Octo Medium"/>
                  <a:ea typeface="Cosmic Octo Medium"/>
                  <a:cs typeface="Cosmic Octo Medium"/>
                  <a:sym typeface="Cosmic Octo Medium"/>
                </a:rPr>
                <a:t>04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-3233871" y="344969"/>
            <a:ext cx="9084880" cy="2180371"/>
          </a:xfrm>
          <a:custGeom>
            <a:avLst/>
            <a:gdLst/>
            <a:ahLst/>
            <a:cxnLst/>
            <a:rect r="r" b="b" t="t" l="l"/>
            <a:pathLst>
              <a:path h="2180371" w="9084880">
                <a:moveTo>
                  <a:pt x="0" y="0"/>
                </a:moveTo>
                <a:lnTo>
                  <a:pt x="9084880" y="0"/>
                </a:lnTo>
                <a:lnTo>
                  <a:pt x="9084880" y="2180371"/>
                </a:lnTo>
                <a:lnTo>
                  <a:pt x="0" y="21803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21125" y="-57150"/>
            <a:ext cx="2867025" cy="11001375"/>
            <a:chOff x="0" y="0"/>
            <a:chExt cx="3822700" cy="1466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22700" cy="14668500"/>
            </a:xfrm>
            <a:custGeom>
              <a:avLst/>
              <a:gdLst/>
              <a:ahLst/>
              <a:cxnLst/>
              <a:rect r="r" b="b" t="t" l="l"/>
              <a:pathLst>
                <a:path h="14668500" w="3822700">
                  <a:moveTo>
                    <a:pt x="0" y="0"/>
                  </a:moveTo>
                  <a:lnTo>
                    <a:pt x="3822700" y="0"/>
                  </a:lnTo>
                  <a:lnTo>
                    <a:pt x="3822700" y="14668500"/>
                  </a:lnTo>
                  <a:lnTo>
                    <a:pt x="0" y="14668500"/>
                  </a:lnTo>
                  <a:close/>
                </a:path>
              </a:pathLst>
            </a:custGeom>
            <a:solidFill>
              <a:srgbClr val="53456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822700" cy="1470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30620" y="3415488"/>
            <a:ext cx="6633529" cy="5301812"/>
            <a:chOff x="0" y="0"/>
            <a:chExt cx="1140530" cy="91156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40530" cy="911563"/>
            </a:xfrm>
            <a:custGeom>
              <a:avLst/>
              <a:gdLst/>
              <a:ahLst/>
              <a:cxnLst/>
              <a:rect r="r" b="b" t="t" l="l"/>
              <a:pathLst>
                <a:path h="911563" w="1140530">
                  <a:moveTo>
                    <a:pt x="23342" y="0"/>
                  </a:moveTo>
                  <a:lnTo>
                    <a:pt x="1117189" y="0"/>
                  </a:lnTo>
                  <a:cubicBezTo>
                    <a:pt x="1123379" y="0"/>
                    <a:pt x="1129316" y="2459"/>
                    <a:pt x="1133694" y="6837"/>
                  </a:cubicBezTo>
                  <a:cubicBezTo>
                    <a:pt x="1138071" y="11214"/>
                    <a:pt x="1140530" y="17151"/>
                    <a:pt x="1140530" y="23342"/>
                  </a:cubicBezTo>
                  <a:lnTo>
                    <a:pt x="1140530" y="888221"/>
                  </a:lnTo>
                  <a:cubicBezTo>
                    <a:pt x="1140530" y="894412"/>
                    <a:pt x="1138071" y="900349"/>
                    <a:pt x="1133694" y="904726"/>
                  </a:cubicBezTo>
                  <a:cubicBezTo>
                    <a:pt x="1129316" y="909104"/>
                    <a:pt x="1123379" y="911563"/>
                    <a:pt x="1117189" y="911563"/>
                  </a:cubicBezTo>
                  <a:lnTo>
                    <a:pt x="23342" y="911563"/>
                  </a:lnTo>
                  <a:cubicBezTo>
                    <a:pt x="17151" y="911563"/>
                    <a:pt x="11214" y="909104"/>
                    <a:pt x="6837" y="904726"/>
                  </a:cubicBezTo>
                  <a:cubicBezTo>
                    <a:pt x="2459" y="900349"/>
                    <a:pt x="0" y="894412"/>
                    <a:pt x="0" y="888221"/>
                  </a:cubicBezTo>
                  <a:lnTo>
                    <a:pt x="0" y="23342"/>
                  </a:lnTo>
                  <a:cubicBezTo>
                    <a:pt x="0" y="17151"/>
                    <a:pt x="2459" y="11214"/>
                    <a:pt x="6837" y="6837"/>
                  </a:cubicBezTo>
                  <a:cubicBezTo>
                    <a:pt x="11214" y="2459"/>
                    <a:pt x="17151" y="0"/>
                    <a:pt x="23342" y="0"/>
                  </a:cubicBezTo>
                  <a:close/>
                </a:path>
              </a:pathLst>
            </a:custGeom>
            <a:solidFill>
              <a:srgbClr val="EECAC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40530" cy="949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053805" y="3130461"/>
            <a:ext cx="5871866" cy="5871866"/>
          </a:xfrm>
          <a:custGeom>
            <a:avLst/>
            <a:gdLst/>
            <a:ahLst/>
            <a:cxnLst/>
            <a:rect r="r" b="b" t="t" l="l"/>
            <a:pathLst>
              <a:path h="5871866" w="5871866">
                <a:moveTo>
                  <a:pt x="0" y="0"/>
                </a:moveTo>
                <a:lnTo>
                  <a:pt x="5871865" y="0"/>
                </a:lnTo>
                <a:lnTo>
                  <a:pt x="5871865" y="5871866"/>
                </a:lnTo>
                <a:lnTo>
                  <a:pt x="0" y="58718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86095" y="1385888"/>
            <a:ext cx="14657376" cy="80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9"/>
              </a:lnSpc>
            </a:pPr>
            <a:r>
              <a:rPr lang="en-US" sz="6099">
                <a:solidFill>
                  <a:srgbClr val="F47575"/>
                </a:solidFill>
                <a:latin typeface="Paytone One"/>
                <a:ea typeface="Paytone One"/>
                <a:cs typeface="Paytone One"/>
                <a:sym typeface="Paytone One"/>
              </a:rPr>
              <a:t>Game Development &amp; Level Theming</a:t>
            </a:r>
          </a:p>
        </p:txBody>
      </p:sp>
      <p:sp>
        <p:nvSpPr>
          <p:cNvPr name="TextBox 10" id="10"/>
          <p:cNvSpPr txBox="true"/>
          <p:nvPr/>
        </p:nvSpPr>
        <p:spPr>
          <a:xfrm rot="-5400000">
            <a:off x="16734810" y="8509973"/>
            <a:ext cx="1677629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Group 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14585" y="3805721"/>
            <a:ext cx="6265600" cy="4864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9" indent="-334645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Abstract Factory:</a:t>
            </a:r>
          </a:p>
          <a:p>
            <a:pPr algn="l" marL="1338579" indent="-446193" lvl="2">
              <a:lnSpc>
                <a:spcPts val="4339"/>
              </a:lnSpc>
              <a:buFont typeface="Arial"/>
              <a:buChar char="⚬"/>
            </a:pPr>
            <a:r>
              <a:rPr lang="en-US" b="true" sz="3099">
                <a:solidFill>
                  <a:srgbClr val="534569"/>
                </a:solidFill>
                <a:latin typeface="Pattanakarn Condensed Bold"/>
                <a:ea typeface="Pattanakarn Condensed Bold"/>
                <a:cs typeface="Pattanakarn Condensed Bold"/>
                <a:sym typeface="Pattanakarn Condensed Bold"/>
              </a:rPr>
              <a:t>Biome</a:t>
            </a:r>
            <a:r>
              <a:rPr lang="en-US" b="true" sz="3099">
                <a:solidFill>
                  <a:srgbClr val="534569"/>
                </a:solidFill>
                <a:latin typeface="Pattanakarn Condensed Bold"/>
                <a:ea typeface="Pattanakarn Condensed Bold"/>
                <a:cs typeface="Pattanakarn Condensed Bold"/>
                <a:sym typeface="Pattanakarn Condensed Bold"/>
              </a:rPr>
              <a:t>Factory</a:t>
            </a:r>
          </a:p>
          <a:p>
            <a:pPr algn="l" marL="669289" indent="-334645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Products: </a:t>
            </a:r>
          </a:p>
          <a:p>
            <a:pPr algn="l" marL="1338579" indent="-446193" lvl="2">
              <a:lnSpc>
                <a:spcPts val="4339"/>
              </a:lnSpc>
              <a:buFont typeface="Arial"/>
              <a:buChar char="⚬"/>
            </a:pPr>
            <a:r>
              <a:rPr lang="en-US" b="true" sz="3099">
                <a:solidFill>
                  <a:srgbClr val="534569"/>
                </a:solidFill>
                <a:latin typeface="Pattanakarn Condensed Bold"/>
                <a:ea typeface="Pattanakarn Condensed Bold"/>
                <a:cs typeface="Pattanakarn Condensed Bold"/>
                <a:sym typeface="Pattanakarn Condensed Bold"/>
              </a:rPr>
              <a:t>Enemy</a:t>
            </a:r>
          </a:p>
          <a:p>
            <a:pPr algn="l" marL="1338579" indent="-446193" lvl="2">
              <a:lnSpc>
                <a:spcPts val="4339"/>
              </a:lnSpc>
              <a:buFont typeface="Arial"/>
              <a:buChar char="⚬"/>
            </a:pPr>
            <a:r>
              <a:rPr lang="en-US" b="true" sz="3099">
                <a:solidFill>
                  <a:srgbClr val="534569"/>
                </a:solidFill>
                <a:latin typeface="Pattanakarn Condensed Bold"/>
                <a:ea typeface="Pattanakarn Condensed Bold"/>
                <a:cs typeface="Pattanakarn Condensed Bold"/>
                <a:sym typeface="Pattanakarn Condensed Bold"/>
              </a:rPr>
              <a:t>Weapon</a:t>
            </a:r>
          </a:p>
          <a:p>
            <a:pPr algn="l" marL="669289" indent="-334645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Concrete Factories:</a:t>
            </a:r>
          </a:p>
          <a:p>
            <a:pPr algn="l" marL="1338579" indent="-446193" lvl="2">
              <a:lnSpc>
                <a:spcPts val="4339"/>
              </a:lnSpc>
              <a:buFont typeface="Arial"/>
              <a:buChar char="⚬"/>
            </a:pPr>
            <a:r>
              <a:rPr lang="en-US" b="true" sz="3099">
                <a:solidFill>
                  <a:srgbClr val="534569"/>
                </a:solidFill>
                <a:latin typeface="Pattanakarn Condensed Bold"/>
                <a:ea typeface="Pattanakarn Condensed Bold"/>
                <a:cs typeface="Pattanakarn Condensed Bold"/>
                <a:sym typeface="Pattanakarn Condensed Bold"/>
              </a:rPr>
              <a:t>IceFactory</a:t>
            </a:r>
          </a:p>
          <a:p>
            <a:pPr algn="l" marL="1338579" indent="-446193" lvl="2">
              <a:lnSpc>
                <a:spcPts val="4339"/>
              </a:lnSpc>
              <a:buFont typeface="Arial"/>
              <a:buChar char="⚬"/>
            </a:pPr>
            <a:r>
              <a:rPr lang="en-US" b="true" sz="3099">
                <a:solidFill>
                  <a:srgbClr val="534569"/>
                </a:solidFill>
                <a:latin typeface="Pattanakarn Condensed Bold"/>
                <a:ea typeface="Pattanakarn Condensed Bold"/>
                <a:cs typeface="Pattanakarn Condensed Bold"/>
                <a:sym typeface="Pattanakarn Condensed Bold"/>
              </a:rPr>
              <a:t>NetherFactory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91935" y="-3384213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35778" y="-3384213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91935" y="5143500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35778" y="5143500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622840" y="-52947"/>
            <a:ext cx="2864146" cy="10995720"/>
            <a:chOff x="0" y="0"/>
            <a:chExt cx="754343" cy="28959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4343" cy="2895992"/>
            </a:xfrm>
            <a:custGeom>
              <a:avLst/>
              <a:gdLst/>
              <a:ahLst/>
              <a:cxnLst/>
              <a:rect r="r" b="b" t="t" l="l"/>
              <a:pathLst>
                <a:path h="2895992" w="754343">
                  <a:moveTo>
                    <a:pt x="0" y="0"/>
                  </a:moveTo>
                  <a:lnTo>
                    <a:pt x="754343" y="0"/>
                  </a:lnTo>
                  <a:lnTo>
                    <a:pt x="754343" y="2895992"/>
                  </a:lnTo>
                  <a:lnTo>
                    <a:pt x="0" y="2895992"/>
                  </a:lnTo>
                  <a:close/>
                </a:path>
              </a:pathLst>
            </a:custGeom>
            <a:solidFill>
              <a:srgbClr val="53456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54343" cy="2934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400000">
            <a:off x="17226417" y="1260159"/>
            <a:ext cx="487450" cy="281835"/>
          </a:xfrm>
          <a:custGeom>
            <a:avLst/>
            <a:gdLst/>
            <a:ahLst/>
            <a:cxnLst/>
            <a:rect r="r" b="b" t="t" l="l"/>
            <a:pathLst>
              <a:path h="281835" w="487450">
                <a:moveTo>
                  <a:pt x="0" y="0"/>
                </a:moveTo>
                <a:lnTo>
                  <a:pt x="487451" y="0"/>
                </a:lnTo>
                <a:lnTo>
                  <a:pt x="487451" y="281835"/>
                </a:lnTo>
                <a:lnTo>
                  <a:pt x="0" y="2818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-5400000">
            <a:off x="15544399" y="7302141"/>
            <a:ext cx="381338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117" b="true">
                <a:solidFill>
                  <a:srgbClr val="FCF7F5"/>
                </a:solidFill>
                <a:latin typeface="Pattanakarn Condensed Medium"/>
                <a:ea typeface="Pattanakarn Condensed Medium"/>
                <a:cs typeface="Pattanakarn Condensed Medium"/>
                <a:sym typeface="Pattanakarn Condensed Medium"/>
              </a:rPr>
              <a:t>Group 02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8700" y="3389797"/>
            <a:ext cx="8115300" cy="3957127"/>
            <a:chOff x="0" y="0"/>
            <a:chExt cx="2137363" cy="104220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37363" cy="1042206"/>
            </a:xfrm>
            <a:custGeom>
              <a:avLst/>
              <a:gdLst/>
              <a:ahLst/>
              <a:cxnLst/>
              <a:rect r="r" b="b" t="t" l="l"/>
              <a:pathLst>
                <a:path h="1042206" w="2137363">
                  <a:moveTo>
                    <a:pt x="19080" y="0"/>
                  </a:moveTo>
                  <a:lnTo>
                    <a:pt x="2118283" y="0"/>
                  </a:lnTo>
                  <a:cubicBezTo>
                    <a:pt x="2123343" y="0"/>
                    <a:pt x="2128196" y="2010"/>
                    <a:pt x="2131775" y="5588"/>
                  </a:cubicBezTo>
                  <a:cubicBezTo>
                    <a:pt x="2135353" y="9167"/>
                    <a:pt x="2137363" y="14020"/>
                    <a:pt x="2137363" y="19080"/>
                  </a:cubicBezTo>
                  <a:lnTo>
                    <a:pt x="2137363" y="1023127"/>
                  </a:lnTo>
                  <a:cubicBezTo>
                    <a:pt x="2137363" y="1033664"/>
                    <a:pt x="2128821" y="1042206"/>
                    <a:pt x="2118283" y="1042206"/>
                  </a:cubicBezTo>
                  <a:lnTo>
                    <a:pt x="19080" y="1042206"/>
                  </a:lnTo>
                  <a:cubicBezTo>
                    <a:pt x="8542" y="1042206"/>
                    <a:pt x="0" y="1033664"/>
                    <a:pt x="0" y="1023127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EECAC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137363" cy="1080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1207529" y="1028700"/>
            <a:ext cx="4063277" cy="9632770"/>
          </a:xfrm>
          <a:custGeom>
            <a:avLst/>
            <a:gdLst/>
            <a:ahLst/>
            <a:cxnLst/>
            <a:rect r="r" b="b" t="t" l="l"/>
            <a:pathLst>
              <a:path h="9632770" w="4063277">
                <a:moveTo>
                  <a:pt x="0" y="0"/>
                </a:moveTo>
                <a:lnTo>
                  <a:pt x="4063277" y="0"/>
                </a:lnTo>
                <a:lnTo>
                  <a:pt x="4063277" y="9632770"/>
                </a:lnTo>
                <a:lnTo>
                  <a:pt x="0" y="96327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689610" y="5169852"/>
            <a:ext cx="6546353" cy="154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99"/>
              </a:lnSpc>
            </a:pPr>
            <a:r>
              <a:rPr lang="en-US" b="true" sz="9999" spc="-379">
                <a:solidFill>
                  <a:srgbClr val="534569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QuizESS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28700" y="8211381"/>
            <a:ext cx="8115300" cy="643511"/>
            <a:chOff x="0" y="0"/>
            <a:chExt cx="2137363" cy="1694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7363" cy="169484"/>
            </a:xfrm>
            <a:custGeom>
              <a:avLst/>
              <a:gdLst/>
              <a:ahLst/>
              <a:cxnLst/>
              <a:rect r="r" b="b" t="t" l="l"/>
              <a:pathLst>
                <a:path h="169484" w="2137363">
                  <a:moveTo>
                    <a:pt x="19080" y="0"/>
                  </a:moveTo>
                  <a:lnTo>
                    <a:pt x="2118283" y="0"/>
                  </a:lnTo>
                  <a:cubicBezTo>
                    <a:pt x="2123343" y="0"/>
                    <a:pt x="2128196" y="2010"/>
                    <a:pt x="2131775" y="5588"/>
                  </a:cubicBezTo>
                  <a:cubicBezTo>
                    <a:pt x="2135353" y="9167"/>
                    <a:pt x="2137363" y="14020"/>
                    <a:pt x="2137363" y="19080"/>
                  </a:cubicBezTo>
                  <a:lnTo>
                    <a:pt x="2137363" y="150405"/>
                  </a:lnTo>
                  <a:cubicBezTo>
                    <a:pt x="2137363" y="160942"/>
                    <a:pt x="2128821" y="169484"/>
                    <a:pt x="2118283" y="169484"/>
                  </a:cubicBezTo>
                  <a:lnTo>
                    <a:pt x="19080" y="169484"/>
                  </a:lnTo>
                  <a:cubicBezTo>
                    <a:pt x="8542" y="169484"/>
                    <a:pt x="0" y="160942"/>
                    <a:pt x="0" y="150405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7867B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137363" cy="2075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591499" y="8360509"/>
            <a:ext cx="3494851" cy="30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95"/>
              </a:lnSpc>
              <a:spcBef>
                <a:spcPct val="0"/>
              </a:spcBef>
            </a:pPr>
            <a:r>
              <a:rPr lang="en-US" b="true" sz="1782">
                <a:solidFill>
                  <a:srgbClr val="FCF7F5"/>
                </a:solidFill>
                <a:latin typeface="Pattanakarn Condensed Semi-Bold"/>
                <a:ea typeface="Pattanakarn Condensed Semi-Bold"/>
                <a:cs typeface="Pattanakarn Condensed Semi-Bold"/>
                <a:sym typeface="Pattanakarn Condensed Semi-Bold"/>
              </a:rPr>
              <a:t>Learn More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8023977" y="8398609"/>
            <a:ext cx="557224" cy="263415"/>
          </a:xfrm>
          <a:custGeom>
            <a:avLst/>
            <a:gdLst/>
            <a:ahLst/>
            <a:cxnLst/>
            <a:rect r="r" b="b" t="t" l="l"/>
            <a:pathLst>
              <a:path h="263415" w="557224">
                <a:moveTo>
                  <a:pt x="0" y="0"/>
                </a:moveTo>
                <a:lnTo>
                  <a:pt x="557224" y="0"/>
                </a:lnTo>
                <a:lnTo>
                  <a:pt x="557224" y="263415"/>
                </a:lnTo>
                <a:lnTo>
                  <a:pt x="0" y="2634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689610" y="3744679"/>
            <a:ext cx="2502168" cy="1160401"/>
            <a:chOff x="0" y="0"/>
            <a:chExt cx="3336224" cy="1547202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3336224" cy="1547202"/>
              <a:chOff x="0" y="0"/>
              <a:chExt cx="409303" cy="189818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09303" cy="189818"/>
              </a:xfrm>
              <a:custGeom>
                <a:avLst/>
                <a:gdLst/>
                <a:ahLst/>
                <a:cxnLst/>
                <a:rect r="r" b="b" t="t" l="l"/>
                <a:pathLst>
                  <a:path h="189818" w="409303">
                    <a:moveTo>
                      <a:pt x="94909" y="0"/>
                    </a:moveTo>
                    <a:lnTo>
                      <a:pt x="314394" y="0"/>
                    </a:lnTo>
                    <a:cubicBezTo>
                      <a:pt x="339566" y="0"/>
                      <a:pt x="363706" y="9999"/>
                      <a:pt x="381505" y="27798"/>
                    </a:cubicBezTo>
                    <a:cubicBezTo>
                      <a:pt x="399304" y="45597"/>
                      <a:pt x="409303" y="69738"/>
                      <a:pt x="409303" y="94909"/>
                    </a:cubicBezTo>
                    <a:lnTo>
                      <a:pt x="409303" y="94909"/>
                    </a:lnTo>
                    <a:cubicBezTo>
                      <a:pt x="409303" y="120080"/>
                      <a:pt x="399304" y="144221"/>
                      <a:pt x="381505" y="162020"/>
                    </a:cubicBezTo>
                    <a:cubicBezTo>
                      <a:pt x="363706" y="179819"/>
                      <a:pt x="339566" y="189818"/>
                      <a:pt x="314394" y="189818"/>
                    </a:cubicBezTo>
                    <a:lnTo>
                      <a:pt x="94909" y="189818"/>
                    </a:lnTo>
                    <a:cubicBezTo>
                      <a:pt x="69738" y="189818"/>
                      <a:pt x="45597" y="179819"/>
                      <a:pt x="27798" y="162020"/>
                    </a:cubicBezTo>
                    <a:cubicBezTo>
                      <a:pt x="9999" y="144221"/>
                      <a:pt x="0" y="120080"/>
                      <a:pt x="0" y="94909"/>
                    </a:cubicBezTo>
                    <a:lnTo>
                      <a:pt x="0" y="94909"/>
                    </a:lnTo>
                    <a:cubicBezTo>
                      <a:pt x="0" y="69738"/>
                      <a:pt x="9999" y="45597"/>
                      <a:pt x="27798" y="27798"/>
                    </a:cubicBezTo>
                    <a:cubicBezTo>
                      <a:pt x="45597" y="9999"/>
                      <a:pt x="69738" y="0"/>
                      <a:pt x="94909" y="0"/>
                    </a:cubicBezTo>
                    <a:close/>
                  </a:path>
                </a:pathLst>
              </a:custGeom>
              <a:solidFill>
                <a:srgbClr val="7867B4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409303" cy="2279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307194" y="139236"/>
              <a:ext cx="2721835" cy="12401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320"/>
                </a:lnSpc>
              </a:pPr>
              <a:r>
                <a:rPr lang="en-US" b="true" sz="6000" spc="-228">
                  <a:solidFill>
                    <a:srgbClr val="FCF7F5"/>
                  </a:solidFill>
                  <a:latin typeface="Cosmic Octo Medium"/>
                  <a:ea typeface="Cosmic Octo Medium"/>
                  <a:cs typeface="Cosmic Octo Medium"/>
                  <a:sym typeface="Cosmic Octo Medium"/>
                </a:rPr>
                <a:t>05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-3233871" y="344969"/>
            <a:ext cx="9084880" cy="2180371"/>
          </a:xfrm>
          <a:custGeom>
            <a:avLst/>
            <a:gdLst/>
            <a:ahLst/>
            <a:cxnLst/>
            <a:rect r="r" b="b" t="t" l="l"/>
            <a:pathLst>
              <a:path h="2180371" w="9084880">
                <a:moveTo>
                  <a:pt x="0" y="0"/>
                </a:moveTo>
                <a:lnTo>
                  <a:pt x="9084880" y="0"/>
                </a:lnTo>
                <a:lnTo>
                  <a:pt x="9084880" y="2180371"/>
                </a:lnTo>
                <a:lnTo>
                  <a:pt x="0" y="21803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FC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6095" y="1000125"/>
            <a:ext cx="14657376" cy="157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9"/>
              </a:lnSpc>
            </a:pPr>
            <a:r>
              <a:rPr lang="en-US" sz="6099">
                <a:solidFill>
                  <a:srgbClr val="F47575"/>
                </a:solidFill>
                <a:latin typeface="Paytone One"/>
                <a:ea typeface="Paytone One"/>
                <a:cs typeface="Paytone One"/>
                <a:sym typeface="Paytone One"/>
              </a:rPr>
              <a:t>1.What is the main</a:t>
            </a:r>
            <a:r>
              <a:rPr lang="en-US" sz="6099">
                <a:solidFill>
                  <a:srgbClr val="F47575"/>
                </a:solidFill>
                <a:latin typeface="Paytone One"/>
                <a:ea typeface="Paytone One"/>
                <a:cs typeface="Paytone One"/>
                <a:sym typeface="Paytone One"/>
              </a:rPr>
              <a:t> purpose of the Abstract Factory Pattern?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86095" y="3914294"/>
            <a:ext cx="7429500" cy="1844756"/>
            <a:chOff x="0" y="0"/>
            <a:chExt cx="9906000" cy="2459675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906000" cy="2459675"/>
              <a:chOff x="0" y="0"/>
              <a:chExt cx="9906000" cy="2459675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9906000" cy="2459675"/>
              </a:xfrm>
              <a:custGeom>
                <a:avLst/>
                <a:gdLst/>
                <a:ahLst/>
                <a:cxnLst/>
                <a:rect r="r" b="b" t="t" l="l"/>
                <a:pathLst>
                  <a:path h="2459675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110123"/>
                      <a:pt x="9906000" y="245968"/>
                    </a:cubicBezTo>
                    <a:lnTo>
                      <a:pt x="9906000" y="2213708"/>
                    </a:lnTo>
                    <a:cubicBezTo>
                      <a:pt x="9906000" y="2349552"/>
                      <a:pt x="9792281" y="2459675"/>
                      <a:pt x="9652000" y="2459675"/>
                    </a:cubicBezTo>
                    <a:lnTo>
                      <a:pt x="254000" y="2459675"/>
                    </a:lnTo>
                    <a:cubicBezTo>
                      <a:pt x="113720" y="2459675"/>
                      <a:pt x="0" y="2349552"/>
                      <a:pt x="0" y="2213708"/>
                    </a:cubicBezTo>
                    <a:lnTo>
                      <a:pt x="0" y="245968"/>
                    </a:lnTo>
                    <a:cubicBezTo>
                      <a:pt x="0" y="110123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9906000" cy="2497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685800" y="889901"/>
              <a:ext cx="85344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A. Ensure a class has only one instance.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621125" y="-57150"/>
            <a:ext cx="2867025" cy="11001375"/>
            <a:chOff x="0" y="0"/>
            <a:chExt cx="3822700" cy="1466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22700" cy="14668500"/>
            </a:xfrm>
            <a:custGeom>
              <a:avLst/>
              <a:gdLst/>
              <a:ahLst/>
              <a:cxnLst/>
              <a:rect r="r" b="b" t="t" l="l"/>
              <a:pathLst>
                <a:path h="14668500" w="3822700">
                  <a:moveTo>
                    <a:pt x="0" y="0"/>
                  </a:moveTo>
                  <a:lnTo>
                    <a:pt x="3822700" y="0"/>
                  </a:lnTo>
                  <a:lnTo>
                    <a:pt x="3822700" y="14668500"/>
                  </a:lnTo>
                  <a:lnTo>
                    <a:pt x="0" y="14668500"/>
                  </a:lnTo>
                  <a:close/>
                </a:path>
              </a:pathLst>
            </a:custGeom>
            <a:solidFill>
              <a:srgbClr val="53456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822700" cy="1470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-5400000">
            <a:off x="16734810" y="8509973"/>
            <a:ext cx="1677629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Group 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703610" y="3946353"/>
            <a:ext cx="7429500" cy="1811718"/>
            <a:chOff x="0" y="0"/>
            <a:chExt cx="9906000" cy="2415625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9906000" cy="2415625"/>
              <a:chOff x="0" y="0"/>
              <a:chExt cx="9906000" cy="2415625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9906000" cy="2415625"/>
              </a:xfrm>
              <a:custGeom>
                <a:avLst/>
                <a:gdLst/>
                <a:ahLst/>
                <a:cxnLst/>
                <a:rect r="r" b="b" t="t" l="l"/>
                <a:pathLst>
                  <a:path h="2415625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108151"/>
                      <a:pt x="9906000" y="241562"/>
                    </a:cubicBezTo>
                    <a:lnTo>
                      <a:pt x="9906000" y="2174062"/>
                    </a:lnTo>
                    <a:cubicBezTo>
                      <a:pt x="9906000" y="2307473"/>
                      <a:pt x="9792281" y="2415625"/>
                      <a:pt x="9652000" y="2415625"/>
                    </a:cubicBezTo>
                    <a:lnTo>
                      <a:pt x="254000" y="2415625"/>
                    </a:lnTo>
                    <a:cubicBezTo>
                      <a:pt x="113720" y="2415625"/>
                      <a:pt x="0" y="2307473"/>
                      <a:pt x="0" y="2174062"/>
                    </a:cubicBezTo>
                    <a:lnTo>
                      <a:pt x="0" y="241562"/>
                    </a:lnTo>
                    <a:cubicBezTo>
                      <a:pt x="0" y="108151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9906000" cy="24537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685800" y="516956"/>
              <a:ext cx="8534400" cy="12831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B</a:t>
              </a: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. Create families of related objects without specifying their concrete classes.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86095" y="6863777"/>
            <a:ext cx="7429500" cy="1844756"/>
            <a:chOff x="0" y="0"/>
            <a:chExt cx="9906000" cy="2459675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9906000" cy="2459675"/>
              <a:chOff x="0" y="0"/>
              <a:chExt cx="9906000" cy="245967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9906000" cy="2459675"/>
              </a:xfrm>
              <a:custGeom>
                <a:avLst/>
                <a:gdLst/>
                <a:ahLst/>
                <a:cxnLst/>
                <a:rect r="r" b="b" t="t" l="l"/>
                <a:pathLst>
                  <a:path h="2459675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110123"/>
                      <a:pt x="9906000" y="245968"/>
                    </a:cubicBezTo>
                    <a:lnTo>
                      <a:pt x="9906000" y="2213708"/>
                    </a:lnTo>
                    <a:cubicBezTo>
                      <a:pt x="9906000" y="2349552"/>
                      <a:pt x="9792281" y="2459675"/>
                      <a:pt x="9652000" y="2459675"/>
                    </a:cubicBezTo>
                    <a:lnTo>
                      <a:pt x="254000" y="2459675"/>
                    </a:lnTo>
                    <a:cubicBezTo>
                      <a:pt x="113720" y="2459675"/>
                      <a:pt x="0" y="2349552"/>
                      <a:pt x="0" y="2213708"/>
                    </a:cubicBezTo>
                    <a:lnTo>
                      <a:pt x="0" y="245968"/>
                    </a:lnTo>
                    <a:cubicBezTo>
                      <a:pt x="0" y="110123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9906000" cy="2497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685800" y="889901"/>
              <a:ext cx="85344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</a:t>
              </a: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. Separate complex object construction.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703610" y="6863777"/>
            <a:ext cx="7429500" cy="1844756"/>
            <a:chOff x="0" y="0"/>
            <a:chExt cx="9906000" cy="2459675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9906000" cy="2459675"/>
              <a:chOff x="0" y="0"/>
              <a:chExt cx="9906000" cy="2459675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9906000" cy="2459675"/>
              </a:xfrm>
              <a:custGeom>
                <a:avLst/>
                <a:gdLst/>
                <a:ahLst/>
                <a:cxnLst/>
                <a:rect r="r" b="b" t="t" l="l"/>
                <a:pathLst>
                  <a:path h="2459675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110123"/>
                      <a:pt x="9906000" y="245968"/>
                    </a:cubicBezTo>
                    <a:lnTo>
                      <a:pt x="9906000" y="2213708"/>
                    </a:lnTo>
                    <a:cubicBezTo>
                      <a:pt x="9906000" y="2349552"/>
                      <a:pt x="9792281" y="2459675"/>
                      <a:pt x="9652000" y="2459675"/>
                    </a:cubicBezTo>
                    <a:lnTo>
                      <a:pt x="254000" y="2459675"/>
                    </a:lnTo>
                    <a:cubicBezTo>
                      <a:pt x="113720" y="2459675"/>
                      <a:pt x="0" y="2349552"/>
                      <a:pt x="0" y="2213708"/>
                    </a:cubicBezTo>
                    <a:lnTo>
                      <a:pt x="0" y="245968"/>
                    </a:lnTo>
                    <a:cubicBezTo>
                      <a:pt x="0" y="110123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9906000" cy="2497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685800" y="889901"/>
              <a:ext cx="85344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D</a:t>
              </a: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. Change an object’s behavior.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FC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6095" y="3914294"/>
            <a:ext cx="7429500" cy="1844756"/>
            <a:chOff x="0" y="0"/>
            <a:chExt cx="9906000" cy="245967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9906000" cy="2459675"/>
              <a:chOff x="0" y="0"/>
              <a:chExt cx="9906000" cy="245967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9906000" cy="2459675"/>
              </a:xfrm>
              <a:custGeom>
                <a:avLst/>
                <a:gdLst/>
                <a:ahLst/>
                <a:cxnLst/>
                <a:rect r="r" b="b" t="t" l="l"/>
                <a:pathLst>
                  <a:path h="2459675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110123"/>
                      <a:pt x="9906000" y="245968"/>
                    </a:cubicBezTo>
                    <a:lnTo>
                      <a:pt x="9906000" y="2213708"/>
                    </a:lnTo>
                    <a:cubicBezTo>
                      <a:pt x="9906000" y="2349552"/>
                      <a:pt x="9792281" y="2459675"/>
                      <a:pt x="9652000" y="2459675"/>
                    </a:cubicBezTo>
                    <a:lnTo>
                      <a:pt x="254000" y="2459675"/>
                    </a:lnTo>
                    <a:cubicBezTo>
                      <a:pt x="113720" y="2459675"/>
                      <a:pt x="0" y="2349552"/>
                      <a:pt x="0" y="2213708"/>
                    </a:cubicBezTo>
                    <a:lnTo>
                      <a:pt x="0" y="245968"/>
                    </a:lnTo>
                    <a:cubicBezTo>
                      <a:pt x="0" y="110123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9906000" cy="2497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685800" y="889901"/>
              <a:ext cx="85344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A. Ensure a class has only one instance.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621125" y="-57150"/>
            <a:ext cx="2867025" cy="11001375"/>
            <a:chOff x="0" y="0"/>
            <a:chExt cx="3822700" cy="14668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22700" cy="14668500"/>
            </a:xfrm>
            <a:custGeom>
              <a:avLst/>
              <a:gdLst/>
              <a:ahLst/>
              <a:cxnLst/>
              <a:rect r="r" b="b" t="t" l="l"/>
              <a:pathLst>
                <a:path h="14668500" w="3822700">
                  <a:moveTo>
                    <a:pt x="0" y="0"/>
                  </a:moveTo>
                  <a:lnTo>
                    <a:pt x="3822700" y="0"/>
                  </a:lnTo>
                  <a:lnTo>
                    <a:pt x="3822700" y="14668500"/>
                  </a:lnTo>
                  <a:lnTo>
                    <a:pt x="0" y="14668500"/>
                  </a:lnTo>
                  <a:close/>
                </a:path>
              </a:pathLst>
            </a:custGeom>
            <a:solidFill>
              <a:srgbClr val="53456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822700" cy="1470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-5400000">
            <a:off x="16734810" y="8509973"/>
            <a:ext cx="1677629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Group 02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703610" y="3946353"/>
            <a:ext cx="7429500" cy="1811718"/>
            <a:chOff x="0" y="0"/>
            <a:chExt cx="9906000" cy="2415625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9906000" cy="2415625"/>
              <a:chOff x="0" y="0"/>
              <a:chExt cx="9906000" cy="241562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9906000" cy="2415625"/>
              </a:xfrm>
              <a:custGeom>
                <a:avLst/>
                <a:gdLst/>
                <a:ahLst/>
                <a:cxnLst/>
                <a:rect r="r" b="b" t="t" l="l"/>
                <a:pathLst>
                  <a:path h="2415625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108151"/>
                      <a:pt x="9906000" y="241562"/>
                    </a:cubicBezTo>
                    <a:lnTo>
                      <a:pt x="9906000" y="2174062"/>
                    </a:lnTo>
                    <a:cubicBezTo>
                      <a:pt x="9906000" y="2307473"/>
                      <a:pt x="9792281" y="2415625"/>
                      <a:pt x="9652000" y="2415625"/>
                    </a:cubicBezTo>
                    <a:lnTo>
                      <a:pt x="254000" y="2415625"/>
                    </a:lnTo>
                    <a:cubicBezTo>
                      <a:pt x="113720" y="2415625"/>
                      <a:pt x="0" y="2307473"/>
                      <a:pt x="0" y="2174062"/>
                    </a:cubicBezTo>
                    <a:lnTo>
                      <a:pt x="0" y="241562"/>
                    </a:lnTo>
                    <a:cubicBezTo>
                      <a:pt x="0" y="108151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9906000" cy="24537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685800" y="516956"/>
              <a:ext cx="8534400" cy="12831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FF5757"/>
                  </a:solidFill>
                  <a:latin typeface="Cabin Bold"/>
                  <a:ea typeface="Cabin Bold"/>
                  <a:cs typeface="Cabin Bold"/>
                  <a:sym typeface="Cabin Bold"/>
                </a:rPr>
                <a:t>B</a:t>
              </a:r>
              <a:r>
                <a:rPr lang="en-US" sz="2799" b="true">
                  <a:solidFill>
                    <a:srgbClr val="FF5757"/>
                  </a:solidFill>
                  <a:latin typeface="Cabin Bold"/>
                  <a:ea typeface="Cabin Bold"/>
                  <a:cs typeface="Cabin Bold"/>
                  <a:sym typeface="Cabin Bold"/>
                </a:rPr>
                <a:t>. Create families of related objects without specifying their concrete classes.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86095" y="6863777"/>
            <a:ext cx="7429500" cy="1844756"/>
            <a:chOff x="0" y="0"/>
            <a:chExt cx="9906000" cy="2459675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9906000" cy="2459675"/>
              <a:chOff x="0" y="0"/>
              <a:chExt cx="9906000" cy="245967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9906000" cy="2459675"/>
              </a:xfrm>
              <a:custGeom>
                <a:avLst/>
                <a:gdLst/>
                <a:ahLst/>
                <a:cxnLst/>
                <a:rect r="r" b="b" t="t" l="l"/>
                <a:pathLst>
                  <a:path h="2459675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110123"/>
                      <a:pt x="9906000" y="245968"/>
                    </a:cubicBezTo>
                    <a:lnTo>
                      <a:pt x="9906000" y="2213708"/>
                    </a:lnTo>
                    <a:cubicBezTo>
                      <a:pt x="9906000" y="2349552"/>
                      <a:pt x="9792281" y="2459675"/>
                      <a:pt x="9652000" y="2459675"/>
                    </a:cubicBezTo>
                    <a:lnTo>
                      <a:pt x="254000" y="2459675"/>
                    </a:lnTo>
                    <a:cubicBezTo>
                      <a:pt x="113720" y="2459675"/>
                      <a:pt x="0" y="2349552"/>
                      <a:pt x="0" y="2213708"/>
                    </a:cubicBezTo>
                    <a:lnTo>
                      <a:pt x="0" y="245968"/>
                    </a:lnTo>
                    <a:cubicBezTo>
                      <a:pt x="0" y="110123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9906000" cy="2497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685800" y="889901"/>
              <a:ext cx="85344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</a:t>
              </a: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. Separate complex object construction.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703610" y="6863777"/>
            <a:ext cx="7429500" cy="1844756"/>
            <a:chOff x="0" y="0"/>
            <a:chExt cx="9906000" cy="2459675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9906000" cy="2459675"/>
              <a:chOff x="0" y="0"/>
              <a:chExt cx="9906000" cy="2459675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9906000" cy="2459675"/>
              </a:xfrm>
              <a:custGeom>
                <a:avLst/>
                <a:gdLst/>
                <a:ahLst/>
                <a:cxnLst/>
                <a:rect r="r" b="b" t="t" l="l"/>
                <a:pathLst>
                  <a:path h="2459675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110123"/>
                      <a:pt x="9906000" y="245968"/>
                    </a:cubicBezTo>
                    <a:lnTo>
                      <a:pt x="9906000" y="2213708"/>
                    </a:lnTo>
                    <a:cubicBezTo>
                      <a:pt x="9906000" y="2349552"/>
                      <a:pt x="9792281" y="2459675"/>
                      <a:pt x="9652000" y="2459675"/>
                    </a:cubicBezTo>
                    <a:lnTo>
                      <a:pt x="254000" y="2459675"/>
                    </a:lnTo>
                    <a:cubicBezTo>
                      <a:pt x="113720" y="2459675"/>
                      <a:pt x="0" y="2349552"/>
                      <a:pt x="0" y="2213708"/>
                    </a:cubicBezTo>
                    <a:lnTo>
                      <a:pt x="0" y="245968"/>
                    </a:lnTo>
                    <a:cubicBezTo>
                      <a:pt x="0" y="110123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9906000" cy="2497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685800" y="889901"/>
              <a:ext cx="85344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D</a:t>
              </a: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. Change an object’s behavior.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786095" y="1000125"/>
            <a:ext cx="14657376" cy="157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9"/>
              </a:lnSpc>
            </a:pPr>
            <a:r>
              <a:rPr lang="en-US" sz="6099">
                <a:solidFill>
                  <a:srgbClr val="F47575"/>
                </a:solidFill>
                <a:latin typeface="Paytone One"/>
                <a:ea typeface="Paytone One"/>
                <a:cs typeface="Paytone One"/>
                <a:sym typeface="Paytone One"/>
              </a:rPr>
              <a:t>1.What is the main</a:t>
            </a:r>
            <a:r>
              <a:rPr lang="en-US" sz="6099">
                <a:solidFill>
                  <a:srgbClr val="F47575"/>
                </a:solidFill>
                <a:latin typeface="Paytone One"/>
                <a:ea typeface="Paytone One"/>
                <a:cs typeface="Paytone One"/>
                <a:sym typeface="Paytone One"/>
              </a:rPr>
              <a:t> purpose of the Abstract Factory Pattern?</a:t>
            </a:r>
          </a:p>
        </p:txBody>
      </p:sp>
    </p:spTree>
  </p:cSld>
  <p:clrMapOvr>
    <a:masterClrMapping/>
  </p:clrMapOvr>
  <p:transition spd="slow">
    <p:push dir="l"/>
  </p:transition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FC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6095" y="1000125"/>
            <a:ext cx="14657376" cy="157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9"/>
              </a:lnSpc>
            </a:pPr>
            <a:r>
              <a:rPr lang="en-US" sz="6099">
                <a:solidFill>
                  <a:srgbClr val="F47575"/>
                </a:solidFill>
                <a:latin typeface="Paytone One"/>
                <a:ea typeface="Paytone One"/>
                <a:cs typeface="Paytone One"/>
                <a:sym typeface="Paytone One"/>
              </a:rPr>
              <a:t>2.H</a:t>
            </a:r>
            <a:r>
              <a:rPr lang="en-US" sz="6099">
                <a:solidFill>
                  <a:srgbClr val="F47575"/>
                </a:solidFill>
                <a:latin typeface="Paytone One"/>
                <a:ea typeface="Paytone One"/>
                <a:cs typeface="Paytone One"/>
                <a:sym typeface="Paytone One"/>
              </a:rPr>
              <a:t>ow does Abstract Factory differ from Factory Method?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86095" y="3961892"/>
            <a:ext cx="7429500" cy="1796179"/>
            <a:chOff x="0" y="0"/>
            <a:chExt cx="9906000" cy="239490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906000" cy="2394906"/>
              <a:chOff x="0" y="0"/>
              <a:chExt cx="9906000" cy="239490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9906000" cy="2394906"/>
              </a:xfrm>
              <a:custGeom>
                <a:avLst/>
                <a:gdLst/>
                <a:ahLst/>
                <a:cxnLst/>
                <a:rect r="r" b="b" t="t" l="l"/>
                <a:pathLst>
                  <a:path h="2394906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107224"/>
                      <a:pt x="9906000" y="239491"/>
                    </a:cubicBezTo>
                    <a:lnTo>
                      <a:pt x="9906000" y="2155415"/>
                    </a:lnTo>
                    <a:cubicBezTo>
                      <a:pt x="9906000" y="2287682"/>
                      <a:pt x="9792281" y="2394906"/>
                      <a:pt x="9652000" y="2394906"/>
                    </a:cubicBezTo>
                    <a:lnTo>
                      <a:pt x="254000" y="2394906"/>
                    </a:lnTo>
                    <a:cubicBezTo>
                      <a:pt x="113720" y="2394906"/>
                      <a:pt x="0" y="2287682"/>
                      <a:pt x="0" y="2155415"/>
                    </a:cubicBezTo>
                    <a:lnTo>
                      <a:pt x="0" y="239491"/>
                    </a:lnTo>
                    <a:cubicBezTo>
                      <a:pt x="0" y="107224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9906000" cy="24330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685800" y="496237"/>
              <a:ext cx="8534400" cy="12831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A. Factory Method creates families; Abstract Factory creates single objects.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621125" y="-57150"/>
            <a:ext cx="2867025" cy="11001375"/>
            <a:chOff x="0" y="0"/>
            <a:chExt cx="3822700" cy="1466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22700" cy="14668500"/>
            </a:xfrm>
            <a:custGeom>
              <a:avLst/>
              <a:gdLst/>
              <a:ahLst/>
              <a:cxnLst/>
              <a:rect r="r" b="b" t="t" l="l"/>
              <a:pathLst>
                <a:path h="14668500" w="3822700">
                  <a:moveTo>
                    <a:pt x="0" y="0"/>
                  </a:moveTo>
                  <a:lnTo>
                    <a:pt x="3822700" y="0"/>
                  </a:lnTo>
                  <a:lnTo>
                    <a:pt x="3822700" y="14668500"/>
                  </a:lnTo>
                  <a:lnTo>
                    <a:pt x="0" y="14668500"/>
                  </a:lnTo>
                  <a:close/>
                </a:path>
              </a:pathLst>
            </a:custGeom>
            <a:solidFill>
              <a:srgbClr val="53456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822700" cy="1470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-5400000">
            <a:off x="16734810" y="8509973"/>
            <a:ext cx="1677629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Group 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703610" y="3946353"/>
            <a:ext cx="7429500" cy="1811718"/>
            <a:chOff x="0" y="0"/>
            <a:chExt cx="9906000" cy="2415625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9906000" cy="2415625"/>
              <a:chOff x="0" y="0"/>
              <a:chExt cx="9906000" cy="2415625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9906000" cy="2415625"/>
              </a:xfrm>
              <a:custGeom>
                <a:avLst/>
                <a:gdLst/>
                <a:ahLst/>
                <a:cxnLst/>
                <a:rect r="r" b="b" t="t" l="l"/>
                <a:pathLst>
                  <a:path h="2415625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108151"/>
                      <a:pt x="9906000" y="241562"/>
                    </a:cubicBezTo>
                    <a:lnTo>
                      <a:pt x="9906000" y="2174062"/>
                    </a:lnTo>
                    <a:cubicBezTo>
                      <a:pt x="9906000" y="2307473"/>
                      <a:pt x="9792281" y="2415625"/>
                      <a:pt x="9652000" y="2415625"/>
                    </a:cubicBezTo>
                    <a:lnTo>
                      <a:pt x="254000" y="2415625"/>
                    </a:lnTo>
                    <a:cubicBezTo>
                      <a:pt x="113720" y="2415625"/>
                      <a:pt x="0" y="2307473"/>
                      <a:pt x="0" y="2174062"/>
                    </a:cubicBezTo>
                    <a:lnTo>
                      <a:pt x="0" y="241562"/>
                    </a:lnTo>
                    <a:cubicBezTo>
                      <a:pt x="0" y="108151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9906000" cy="24537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685800" y="516956"/>
              <a:ext cx="8534400" cy="12831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B</a:t>
              </a: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. Abstract Factory uses inheritance; Factory Method uses composition.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86095" y="6865736"/>
            <a:ext cx="7429500" cy="1856377"/>
            <a:chOff x="0" y="0"/>
            <a:chExt cx="9906000" cy="247517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9906000" cy="2475170"/>
              <a:chOff x="0" y="0"/>
              <a:chExt cx="9906000" cy="247517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9906000" cy="2475170"/>
              </a:xfrm>
              <a:custGeom>
                <a:avLst/>
                <a:gdLst/>
                <a:ahLst/>
                <a:cxnLst/>
                <a:rect r="r" b="b" t="t" l="l"/>
                <a:pathLst>
                  <a:path h="2475170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110817"/>
                      <a:pt x="9906000" y="247517"/>
                    </a:cubicBezTo>
                    <a:lnTo>
                      <a:pt x="9906000" y="2227653"/>
                    </a:lnTo>
                    <a:cubicBezTo>
                      <a:pt x="9906000" y="2364353"/>
                      <a:pt x="9792281" y="2475170"/>
                      <a:pt x="9652000" y="2475170"/>
                    </a:cubicBezTo>
                    <a:lnTo>
                      <a:pt x="254000" y="2475170"/>
                    </a:lnTo>
                    <a:cubicBezTo>
                      <a:pt x="113720" y="2475170"/>
                      <a:pt x="0" y="2364353"/>
                      <a:pt x="0" y="2227653"/>
                    </a:cubicBezTo>
                    <a:lnTo>
                      <a:pt x="0" y="247517"/>
                    </a:lnTo>
                    <a:cubicBezTo>
                      <a:pt x="0" y="110817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9906000" cy="25132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685800" y="226889"/>
              <a:ext cx="8534400" cy="19435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</a:t>
              </a: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. Abstract Factory creates product families; Factory Method creates a single product type.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703610" y="6863777"/>
            <a:ext cx="7429500" cy="1844756"/>
            <a:chOff x="0" y="0"/>
            <a:chExt cx="9906000" cy="2459675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9906000" cy="2459675"/>
              <a:chOff x="0" y="0"/>
              <a:chExt cx="9906000" cy="2459675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9906000" cy="2459675"/>
              </a:xfrm>
              <a:custGeom>
                <a:avLst/>
                <a:gdLst/>
                <a:ahLst/>
                <a:cxnLst/>
                <a:rect r="r" b="b" t="t" l="l"/>
                <a:pathLst>
                  <a:path h="2459675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110123"/>
                      <a:pt x="9906000" y="245968"/>
                    </a:cubicBezTo>
                    <a:lnTo>
                      <a:pt x="9906000" y="2213708"/>
                    </a:lnTo>
                    <a:cubicBezTo>
                      <a:pt x="9906000" y="2349552"/>
                      <a:pt x="9792281" y="2459675"/>
                      <a:pt x="9652000" y="2459675"/>
                    </a:cubicBezTo>
                    <a:lnTo>
                      <a:pt x="254000" y="2459675"/>
                    </a:lnTo>
                    <a:cubicBezTo>
                      <a:pt x="113720" y="2459675"/>
                      <a:pt x="0" y="2349552"/>
                      <a:pt x="0" y="2213708"/>
                    </a:cubicBezTo>
                    <a:lnTo>
                      <a:pt x="0" y="245968"/>
                    </a:lnTo>
                    <a:cubicBezTo>
                      <a:pt x="0" y="110123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9906000" cy="2497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685800" y="889901"/>
              <a:ext cx="85344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D</a:t>
              </a: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. They are identical.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FC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6095" y="1000125"/>
            <a:ext cx="14657376" cy="157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9"/>
              </a:lnSpc>
            </a:pPr>
            <a:r>
              <a:rPr lang="en-US" sz="6099">
                <a:solidFill>
                  <a:srgbClr val="F47575"/>
                </a:solidFill>
                <a:latin typeface="Paytone One"/>
                <a:ea typeface="Paytone One"/>
                <a:cs typeface="Paytone One"/>
                <a:sym typeface="Paytone One"/>
              </a:rPr>
              <a:t>2.H</a:t>
            </a:r>
            <a:r>
              <a:rPr lang="en-US" sz="6099">
                <a:solidFill>
                  <a:srgbClr val="F47575"/>
                </a:solidFill>
                <a:latin typeface="Paytone One"/>
                <a:ea typeface="Paytone One"/>
                <a:cs typeface="Paytone One"/>
                <a:sym typeface="Paytone One"/>
              </a:rPr>
              <a:t>ow does Abstract Factory differ from Factory Method?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86095" y="3961892"/>
            <a:ext cx="7429500" cy="1796179"/>
            <a:chOff x="0" y="0"/>
            <a:chExt cx="9906000" cy="239490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906000" cy="2394906"/>
              <a:chOff x="0" y="0"/>
              <a:chExt cx="9906000" cy="239490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9906000" cy="2394906"/>
              </a:xfrm>
              <a:custGeom>
                <a:avLst/>
                <a:gdLst/>
                <a:ahLst/>
                <a:cxnLst/>
                <a:rect r="r" b="b" t="t" l="l"/>
                <a:pathLst>
                  <a:path h="2394906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107224"/>
                      <a:pt x="9906000" y="239491"/>
                    </a:cubicBezTo>
                    <a:lnTo>
                      <a:pt x="9906000" y="2155415"/>
                    </a:lnTo>
                    <a:cubicBezTo>
                      <a:pt x="9906000" y="2287682"/>
                      <a:pt x="9792281" y="2394906"/>
                      <a:pt x="9652000" y="2394906"/>
                    </a:cubicBezTo>
                    <a:lnTo>
                      <a:pt x="254000" y="2394906"/>
                    </a:lnTo>
                    <a:cubicBezTo>
                      <a:pt x="113720" y="2394906"/>
                      <a:pt x="0" y="2287682"/>
                      <a:pt x="0" y="2155415"/>
                    </a:cubicBezTo>
                    <a:lnTo>
                      <a:pt x="0" y="239491"/>
                    </a:lnTo>
                    <a:cubicBezTo>
                      <a:pt x="0" y="107224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9906000" cy="24330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685800" y="496237"/>
              <a:ext cx="8534400" cy="12831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A. Factory Method creates families; Abstract Factory creates single objects.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621125" y="-57150"/>
            <a:ext cx="2867025" cy="11001375"/>
            <a:chOff x="0" y="0"/>
            <a:chExt cx="3822700" cy="1466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22700" cy="14668500"/>
            </a:xfrm>
            <a:custGeom>
              <a:avLst/>
              <a:gdLst/>
              <a:ahLst/>
              <a:cxnLst/>
              <a:rect r="r" b="b" t="t" l="l"/>
              <a:pathLst>
                <a:path h="14668500" w="3822700">
                  <a:moveTo>
                    <a:pt x="0" y="0"/>
                  </a:moveTo>
                  <a:lnTo>
                    <a:pt x="3822700" y="0"/>
                  </a:lnTo>
                  <a:lnTo>
                    <a:pt x="3822700" y="14668500"/>
                  </a:lnTo>
                  <a:lnTo>
                    <a:pt x="0" y="14668500"/>
                  </a:lnTo>
                  <a:close/>
                </a:path>
              </a:pathLst>
            </a:custGeom>
            <a:solidFill>
              <a:srgbClr val="53456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822700" cy="1470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-5400000">
            <a:off x="16734810" y="8509973"/>
            <a:ext cx="1677629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Group 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703610" y="3946353"/>
            <a:ext cx="7429500" cy="1811718"/>
            <a:chOff x="0" y="0"/>
            <a:chExt cx="9906000" cy="2415625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9906000" cy="2415625"/>
              <a:chOff x="0" y="0"/>
              <a:chExt cx="9906000" cy="2415625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9906000" cy="2415625"/>
              </a:xfrm>
              <a:custGeom>
                <a:avLst/>
                <a:gdLst/>
                <a:ahLst/>
                <a:cxnLst/>
                <a:rect r="r" b="b" t="t" l="l"/>
                <a:pathLst>
                  <a:path h="2415625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108151"/>
                      <a:pt x="9906000" y="241562"/>
                    </a:cubicBezTo>
                    <a:lnTo>
                      <a:pt x="9906000" y="2174062"/>
                    </a:lnTo>
                    <a:cubicBezTo>
                      <a:pt x="9906000" y="2307473"/>
                      <a:pt x="9792281" y="2415625"/>
                      <a:pt x="9652000" y="2415625"/>
                    </a:cubicBezTo>
                    <a:lnTo>
                      <a:pt x="254000" y="2415625"/>
                    </a:lnTo>
                    <a:cubicBezTo>
                      <a:pt x="113720" y="2415625"/>
                      <a:pt x="0" y="2307473"/>
                      <a:pt x="0" y="2174062"/>
                    </a:cubicBezTo>
                    <a:lnTo>
                      <a:pt x="0" y="241562"/>
                    </a:lnTo>
                    <a:cubicBezTo>
                      <a:pt x="0" y="108151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9906000" cy="24537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685800" y="516956"/>
              <a:ext cx="8534400" cy="12831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B</a:t>
              </a: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. Abstract Factory uses inheritance; Factory Method uses composition.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86095" y="6865736"/>
            <a:ext cx="7429500" cy="1856377"/>
            <a:chOff x="0" y="0"/>
            <a:chExt cx="9906000" cy="247517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9906000" cy="2475170"/>
              <a:chOff x="0" y="0"/>
              <a:chExt cx="9906000" cy="247517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9906000" cy="2475170"/>
              </a:xfrm>
              <a:custGeom>
                <a:avLst/>
                <a:gdLst/>
                <a:ahLst/>
                <a:cxnLst/>
                <a:rect r="r" b="b" t="t" l="l"/>
                <a:pathLst>
                  <a:path h="2475170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110817"/>
                      <a:pt x="9906000" y="247517"/>
                    </a:cubicBezTo>
                    <a:lnTo>
                      <a:pt x="9906000" y="2227653"/>
                    </a:lnTo>
                    <a:cubicBezTo>
                      <a:pt x="9906000" y="2364353"/>
                      <a:pt x="9792281" y="2475170"/>
                      <a:pt x="9652000" y="2475170"/>
                    </a:cubicBezTo>
                    <a:lnTo>
                      <a:pt x="254000" y="2475170"/>
                    </a:lnTo>
                    <a:cubicBezTo>
                      <a:pt x="113720" y="2475170"/>
                      <a:pt x="0" y="2364353"/>
                      <a:pt x="0" y="2227653"/>
                    </a:cubicBezTo>
                    <a:lnTo>
                      <a:pt x="0" y="247517"/>
                    </a:lnTo>
                    <a:cubicBezTo>
                      <a:pt x="0" y="110817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9906000" cy="25132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685800" y="226889"/>
              <a:ext cx="8534400" cy="19435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FF5757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</a:t>
              </a:r>
              <a:r>
                <a:rPr lang="en-US" sz="2799" b="true">
                  <a:solidFill>
                    <a:srgbClr val="FF5757"/>
                  </a:solidFill>
                  <a:latin typeface="Cabin Bold"/>
                  <a:ea typeface="Cabin Bold"/>
                  <a:cs typeface="Cabin Bold"/>
                  <a:sym typeface="Cabin Bold"/>
                </a:rPr>
                <a:t>. Abstract Factory creates product families; Factory Method creates a single product type.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703610" y="6863777"/>
            <a:ext cx="7429500" cy="1844756"/>
            <a:chOff x="0" y="0"/>
            <a:chExt cx="9906000" cy="2459675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9906000" cy="2459675"/>
              <a:chOff x="0" y="0"/>
              <a:chExt cx="9906000" cy="2459675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9906000" cy="2459675"/>
              </a:xfrm>
              <a:custGeom>
                <a:avLst/>
                <a:gdLst/>
                <a:ahLst/>
                <a:cxnLst/>
                <a:rect r="r" b="b" t="t" l="l"/>
                <a:pathLst>
                  <a:path h="2459675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110123"/>
                      <a:pt x="9906000" y="245968"/>
                    </a:cubicBezTo>
                    <a:lnTo>
                      <a:pt x="9906000" y="2213708"/>
                    </a:lnTo>
                    <a:cubicBezTo>
                      <a:pt x="9906000" y="2349552"/>
                      <a:pt x="9792281" y="2459675"/>
                      <a:pt x="9652000" y="2459675"/>
                    </a:cubicBezTo>
                    <a:lnTo>
                      <a:pt x="254000" y="2459675"/>
                    </a:lnTo>
                    <a:cubicBezTo>
                      <a:pt x="113720" y="2459675"/>
                      <a:pt x="0" y="2349552"/>
                      <a:pt x="0" y="2213708"/>
                    </a:cubicBezTo>
                    <a:lnTo>
                      <a:pt x="0" y="245968"/>
                    </a:lnTo>
                    <a:cubicBezTo>
                      <a:pt x="0" y="110123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9906000" cy="2497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685800" y="889901"/>
              <a:ext cx="85344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D</a:t>
              </a: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. They are identical.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FC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6095" y="1000125"/>
            <a:ext cx="14657376" cy="157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9"/>
              </a:lnSpc>
            </a:pPr>
            <a:r>
              <a:rPr lang="en-US" sz="6099">
                <a:solidFill>
                  <a:srgbClr val="F47575"/>
                </a:solidFill>
                <a:latin typeface="Paytone One"/>
                <a:ea typeface="Paytone One"/>
                <a:cs typeface="Paytone One"/>
                <a:sym typeface="Paytone One"/>
              </a:rPr>
              <a:t>3.What is a major disadvantage of Abstract Factory?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86095" y="3728802"/>
            <a:ext cx="7429500" cy="2371135"/>
            <a:chOff x="0" y="0"/>
            <a:chExt cx="9906000" cy="3161513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906000" cy="3161513"/>
              <a:chOff x="0" y="0"/>
              <a:chExt cx="9906000" cy="316151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9906000" cy="3161513"/>
              </a:xfrm>
              <a:custGeom>
                <a:avLst/>
                <a:gdLst/>
                <a:ahLst/>
                <a:cxnLst/>
                <a:rect r="r" b="b" t="t" l="l"/>
                <a:pathLst>
                  <a:path h="3161513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141546"/>
                      <a:pt x="9906000" y="316151"/>
                    </a:cubicBezTo>
                    <a:lnTo>
                      <a:pt x="9906000" y="2845362"/>
                    </a:lnTo>
                    <a:cubicBezTo>
                      <a:pt x="9906000" y="3019968"/>
                      <a:pt x="9792281" y="3161513"/>
                      <a:pt x="9652000" y="3161513"/>
                    </a:cubicBezTo>
                    <a:lnTo>
                      <a:pt x="254000" y="3161513"/>
                    </a:lnTo>
                    <a:cubicBezTo>
                      <a:pt x="113720" y="3161513"/>
                      <a:pt x="0" y="3019968"/>
                      <a:pt x="0" y="2845362"/>
                    </a:cubicBezTo>
                    <a:lnTo>
                      <a:pt x="0" y="316151"/>
                    </a:lnTo>
                    <a:cubicBezTo>
                      <a:pt x="0" y="141546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9906000" cy="31996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685800" y="910620"/>
              <a:ext cx="8534400" cy="12831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A. It tightly couples client code to concrete classes.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621125" y="-57150"/>
            <a:ext cx="2867025" cy="11001375"/>
            <a:chOff x="0" y="0"/>
            <a:chExt cx="3822700" cy="1466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22700" cy="14668500"/>
            </a:xfrm>
            <a:custGeom>
              <a:avLst/>
              <a:gdLst/>
              <a:ahLst/>
              <a:cxnLst/>
              <a:rect r="r" b="b" t="t" l="l"/>
              <a:pathLst>
                <a:path h="14668500" w="3822700">
                  <a:moveTo>
                    <a:pt x="0" y="0"/>
                  </a:moveTo>
                  <a:lnTo>
                    <a:pt x="3822700" y="0"/>
                  </a:lnTo>
                  <a:lnTo>
                    <a:pt x="3822700" y="14668500"/>
                  </a:lnTo>
                  <a:lnTo>
                    <a:pt x="0" y="14668500"/>
                  </a:lnTo>
                  <a:close/>
                </a:path>
              </a:pathLst>
            </a:custGeom>
            <a:solidFill>
              <a:srgbClr val="53456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822700" cy="1470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-5400000">
            <a:off x="16734810" y="8509973"/>
            <a:ext cx="1677629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Group 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703610" y="3714242"/>
            <a:ext cx="7429500" cy="2415794"/>
            <a:chOff x="0" y="0"/>
            <a:chExt cx="9906000" cy="3221059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9906000" cy="3221059"/>
              <a:chOff x="0" y="0"/>
              <a:chExt cx="9906000" cy="3221059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9906000" cy="3221059"/>
              </a:xfrm>
              <a:custGeom>
                <a:avLst/>
                <a:gdLst/>
                <a:ahLst/>
                <a:cxnLst/>
                <a:rect r="r" b="b" t="t" l="l"/>
                <a:pathLst>
                  <a:path h="3221059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144212"/>
                      <a:pt x="9906000" y="322106"/>
                    </a:cubicBezTo>
                    <a:lnTo>
                      <a:pt x="9906000" y="2898953"/>
                    </a:lnTo>
                    <a:cubicBezTo>
                      <a:pt x="9906000" y="3076847"/>
                      <a:pt x="9792281" y="3221059"/>
                      <a:pt x="9652000" y="3221059"/>
                    </a:cubicBezTo>
                    <a:lnTo>
                      <a:pt x="254000" y="3221059"/>
                    </a:lnTo>
                    <a:cubicBezTo>
                      <a:pt x="113720" y="3221059"/>
                      <a:pt x="0" y="3076847"/>
                      <a:pt x="0" y="2898953"/>
                    </a:cubicBezTo>
                    <a:lnTo>
                      <a:pt x="0" y="322106"/>
                    </a:lnTo>
                    <a:cubicBezTo>
                      <a:pt x="0" y="144212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9906000" cy="32591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685800" y="589473"/>
              <a:ext cx="8534400" cy="19435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B</a:t>
              </a: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. Adding new product types requires changing the factory interface and all subclasses.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86095" y="6616127"/>
            <a:ext cx="7429500" cy="2340056"/>
            <a:chOff x="0" y="0"/>
            <a:chExt cx="9906000" cy="3120075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9906000" cy="3120075"/>
              <a:chOff x="0" y="0"/>
              <a:chExt cx="9906000" cy="312007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9906000" cy="3120075"/>
              </a:xfrm>
              <a:custGeom>
                <a:avLst/>
                <a:gdLst/>
                <a:ahLst/>
                <a:cxnLst/>
                <a:rect r="r" b="b" t="t" l="l"/>
                <a:pathLst>
                  <a:path h="3120075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139691"/>
                      <a:pt x="9906000" y="312008"/>
                    </a:cubicBezTo>
                    <a:lnTo>
                      <a:pt x="9906000" y="2808068"/>
                    </a:lnTo>
                    <a:cubicBezTo>
                      <a:pt x="9906000" y="2980385"/>
                      <a:pt x="9792281" y="3120075"/>
                      <a:pt x="9652000" y="3120075"/>
                    </a:cubicBezTo>
                    <a:lnTo>
                      <a:pt x="254000" y="3120075"/>
                    </a:lnTo>
                    <a:cubicBezTo>
                      <a:pt x="113720" y="3120075"/>
                      <a:pt x="0" y="2980385"/>
                      <a:pt x="0" y="2808068"/>
                    </a:cubicBezTo>
                    <a:lnTo>
                      <a:pt x="0" y="312008"/>
                    </a:lnTo>
                    <a:cubicBezTo>
                      <a:pt x="0" y="139691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9906000" cy="3158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685800" y="889901"/>
              <a:ext cx="8534400" cy="12831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C. Adding new product families is nearly impossible.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703610" y="6616127"/>
            <a:ext cx="7429500" cy="2340056"/>
            <a:chOff x="0" y="0"/>
            <a:chExt cx="9906000" cy="3120075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9906000" cy="3120075"/>
              <a:chOff x="0" y="0"/>
              <a:chExt cx="9906000" cy="3120075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9906000" cy="3120075"/>
              </a:xfrm>
              <a:custGeom>
                <a:avLst/>
                <a:gdLst/>
                <a:ahLst/>
                <a:cxnLst/>
                <a:rect r="r" b="b" t="t" l="l"/>
                <a:pathLst>
                  <a:path h="3120075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139691"/>
                      <a:pt x="9906000" y="312008"/>
                    </a:cubicBezTo>
                    <a:lnTo>
                      <a:pt x="9906000" y="2808068"/>
                    </a:lnTo>
                    <a:cubicBezTo>
                      <a:pt x="9906000" y="2980385"/>
                      <a:pt x="9792281" y="3120075"/>
                      <a:pt x="9652000" y="3120075"/>
                    </a:cubicBezTo>
                    <a:lnTo>
                      <a:pt x="254000" y="3120075"/>
                    </a:lnTo>
                    <a:cubicBezTo>
                      <a:pt x="113720" y="3120075"/>
                      <a:pt x="0" y="2980385"/>
                      <a:pt x="0" y="2808068"/>
                    </a:cubicBezTo>
                    <a:lnTo>
                      <a:pt x="0" y="312008"/>
                    </a:lnTo>
                    <a:cubicBezTo>
                      <a:pt x="0" y="139691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9906000" cy="3158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685800" y="889901"/>
              <a:ext cx="8534400" cy="12831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D</a:t>
              </a: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. It exposes instantiation logic to the client.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FC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6095" y="1000125"/>
            <a:ext cx="14657376" cy="157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9"/>
              </a:lnSpc>
            </a:pPr>
            <a:r>
              <a:rPr lang="en-US" sz="6099">
                <a:solidFill>
                  <a:srgbClr val="F47575"/>
                </a:solidFill>
                <a:latin typeface="Paytone One"/>
                <a:ea typeface="Paytone One"/>
                <a:cs typeface="Paytone One"/>
                <a:sym typeface="Paytone One"/>
              </a:rPr>
              <a:t>3.What is a major disadvantage of Abstract Factory?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86095" y="3728802"/>
            <a:ext cx="7429500" cy="2371135"/>
            <a:chOff x="0" y="0"/>
            <a:chExt cx="9906000" cy="3161513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906000" cy="3161513"/>
              <a:chOff x="0" y="0"/>
              <a:chExt cx="9906000" cy="316151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9906000" cy="3161513"/>
              </a:xfrm>
              <a:custGeom>
                <a:avLst/>
                <a:gdLst/>
                <a:ahLst/>
                <a:cxnLst/>
                <a:rect r="r" b="b" t="t" l="l"/>
                <a:pathLst>
                  <a:path h="3161513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141546"/>
                      <a:pt x="9906000" y="316151"/>
                    </a:cubicBezTo>
                    <a:lnTo>
                      <a:pt x="9906000" y="2845362"/>
                    </a:lnTo>
                    <a:cubicBezTo>
                      <a:pt x="9906000" y="3019968"/>
                      <a:pt x="9792281" y="3161513"/>
                      <a:pt x="9652000" y="3161513"/>
                    </a:cubicBezTo>
                    <a:lnTo>
                      <a:pt x="254000" y="3161513"/>
                    </a:lnTo>
                    <a:cubicBezTo>
                      <a:pt x="113720" y="3161513"/>
                      <a:pt x="0" y="3019968"/>
                      <a:pt x="0" y="2845362"/>
                    </a:cubicBezTo>
                    <a:lnTo>
                      <a:pt x="0" y="316151"/>
                    </a:lnTo>
                    <a:cubicBezTo>
                      <a:pt x="0" y="141546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9906000" cy="31996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685800" y="910620"/>
              <a:ext cx="8534400" cy="12831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A. It tightly couples client code to concrete classes.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621125" y="-57150"/>
            <a:ext cx="2867025" cy="11001375"/>
            <a:chOff x="0" y="0"/>
            <a:chExt cx="3822700" cy="1466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22700" cy="14668500"/>
            </a:xfrm>
            <a:custGeom>
              <a:avLst/>
              <a:gdLst/>
              <a:ahLst/>
              <a:cxnLst/>
              <a:rect r="r" b="b" t="t" l="l"/>
              <a:pathLst>
                <a:path h="14668500" w="3822700">
                  <a:moveTo>
                    <a:pt x="0" y="0"/>
                  </a:moveTo>
                  <a:lnTo>
                    <a:pt x="3822700" y="0"/>
                  </a:lnTo>
                  <a:lnTo>
                    <a:pt x="3822700" y="14668500"/>
                  </a:lnTo>
                  <a:lnTo>
                    <a:pt x="0" y="14668500"/>
                  </a:lnTo>
                  <a:close/>
                </a:path>
              </a:pathLst>
            </a:custGeom>
            <a:solidFill>
              <a:srgbClr val="53456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822700" cy="1470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-5400000">
            <a:off x="16734810" y="8509973"/>
            <a:ext cx="1677629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Group 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703610" y="3714242"/>
            <a:ext cx="7429500" cy="2415794"/>
            <a:chOff x="0" y="0"/>
            <a:chExt cx="9906000" cy="3221059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9906000" cy="3221059"/>
              <a:chOff x="0" y="0"/>
              <a:chExt cx="9906000" cy="3221059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9906000" cy="3221059"/>
              </a:xfrm>
              <a:custGeom>
                <a:avLst/>
                <a:gdLst/>
                <a:ahLst/>
                <a:cxnLst/>
                <a:rect r="r" b="b" t="t" l="l"/>
                <a:pathLst>
                  <a:path h="3221059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144212"/>
                      <a:pt x="9906000" y="322106"/>
                    </a:cubicBezTo>
                    <a:lnTo>
                      <a:pt x="9906000" y="2898953"/>
                    </a:lnTo>
                    <a:cubicBezTo>
                      <a:pt x="9906000" y="3076847"/>
                      <a:pt x="9792281" y="3221059"/>
                      <a:pt x="9652000" y="3221059"/>
                    </a:cubicBezTo>
                    <a:lnTo>
                      <a:pt x="254000" y="3221059"/>
                    </a:lnTo>
                    <a:cubicBezTo>
                      <a:pt x="113720" y="3221059"/>
                      <a:pt x="0" y="3076847"/>
                      <a:pt x="0" y="2898953"/>
                    </a:cubicBezTo>
                    <a:lnTo>
                      <a:pt x="0" y="322106"/>
                    </a:lnTo>
                    <a:cubicBezTo>
                      <a:pt x="0" y="144212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9906000" cy="32591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685800" y="589473"/>
              <a:ext cx="8534400" cy="19435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FF5757"/>
                  </a:solidFill>
                  <a:latin typeface="Cabin Bold"/>
                  <a:ea typeface="Cabin Bold"/>
                  <a:cs typeface="Cabin Bold"/>
                  <a:sym typeface="Cabin Bold"/>
                </a:rPr>
                <a:t>B</a:t>
              </a:r>
              <a:r>
                <a:rPr lang="en-US" sz="2799" b="true">
                  <a:solidFill>
                    <a:srgbClr val="FF5757"/>
                  </a:solidFill>
                  <a:latin typeface="Cabin Bold"/>
                  <a:ea typeface="Cabin Bold"/>
                  <a:cs typeface="Cabin Bold"/>
                  <a:sym typeface="Cabin Bold"/>
                </a:rPr>
                <a:t>. Adding new product types requires changing the factory interface and all subclasses.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86095" y="6616127"/>
            <a:ext cx="7429500" cy="2340056"/>
            <a:chOff x="0" y="0"/>
            <a:chExt cx="9906000" cy="3120075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9906000" cy="3120075"/>
              <a:chOff x="0" y="0"/>
              <a:chExt cx="9906000" cy="312007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9906000" cy="3120075"/>
              </a:xfrm>
              <a:custGeom>
                <a:avLst/>
                <a:gdLst/>
                <a:ahLst/>
                <a:cxnLst/>
                <a:rect r="r" b="b" t="t" l="l"/>
                <a:pathLst>
                  <a:path h="3120075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139691"/>
                      <a:pt x="9906000" y="312008"/>
                    </a:cubicBezTo>
                    <a:lnTo>
                      <a:pt x="9906000" y="2808068"/>
                    </a:lnTo>
                    <a:cubicBezTo>
                      <a:pt x="9906000" y="2980385"/>
                      <a:pt x="9792281" y="3120075"/>
                      <a:pt x="9652000" y="3120075"/>
                    </a:cubicBezTo>
                    <a:lnTo>
                      <a:pt x="254000" y="3120075"/>
                    </a:lnTo>
                    <a:cubicBezTo>
                      <a:pt x="113720" y="3120075"/>
                      <a:pt x="0" y="2980385"/>
                      <a:pt x="0" y="2808068"/>
                    </a:cubicBezTo>
                    <a:lnTo>
                      <a:pt x="0" y="312008"/>
                    </a:lnTo>
                    <a:cubicBezTo>
                      <a:pt x="0" y="139691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9906000" cy="3158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685800" y="889901"/>
              <a:ext cx="8534400" cy="12831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C. Adding new product families is nearly impossible.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703610" y="6616127"/>
            <a:ext cx="7429500" cy="2340056"/>
            <a:chOff x="0" y="0"/>
            <a:chExt cx="9906000" cy="3120075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9906000" cy="3120075"/>
              <a:chOff x="0" y="0"/>
              <a:chExt cx="9906000" cy="3120075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9906000" cy="3120075"/>
              </a:xfrm>
              <a:custGeom>
                <a:avLst/>
                <a:gdLst/>
                <a:ahLst/>
                <a:cxnLst/>
                <a:rect r="r" b="b" t="t" l="l"/>
                <a:pathLst>
                  <a:path h="3120075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139691"/>
                      <a:pt x="9906000" y="312008"/>
                    </a:cubicBezTo>
                    <a:lnTo>
                      <a:pt x="9906000" y="2808068"/>
                    </a:lnTo>
                    <a:cubicBezTo>
                      <a:pt x="9906000" y="2980385"/>
                      <a:pt x="9792281" y="3120075"/>
                      <a:pt x="9652000" y="3120075"/>
                    </a:cubicBezTo>
                    <a:lnTo>
                      <a:pt x="254000" y="3120075"/>
                    </a:lnTo>
                    <a:cubicBezTo>
                      <a:pt x="113720" y="3120075"/>
                      <a:pt x="0" y="2980385"/>
                      <a:pt x="0" y="2808068"/>
                    </a:cubicBezTo>
                    <a:lnTo>
                      <a:pt x="0" y="312008"/>
                    </a:lnTo>
                    <a:cubicBezTo>
                      <a:pt x="0" y="139691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9906000" cy="3158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685800" y="889901"/>
              <a:ext cx="8534400" cy="12831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D</a:t>
              </a: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. It exposes instantiation logic to the client.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FC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6095" y="1000125"/>
            <a:ext cx="14657376" cy="157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9"/>
              </a:lnSpc>
            </a:pPr>
            <a:r>
              <a:rPr lang="en-US" sz="6099">
                <a:solidFill>
                  <a:srgbClr val="F47575"/>
                </a:solidFill>
                <a:latin typeface="Paytone One"/>
                <a:ea typeface="Paytone One"/>
                <a:cs typeface="Paytone One"/>
                <a:sym typeface="Paytone One"/>
              </a:rPr>
              <a:t>4.Which scenario is best suited for Abstract Factory?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86095" y="3993950"/>
            <a:ext cx="7429500" cy="1856377"/>
            <a:chOff x="0" y="0"/>
            <a:chExt cx="9906000" cy="247517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906000" cy="2475170"/>
              <a:chOff x="0" y="0"/>
              <a:chExt cx="9906000" cy="247517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9906000" cy="2475170"/>
              </a:xfrm>
              <a:custGeom>
                <a:avLst/>
                <a:gdLst/>
                <a:ahLst/>
                <a:cxnLst/>
                <a:rect r="r" b="b" t="t" l="l"/>
                <a:pathLst>
                  <a:path h="2475170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110817"/>
                      <a:pt x="9906000" y="247517"/>
                    </a:cubicBezTo>
                    <a:lnTo>
                      <a:pt x="9906000" y="2227653"/>
                    </a:lnTo>
                    <a:cubicBezTo>
                      <a:pt x="9906000" y="2364353"/>
                      <a:pt x="9792281" y="2475170"/>
                      <a:pt x="9652000" y="2475170"/>
                    </a:cubicBezTo>
                    <a:lnTo>
                      <a:pt x="254000" y="2475170"/>
                    </a:lnTo>
                    <a:cubicBezTo>
                      <a:pt x="113720" y="2475170"/>
                      <a:pt x="0" y="2364353"/>
                      <a:pt x="0" y="2227653"/>
                    </a:cubicBezTo>
                    <a:lnTo>
                      <a:pt x="0" y="247517"/>
                    </a:lnTo>
                    <a:cubicBezTo>
                      <a:pt x="0" y="110817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9906000" cy="25132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685800" y="557089"/>
              <a:ext cx="9220200" cy="12831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A. A cross-platform UI toolkit with OS-specific buttons, checkboxes, and text fields.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621125" y="-57150"/>
            <a:ext cx="2867025" cy="11001375"/>
            <a:chOff x="0" y="0"/>
            <a:chExt cx="3822700" cy="1466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22700" cy="14668500"/>
            </a:xfrm>
            <a:custGeom>
              <a:avLst/>
              <a:gdLst/>
              <a:ahLst/>
              <a:cxnLst/>
              <a:rect r="r" b="b" t="t" l="l"/>
              <a:pathLst>
                <a:path h="14668500" w="3822700">
                  <a:moveTo>
                    <a:pt x="0" y="0"/>
                  </a:moveTo>
                  <a:lnTo>
                    <a:pt x="3822700" y="0"/>
                  </a:lnTo>
                  <a:lnTo>
                    <a:pt x="3822700" y="14668500"/>
                  </a:lnTo>
                  <a:lnTo>
                    <a:pt x="0" y="14668500"/>
                  </a:lnTo>
                  <a:close/>
                </a:path>
              </a:pathLst>
            </a:custGeom>
            <a:solidFill>
              <a:srgbClr val="53456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822700" cy="1470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-5400000">
            <a:off x="16734810" y="8509973"/>
            <a:ext cx="1677629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Group 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703610" y="3961892"/>
            <a:ext cx="7429500" cy="1920494"/>
            <a:chOff x="0" y="0"/>
            <a:chExt cx="9906000" cy="2560659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9906000" cy="2560659"/>
              <a:chOff x="0" y="0"/>
              <a:chExt cx="9906000" cy="2560659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9906000" cy="2560659"/>
              </a:xfrm>
              <a:custGeom>
                <a:avLst/>
                <a:gdLst/>
                <a:ahLst/>
                <a:cxnLst/>
                <a:rect r="r" b="b" t="t" l="l"/>
                <a:pathLst>
                  <a:path h="2560659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114645"/>
                      <a:pt x="9906000" y="256066"/>
                    </a:cubicBezTo>
                    <a:lnTo>
                      <a:pt x="9906000" y="2304593"/>
                    </a:lnTo>
                    <a:cubicBezTo>
                      <a:pt x="9906000" y="2446014"/>
                      <a:pt x="9792281" y="2560659"/>
                      <a:pt x="9652000" y="2560659"/>
                    </a:cubicBezTo>
                    <a:lnTo>
                      <a:pt x="254000" y="2560659"/>
                    </a:lnTo>
                    <a:cubicBezTo>
                      <a:pt x="113720" y="2560659"/>
                      <a:pt x="0" y="2446014"/>
                      <a:pt x="0" y="2304593"/>
                    </a:cubicBezTo>
                    <a:lnTo>
                      <a:pt x="0" y="256066"/>
                    </a:lnTo>
                    <a:cubicBezTo>
                      <a:pt x="0" y="114645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9906000" cy="25987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685800" y="589473"/>
              <a:ext cx="8534400" cy="12831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B</a:t>
              </a: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. A logger writing to either a file or a database.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86095" y="6895835"/>
            <a:ext cx="7429500" cy="1796179"/>
            <a:chOff x="0" y="0"/>
            <a:chExt cx="9906000" cy="2394906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9906000" cy="2394906"/>
              <a:chOff x="0" y="0"/>
              <a:chExt cx="9906000" cy="2394906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9906000" cy="2394906"/>
              </a:xfrm>
              <a:custGeom>
                <a:avLst/>
                <a:gdLst/>
                <a:ahLst/>
                <a:cxnLst/>
                <a:rect r="r" b="b" t="t" l="l"/>
                <a:pathLst>
                  <a:path h="2394906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107224"/>
                      <a:pt x="9906000" y="239491"/>
                    </a:cubicBezTo>
                    <a:lnTo>
                      <a:pt x="9906000" y="2155415"/>
                    </a:lnTo>
                    <a:cubicBezTo>
                      <a:pt x="9906000" y="2287682"/>
                      <a:pt x="9792281" y="2394906"/>
                      <a:pt x="9652000" y="2394906"/>
                    </a:cubicBezTo>
                    <a:lnTo>
                      <a:pt x="254000" y="2394906"/>
                    </a:lnTo>
                    <a:cubicBezTo>
                      <a:pt x="113720" y="2394906"/>
                      <a:pt x="0" y="2287682"/>
                      <a:pt x="0" y="2155415"/>
                    </a:cubicBezTo>
                    <a:lnTo>
                      <a:pt x="0" y="239491"/>
                    </a:lnTo>
                    <a:cubicBezTo>
                      <a:pt x="0" y="107224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9906000" cy="24330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685800" y="516956"/>
              <a:ext cx="8534400" cy="12831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C. A document parser building a DOM tree step-by-step.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703610" y="6863777"/>
            <a:ext cx="7429500" cy="1844756"/>
            <a:chOff x="0" y="0"/>
            <a:chExt cx="9906000" cy="2459675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9906000" cy="2459675"/>
              <a:chOff x="0" y="0"/>
              <a:chExt cx="9906000" cy="2459675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9906000" cy="2459675"/>
              </a:xfrm>
              <a:custGeom>
                <a:avLst/>
                <a:gdLst/>
                <a:ahLst/>
                <a:cxnLst/>
                <a:rect r="r" b="b" t="t" l="l"/>
                <a:pathLst>
                  <a:path h="2459675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110123"/>
                      <a:pt x="9906000" y="245968"/>
                    </a:cubicBezTo>
                    <a:lnTo>
                      <a:pt x="9906000" y="2213708"/>
                    </a:lnTo>
                    <a:cubicBezTo>
                      <a:pt x="9906000" y="2349552"/>
                      <a:pt x="9792281" y="2459675"/>
                      <a:pt x="9652000" y="2459675"/>
                    </a:cubicBezTo>
                    <a:lnTo>
                      <a:pt x="254000" y="2459675"/>
                    </a:lnTo>
                    <a:cubicBezTo>
                      <a:pt x="113720" y="2459675"/>
                      <a:pt x="0" y="2349552"/>
                      <a:pt x="0" y="2213708"/>
                    </a:cubicBezTo>
                    <a:lnTo>
                      <a:pt x="0" y="245968"/>
                    </a:lnTo>
                    <a:cubicBezTo>
                      <a:pt x="0" y="110123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9906000" cy="2497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685800" y="889901"/>
              <a:ext cx="85344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D</a:t>
              </a: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. A caching system cloning objects.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FC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6095" y="1000125"/>
            <a:ext cx="14657376" cy="157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9"/>
              </a:lnSpc>
            </a:pPr>
            <a:r>
              <a:rPr lang="en-US" sz="6099">
                <a:solidFill>
                  <a:srgbClr val="F47575"/>
                </a:solidFill>
                <a:latin typeface="Paytone One"/>
                <a:ea typeface="Paytone One"/>
                <a:cs typeface="Paytone One"/>
                <a:sym typeface="Paytone One"/>
              </a:rPr>
              <a:t>4.Which scenario is best suited for Abstract Factory?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86095" y="3993950"/>
            <a:ext cx="7429500" cy="1856377"/>
            <a:chOff x="0" y="0"/>
            <a:chExt cx="9906000" cy="247517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906000" cy="2475170"/>
              <a:chOff x="0" y="0"/>
              <a:chExt cx="9906000" cy="247517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9906000" cy="2475170"/>
              </a:xfrm>
              <a:custGeom>
                <a:avLst/>
                <a:gdLst/>
                <a:ahLst/>
                <a:cxnLst/>
                <a:rect r="r" b="b" t="t" l="l"/>
                <a:pathLst>
                  <a:path h="2475170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110817"/>
                      <a:pt x="9906000" y="247517"/>
                    </a:cubicBezTo>
                    <a:lnTo>
                      <a:pt x="9906000" y="2227653"/>
                    </a:lnTo>
                    <a:cubicBezTo>
                      <a:pt x="9906000" y="2364353"/>
                      <a:pt x="9792281" y="2475170"/>
                      <a:pt x="9652000" y="2475170"/>
                    </a:cubicBezTo>
                    <a:lnTo>
                      <a:pt x="254000" y="2475170"/>
                    </a:lnTo>
                    <a:cubicBezTo>
                      <a:pt x="113720" y="2475170"/>
                      <a:pt x="0" y="2364353"/>
                      <a:pt x="0" y="2227653"/>
                    </a:cubicBezTo>
                    <a:lnTo>
                      <a:pt x="0" y="247517"/>
                    </a:lnTo>
                    <a:cubicBezTo>
                      <a:pt x="0" y="110817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9906000" cy="25132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685800" y="557089"/>
              <a:ext cx="9220200" cy="12831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b="true" sz="2799">
                  <a:solidFill>
                    <a:srgbClr val="FF5757"/>
                  </a:solidFill>
                  <a:latin typeface="Cabin Bold"/>
                  <a:ea typeface="Cabin Bold"/>
                  <a:cs typeface="Cabin Bold"/>
                  <a:sym typeface="Cabin Bold"/>
                </a:rPr>
                <a:t>A. A cross-platform UI toolkit with OS-specific buttons, checkboxes, and text fields.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621125" y="-57150"/>
            <a:ext cx="2867025" cy="11001375"/>
            <a:chOff x="0" y="0"/>
            <a:chExt cx="3822700" cy="1466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22700" cy="14668500"/>
            </a:xfrm>
            <a:custGeom>
              <a:avLst/>
              <a:gdLst/>
              <a:ahLst/>
              <a:cxnLst/>
              <a:rect r="r" b="b" t="t" l="l"/>
              <a:pathLst>
                <a:path h="14668500" w="3822700">
                  <a:moveTo>
                    <a:pt x="0" y="0"/>
                  </a:moveTo>
                  <a:lnTo>
                    <a:pt x="3822700" y="0"/>
                  </a:lnTo>
                  <a:lnTo>
                    <a:pt x="3822700" y="14668500"/>
                  </a:lnTo>
                  <a:lnTo>
                    <a:pt x="0" y="14668500"/>
                  </a:lnTo>
                  <a:close/>
                </a:path>
              </a:pathLst>
            </a:custGeom>
            <a:solidFill>
              <a:srgbClr val="53456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822700" cy="1470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-5400000">
            <a:off x="16734810" y="8509973"/>
            <a:ext cx="1677629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Group 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703610" y="3961892"/>
            <a:ext cx="7429500" cy="1920494"/>
            <a:chOff x="0" y="0"/>
            <a:chExt cx="9906000" cy="2560659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9906000" cy="2560659"/>
              <a:chOff x="0" y="0"/>
              <a:chExt cx="9906000" cy="2560659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9906000" cy="2560659"/>
              </a:xfrm>
              <a:custGeom>
                <a:avLst/>
                <a:gdLst/>
                <a:ahLst/>
                <a:cxnLst/>
                <a:rect r="r" b="b" t="t" l="l"/>
                <a:pathLst>
                  <a:path h="2560659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114645"/>
                      <a:pt x="9906000" y="256066"/>
                    </a:cubicBezTo>
                    <a:lnTo>
                      <a:pt x="9906000" y="2304593"/>
                    </a:lnTo>
                    <a:cubicBezTo>
                      <a:pt x="9906000" y="2446014"/>
                      <a:pt x="9792281" y="2560659"/>
                      <a:pt x="9652000" y="2560659"/>
                    </a:cubicBezTo>
                    <a:lnTo>
                      <a:pt x="254000" y="2560659"/>
                    </a:lnTo>
                    <a:cubicBezTo>
                      <a:pt x="113720" y="2560659"/>
                      <a:pt x="0" y="2446014"/>
                      <a:pt x="0" y="2304593"/>
                    </a:cubicBezTo>
                    <a:lnTo>
                      <a:pt x="0" y="256066"/>
                    </a:lnTo>
                    <a:cubicBezTo>
                      <a:pt x="0" y="114645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9906000" cy="25987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685800" y="589473"/>
              <a:ext cx="8534400" cy="12831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B</a:t>
              </a: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. A logger writing to either a file or a database.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86095" y="6895835"/>
            <a:ext cx="7429500" cy="1796179"/>
            <a:chOff x="0" y="0"/>
            <a:chExt cx="9906000" cy="2394906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9906000" cy="2394906"/>
              <a:chOff x="0" y="0"/>
              <a:chExt cx="9906000" cy="2394906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9906000" cy="2394906"/>
              </a:xfrm>
              <a:custGeom>
                <a:avLst/>
                <a:gdLst/>
                <a:ahLst/>
                <a:cxnLst/>
                <a:rect r="r" b="b" t="t" l="l"/>
                <a:pathLst>
                  <a:path h="2394906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107224"/>
                      <a:pt x="9906000" y="239491"/>
                    </a:cubicBezTo>
                    <a:lnTo>
                      <a:pt x="9906000" y="2155415"/>
                    </a:lnTo>
                    <a:cubicBezTo>
                      <a:pt x="9906000" y="2287682"/>
                      <a:pt x="9792281" y="2394906"/>
                      <a:pt x="9652000" y="2394906"/>
                    </a:cubicBezTo>
                    <a:lnTo>
                      <a:pt x="254000" y="2394906"/>
                    </a:lnTo>
                    <a:cubicBezTo>
                      <a:pt x="113720" y="2394906"/>
                      <a:pt x="0" y="2287682"/>
                      <a:pt x="0" y="2155415"/>
                    </a:cubicBezTo>
                    <a:lnTo>
                      <a:pt x="0" y="239491"/>
                    </a:lnTo>
                    <a:cubicBezTo>
                      <a:pt x="0" y="107224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9906000" cy="24330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685800" y="516956"/>
              <a:ext cx="8534400" cy="12831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C. A document parser building a DOM tree step-by-step.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703610" y="6863777"/>
            <a:ext cx="7429500" cy="1844756"/>
            <a:chOff x="0" y="0"/>
            <a:chExt cx="9906000" cy="2459675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9906000" cy="2459675"/>
              <a:chOff x="0" y="0"/>
              <a:chExt cx="9906000" cy="2459675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9906000" cy="2459675"/>
              </a:xfrm>
              <a:custGeom>
                <a:avLst/>
                <a:gdLst/>
                <a:ahLst/>
                <a:cxnLst/>
                <a:rect r="r" b="b" t="t" l="l"/>
                <a:pathLst>
                  <a:path h="2459675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110123"/>
                      <a:pt x="9906000" y="245968"/>
                    </a:cubicBezTo>
                    <a:lnTo>
                      <a:pt x="9906000" y="2213708"/>
                    </a:lnTo>
                    <a:cubicBezTo>
                      <a:pt x="9906000" y="2349552"/>
                      <a:pt x="9792281" y="2459675"/>
                      <a:pt x="9652000" y="2459675"/>
                    </a:cubicBezTo>
                    <a:lnTo>
                      <a:pt x="254000" y="2459675"/>
                    </a:lnTo>
                    <a:cubicBezTo>
                      <a:pt x="113720" y="2459675"/>
                      <a:pt x="0" y="2349552"/>
                      <a:pt x="0" y="2213708"/>
                    </a:cubicBezTo>
                    <a:lnTo>
                      <a:pt x="0" y="245968"/>
                    </a:lnTo>
                    <a:cubicBezTo>
                      <a:pt x="0" y="110123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9906000" cy="2497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685800" y="889901"/>
              <a:ext cx="85344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D</a:t>
              </a: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. A caching system cloning objects.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FC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6095" y="4241600"/>
            <a:ext cx="7429500" cy="1361077"/>
            <a:chOff x="0" y="0"/>
            <a:chExt cx="9906000" cy="181477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9906000" cy="1814770"/>
              <a:chOff x="0" y="0"/>
              <a:chExt cx="9906000" cy="181477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9906000" cy="1814770"/>
              </a:xfrm>
              <a:custGeom>
                <a:avLst/>
                <a:gdLst/>
                <a:ahLst/>
                <a:cxnLst/>
                <a:rect r="r" b="b" t="t" l="l"/>
                <a:pathLst>
                  <a:path h="1814770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81250"/>
                      <a:pt x="9906000" y="181477"/>
                    </a:cubicBezTo>
                    <a:lnTo>
                      <a:pt x="9906000" y="1633293"/>
                    </a:lnTo>
                    <a:cubicBezTo>
                      <a:pt x="9906000" y="1733520"/>
                      <a:pt x="9792281" y="1814770"/>
                      <a:pt x="9652000" y="1814770"/>
                    </a:cubicBezTo>
                    <a:lnTo>
                      <a:pt x="254000" y="1814770"/>
                    </a:lnTo>
                    <a:cubicBezTo>
                      <a:pt x="113720" y="1814770"/>
                      <a:pt x="0" y="1733520"/>
                      <a:pt x="0" y="1633293"/>
                    </a:cubicBezTo>
                    <a:lnTo>
                      <a:pt x="0" y="181477"/>
                    </a:lnTo>
                    <a:cubicBezTo>
                      <a:pt x="0" y="81250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9906000" cy="18528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685800" y="557089"/>
              <a:ext cx="92202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A. The Client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621125" y="-57150"/>
            <a:ext cx="2867025" cy="11001375"/>
            <a:chOff x="0" y="0"/>
            <a:chExt cx="3822700" cy="14668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22700" cy="14668500"/>
            </a:xfrm>
            <a:custGeom>
              <a:avLst/>
              <a:gdLst/>
              <a:ahLst/>
              <a:cxnLst/>
              <a:rect r="r" b="b" t="t" l="l"/>
              <a:pathLst>
                <a:path h="14668500" w="3822700">
                  <a:moveTo>
                    <a:pt x="0" y="0"/>
                  </a:moveTo>
                  <a:lnTo>
                    <a:pt x="3822700" y="0"/>
                  </a:lnTo>
                  <a:lnTo>
                    <a:pt x="3822700" y="14668500"/>
                  </a:lnTo>
                  <a:lnTo>
                    <a:pt x="0" y="14668500"/>
                  </a:lnTo>
                  <a:close/>
                </a:path>
              </a:pathLst>
            </a:custGeom>
            <a:solidFill>
              <a:srgbClr val="53456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822700" cy="1470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-5400000">
            <a:off x="16734810" y="8509973"/>
            <a:ext cx="1677629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Group 02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703610" y="4209542"/>
            <a:ext cx="7429500" cy="1425194"/>
            <a:chOff x="0" y="0"/>
            <a:chExt cx="9906000" cy="1900259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9906000" cy="1900259"/>
              <a:chOff x="0" y="0"/>
              <a:chExt cx="9906000" cy="1900259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9906000" cy="1900259"/>
              </a:xfrm>
              <a:custGeom>
                <a:avLst/>
                <a:gdLst/>
                <a:ahLst/>
                <a:cxnLst/>
                <a:rect r="r" b="b" t="t" l="l"/>
                <a:pathLst>
                  <a:path h="1900259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85077"/>
                      <a:pt x="9906000" y="190026"/>
                    </a:cubicBezTo>
                    <a:lnTo>
                      <a:pt x="9906000" y="1710233"/>
                    </a:lnTo>
                    <a:cubicBezTo>
                      <a:pt x="9906000" y="1815181"/>
                      <a:pt x="9792281" y="1900259"/>
                      <a:pt x="9652000" y="1900259"/>
                    </a:cubicBezTo>
                    <a:lnTo>
                      <a:pt x="254000" y="1900259"/>
                    </a:lnTo>
                    <a:cubicBezTo>
                      <a:pt x="113720" y="1900259"/>
                      <a:pt x="0" y="1815181"/>
                      <a:pt x="0" y="1710233"/>
                    </a:cubicBezTo>
                    <a:lnTo>
                      <a:pt x="0" y="190026"/>
                    </a:lnTo>
                    <a:cubicBezTo>
                      <a:pt x="0" y="85077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9906000" cy="19383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685800" y="589473"/>
              <a:ext cx="85344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B</a:t>
              </a: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. The Abstract Factory Interface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86095" y="7143485"/>
            <a:ext cx="7429500" cy="1300879"/>
            <a:chOff x="0" y="0"/>
            <a:chExt cx="9906000" cy="173450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9906000" cy="1734506"/>
              <a:chOff x="0" y="0"/>
              <a:chExt cx="9906000" cy="173450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9906000" cy="1734506"/>
              </a:xfrm>
              <a:custGeom>
                <a:avLst/>
                <a:gdLst/>
                <a:ahLst/>
                <a:cxnLst/>
                <a:rect r="r" b="b" t="t" l="l"/>
                <a:pathLst>
                  <a:path h="1734506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77656"/>
                      <a:pt x="9906000" y="173451"/>
                    </a:cubicBezTo>
                    <a:lnTo>
                      <a:pt x="9906000" y="1561055"/>
                    </a:lnTo>
                    <a:cubicBezTo>
                      <a:pt x="9906000" y="1656849"/>
                      <a:pt x="9792281" y="1734506"/>
                      <a:pt x="9652000" y="1734506"/>
                    </a:cubicBezTo>
                    <a:lnTo>
                      <a:pt x="254000" y="1734506"/>
                    </a:lnTo>
                    <a:cubicBezTo>
                      <a:pt x="113720" y="1734506"/>
                      <a:pt x="0" y="1656849"/>
                      <a:pt x="0" y="1561055"/>
                    </a:cubicBezTo>
                    <a:lnTo>
                      <a:pt x="0" y="173451"/>
                    </a:lnTo>
                    <a:cubicBezTo>
                      <a:pt x="0" y="77656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9906000" cy="17726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685800" y="516956"/>
              <a:ext cx="85344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C. The Concrete Factories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703610" y="7174564"/>
            <a:ext cx="7429500" cy="1300879"/>
            <a:chOff x="0" y="0"/>
            <a:chExt cx="9906000" cy="1734506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9906000" cy="1734506"/>
              <a:chOff x="0" y="0"/>
              <a:chExt cx="9906000" cy="1734506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9906000" cy="1734506"/>
              </a:xfrm>
              <a:custGeom>
                <a:avLst/>
                <a:gdLst/>
                <a:ahLst/>
                <a:cxnLst/>
                <a:rect r="r" b="b" t="t" l="l"/>
                <a:pathLst>
                  <a:path h="1734506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77656"/>
                      <a:pt x="9906000" y="173451"/>
                    </a:cubicBezTo>
                    <a:lnTo>
                      <a:pt x="9906000" y="1561055"/>
                    </a:lnTo>
                    <a:cubicBezTo>
                      <a:pt x="9906000" y="1656849"/>
                      <a:pt x="9792281" y="1734506"/>
                      <a:pt x="9652000" y="1734506"/>
                    </a:cubicBezTo>
                    <a:lnTo>
                      <a:pt x="254000" y="1734506"/>
                    </a:lnTo>
                    <a:cubicBezTo>
                      <a:pt x="113720" y="1734506"/>
                      <a:pt x="0" y="1656849"/>
                      <a:pt x="0" y="1561055"/>
                    </a:cubicBezTo>
                    <a:lnTo>
                      <a:pt x="0" y="173451"/>
                    </a:lnTo>
                    <a:cubicBezTo>
                      <a:pt x="0" y="77656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9906000" cy="17726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685800" y="475518"/>
              <a:ext cx="85344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D</a:t>
              </a: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. The Abstract Products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786095" y="1000125"/>
            <a:ext cx="14657376" cy="157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9"/>
              </a:lnSpc>
            </a:pPr>
            <a:r>
              <a:rPr lang="en-US" sz="6099">
                <a:solidFill>
                  <a:srgbClr val="F47575"/>
                </a:solidFill>
                <a:latin typeface="Paytone One"/>
                <a:ea typeface="Paytone One"/>
                <a:cs typeface="Paytone One"/>
                <a:sym typeface="Paytone One"/>
              </a:rPr>
              <a:t>5.Which component actually creates concrete objects?</a:t>
            </a:r>
          </a:p>
        </p:txBody>
      </p:sp>
    </p:spTree>
  </p:cSld>
  <p:clrMapOvr>
    <a:masterClrMapping/>
  </p:clrMapOvr>
  <p:transition spd="slow">
    <p:push dir="l"/>
  </p:transition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FC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6095" y="4241600"/>
            <a:ext cx="7429500" cy="1361077"/>
            <a:chOff x="0" y="0"/>
            <a:chExt cx="9906000" cy="181477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9906000" cy="1814770"/>
              <a:chOff x="0" y="0"/>
              <a:chExt cx="9906000" cy="181477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9906000" cy="1814770"/>
              </a:xfrm>
              <a:custGeom>
                <a:avLst/>
                <a:gdLst/>
                <a:ahLst/>
                <a:cxnLst/>
                <a:rect r="r" b="b" t="t" l="l"/>
                <a:pathLst>
                  <a:path h="1814770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81250"/>
                      <a:pt x="9906000" y="181477"/>
                    </a:cubicBezTo>
                    <a:lnTo>
                      <a:pt x="9906000" y="1633293"/>
                    </a:lnTo>
                    <a:cubicBezTo>
                      <a:pt x="9906000" y="1733520"/>
                      <a:pt x="9792281" y="1814770"/>
                      <a:pt x="9652000" y="1814770"/>
                    </a:cubicBezTo>
                    <a:lnTo>
                      <a:pt x="254000" y="1814770"/>
                    </a:lnTo>
                    <a:cubicBezTo>
                      <a:pt x="113720" y="1814770"/>
                      <a:pt x="0" y="1733520"/>
                      <a:pt x="0" y="1633293"/>
                    </a:cubicBezTo>
                    <a:lnTo>
                      <a:pt x="0" y="181477"/>
                    </a:lnTo>
                    <a:cubicBezTo>
                      <a:pt x="0" y="81250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9906000" cy="18528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685800" y="557089"/>
              <a:ext cx="92202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b="true" sz="2799">
                  <a:solidFill>
                    <a:srgbClr val="FF5757"/>
                  </a:solidFill>
                  <a:latin typeface="Cabin Bold"/>
                  <a:ea typeface="Cabin Bold"/>
                  <a:cs typeface="Cabin Bold"/>
                  <a:sym typeface="Cabin Bold"/>
                </a:rPr>
                <a:t>A. The Client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621125" y="-57150"/>
            <a:ext cx="2867025" cy="11001375"/>
            <a:chOff x="0" y="0"/>
            <a:chExt cx="3822700" cy="14668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22700" cy="14668500"/>
            </a:xfrm>
            <a:custGeom>
              <a:avLst/>
              <a:gdLst/>
              <a:ahLst/>
              <a:cxnLst/>
              <a:rect r="r" b="b" t="t" l="l"/>
              <a:pathLst>
                <a:path h="14668500" w="3822700">
                  <a:moveTo>
                    <a:pt x="0" y="0"/>
                  </a:moveTo>
                  <a:lnTo>
                    <a:pt x="3822700" y="0"/>
                  </a:lnTo>
                  <a:lnTo>
                    <a:pt x="3822700" y="14668500"/>
                  </a:lnTo>
                  <a:lnTo>
                    <a:pt x="0" y="14668500"/>
                  </a:lnTo>
                  <a:close/>
                </a:path>
              </a:pathLst>
            </a:custGeom>
            <a:solidFill>
              <a:srgbClr val="53456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822700" cy="1470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-5400000">
            <a:off x="16734810" y="8509973"/>
            <a:ext cx="1677629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Group 02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703610" y="4209542"/>
            <a:ext cx="7429500" cy="1425194"/>
            <a:chOff x="0" y="0"/>
            <a:chExt cx="9906000" cy="1900259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9906000" cy="1900259"/>
              <a:chOff x="0" y="0"/>
              <a:chExt cx="9906000" cy="1900259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9906000" cy="1900259"/>
              </a:xfrm>
              <a:custGeom>
                <a:avLst/>
                <a:gdLst/>
                <a:ahLst/>
                <a:cxnLst/>
                <a:rect r="r" b="b" t="t" l="l"/>
                <a:pathLst>
                  <a:path h="1900259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85077"/>
                      <a:pt x="9906000" y="190026"/>
                    </a:cubicBezTo>
                    <a:lnTo>
                      <a:pt x="9906000" y="1710233"/>
                    </a:lnTo>
                    <a:cubicBezTo>
                      <a:pt x="9906000" y="1815181"/>
                      <a:pt x="9792281" y="1900259"/>
                      <a:pt x="9652000" y="1900259"/>
                    </a:cubicBezTo>
                    <a:lnTo>
                      <a:pt x="254000" y="1900259"/>
                    </a:lnTo>
                    <a:cubicBezTo>
                      <a:pt x="113720" y="1900259"/>
                      <a:pt x="0" y="1815181"/>
                      <a:pt x="0" y="1710233"/>
                    </a:cubicBezTo>
                    <a:lnTo>
                      <a:pt x="0" y="190026"/>
                    </a:lnTo>
                    <a:cubicBezTo>
                      <a:pt x="0" y="85077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9906000" cy="19383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685800" y="589473"/>
              <a:ext cx="85344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B</a:t>
              </a: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. The Abstract Factory Interface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86095" y="7143485"/>
            <a:ext cx="7429500" cy="1300879"/>
            <a:chOff x="0" y="0"/>
            <a:chExt cx="9906000" cy="173450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9906000" cy="1734506"/>
              <a:chOff x="0" y="0"/>
              <a:chExt cx="9906000" cy="173450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9906000" cy="1734506"/>
              </a:xfrm>
              <a:custGeom>
                <a:avLst/>
                <a:gdLst/>
                <a:ahLst/>
                <a:cxnLst/>
                <a:rect r="r" b="b" t="t" l="l"/>
                <a:pathLst>
                  <a:path h="1734506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77656"/>
                      <a:pt x="9906000" y="173451"/>
                    </a:cubicBezTo>
                    <a:lnTo>
                      <a:pt x="9906000" y="1561055"/>
                    </a:lnTo>
                    <a:cubicBezTo>
                      <a:pt x="9906000" y="1656849"/>
                      <a:pt x="9792281" y="1734506"/>
                      <a:pt x="9652000" y="1734506"/>
                    </a:cubicBezTo>
                    <a:lnTo>
                      <a:pt x="254000" y="1734506"/>
                    </a:lnTo>
                    <a:cubicBezTo>
                      <a:pt x="113720" y="1734506"/>
                      <a:pt x="0" y="1656849"/>
                      <a:pt x="0" y="1561055"/>
                    </a:cubicBezTo>
                    <a:lnTo>
                      <a:pt x="0" y="173451"/>
                    </a:lnTo>
                    <a:cubicBezTo>
                      <a:pt x="0" y="77656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9906000" cy="17726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685800" y="516956"/>
              <a:ext cx="85344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C. The Concrete Factories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703610" y="7174564"/>
            <a:ext cx="7429500" cy="1300879"/>
            <a:chOff x="0" y="0"/>
            <a:chExt cx="9906000" cy="1734506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9906000" cy="1734506"/>
              <a:chOff x="0" y="0"/>
              <a:chExt cx="9906000" cy="1734506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9906000" cy="1734506"/>
              </a:xfrm>
              <a:custGeom>
                <a:avLst/>
                <a:gdLst/>
                <a:ahLst/>
                <a:cxnLst/>
                <a:rect r="r" b="b" t="t" l="l"/>
                <a:pathLst>
                  <a:path h="1734506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77656"/>
                      <a:pt x="9906000" y="173451"/>
                    </a:cubicBezTo>
                    <a:lnTo>
                      <a:pt x="9906000" y="1561055"/>
                    </a:lnTo>
                    <a:cubicBezTo>
                      <a:pt x="9906000" y="1656849"/>
                      <a:pt x="9792281" y="1734506"/>
                      <a:pt x="9652000" y="1734506"/>
                    </a:cubicBezTo>
                    <a:lnTo>
                      <a:pt x="254000" y="1734506"/>
                    </a:lnTo>
                    <a:cubicBezTo>
                      <a:pt x="113720" y="1734506"/>
                      <a:pt x="0" y="1656849"/>
                      <a:pt x="0" y="1561055"/>
                    </a:cubicBezTo>
                    <a:lnTo>
                      <a:pt x="0" y="173451"/>
                    </a:lnTo>
                    <a:cubicBezTo>
                      <a:pt x="0" y="77656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9906000" cy="17726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685800" y="475518"/>
              <a:ext cx="85344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D</a:t>
              </a: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. The Abstract Products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786095" y="1000125"/>
            <a:ext cx="14657376" cy="157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9"/>
              </a:lnSpc>
            </a:pPr>
            <a:r>
              <a:rPr lang="en-US" sz="6099">
                <a:solidFill>
                  <a:srgbClr val="F47575"/>
                </a:solidFill>
                <a:latin typeface="Paytone One"/>
                <a:ea typeface="Paytone One"/>
                <a:cs typeface="Paytone One"/>
                <a:sym typeface="Paytone One"/>
              </a:rPr>
              <a:t>5.Which component actually creates concrete objects?</a:t>
            </a:r>
          </a:p>
        </p:txBody>
      </p:sp>
    </p:spTree>
  </p:cSld>
  <p:clrMapOvr>
    <a:masterClrMapping/>
  </p:clrMapOvr>
  <p:transition spd="slow">
    <p:push dir="l"/>
  </p:transition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FC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6095" y="4241600"/>
            <a:ext cx="7429500" cy="1361077"/>
            <a:chOff x="0" y="0"/>
            <a:chExt cx="9906000" cy="181477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9906000" cy="1814770"/>
              <a:chOff x="0" y="0"/>
              <a:chExt cx="9906000" cy="181477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9906000" cy="1814770"/>
              </a:xfrm>
              <a:custGeom>
                <a:avLst/>
                <a:gdLst/>
                <a:ahLst/>
                <a:cxnLst/>
                <a:rect r="r" b="b" t="t" l="l"/>
                <a:pathLst>
                  <a:path h="1814770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81250"/>
                      <a:pt x="9906000" y="181477"/>
                    </a:cubicBezTo>
                    <a:lnTo>
                      <a:pt x="9906000" y="1633293"/>
                    </a:lnTo>
                    <a:cubicBezTo>
                      <a:pt x="9906000" y="1733520"/>
                      <a:pt x="9792281" y="1814770"/>
                      <a:pt x="9652000" y="1814770"/>
                    </a:cubicBezTo>
                    <a:lnTo>
                      <a:pt x="254000" y="1814770"/>
                    </a:lnTo>
                    <a:cubicBezTo>
                      <a:pt x="113720" y="1814770"/>
                      <a:pt x="0" y="1733520"/>
                      <a:pt x="0" y="1633293"/>
                    </a:cubicBezTo>
                    <a:lnTo>
                      <a:pt x="0" y="181477"/>
                    </a:lnTo>
                    <a:cubicBezTo>
                      <a:pt x="0" y="81250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9906000" cy="18528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685800" y="557089"/>
              <a:ext cx="92202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b="true" sz="2799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A. Observer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621125" y="-57150"/>
            <a:ext cx="2867025" cy="11001375"/>
            <a:chOff x="0" y="0"/>
            <a:chExt cx="3822700" cy="14668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22700" cy="14668500"/>
            </a:xfrm>
            <a:custGeom>
              <a:avLst/>
              <a:gdLst/>
              <a:ahLst/>
              <a:cxnLst/>
              <a:rect r="r" b="b" t="t" l="l"/>
              <a:pathLst>
                <a:path h="14668500" w="3822700">
                  <a:moveTo>
                    <a:pt x="0" y="0"/>
                  </a:moveTo>
                  <a:lnTo>
                    <a:pt x="3822700" y="0"/>
                  </a:lnTo>
                  <a:lnTo>
                    <a:pt x="3822700" y="14668500"/>
                  </a:lnTo>
                  <a:lnTo>
                    <a:pt x="0" y="14668500"/>
                  </a:lnTo>
                  <a:close/>
                </a:path>
              </a:pathLst>
            </a:custGeom>
            <a:solidFill>
              <a:srgbClr val="53456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822700" cy="1470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-5400000">
            <a:off x="16734810" y="8509973"/>
            <a:ext cx="1677629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Group 02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703610" y="4209542"/>
            <a:ext cx="7429500" cy="1425194"/>
            <a:chOff x="0" y="0"/>
            <a:chExt cx="9906000" cy="1900259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9906000" cy="1900259"/>
              <a:chOff x="0" y="0"/>
              <a:chExt cx="9906000" cy="1900259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9906000" cy="1900259"/>
              </a:xfrm>
              <a:custGeom>
                <a:avLst/>
                <a:gdLst/>
                <a:ahLst/>
                <a:cxnLst/>
                <a:rect r="r" b="b" t="t" l="l"/>
                <a:pathLst>
                  <a:path h="1900259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85077"/>
                      <a:pt x="9906000" y="190026"/>
                    </a:cubicBezTo>
                    <a:lnTo>
                      <a:pt x="9906000" y="1710233"/>
                    </a:lnTo>
                    <a:cubicBezTo>
                      <a:pt x="9906000" y="1815181"/>
                      <a:pt x="9792281" y="1900259"/>
                      <a:pt x="9652000" y="1900259"/>
                    </a:cubicBezTo>
                    <a:lnTo>
                      <a:pt x="254000" y="1900259"/>
                    </a:lnTo>
                    <a:cubicBezTo>
                      <a:pt x="113720" y="1900259"/>
                      <a:pt x="0" y="1815181"/>
                      <a:pt x="0" y="1710233"/>
                    </a:cubicBezTo>
                    <a:lnTo>
                      <a:pt x="0" y="190026"/>
                    </a:lnTo>
                    <a:cubicBezTo>
                      <a:pt x="0" y="85077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9906000" cy="19383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685800" y="589473"/>
              <a:ext cx="85344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B</a:t>
              </a: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. Singleton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86095" y="7143485"/>
            <a:ext cx="7429500" cy="1300879"/>
            <a:chOff x="0" y="0"/>
            <a:chExt cx="9906000" cy="173450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9906000" cy="1734506"/>
              <a:chOff x="0" y="0"/>
              <a:chExt cx="9906000" cy="173450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9906000" cy="1734506"/>
              </a:xfrm>
              <a:custGeom>
                <a:avLst/>
                <a:gdLst/>
                <a:ahLst/>
                <a:cxnLst/>
                <a:rect r="r" b="b" t="t" l="l"/>
                <a:pathLst>
                  <a:path h="1734506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77656"/>
                      <a:pt x="9906000" y="173451"/>
                    </a:cubicBezTo>
                    <a:lnTo>
                      <a:pt x="9906000" y="1561055"/>
                    </a:lnTo>
                    <a:cubicBezTo>
                      <a:pt x="9906000" y="1656849"/>
                      <a:pt x="9792281" y="1734506"/>
                      <a:pt x="9652000" y="1734506"/>
                    </a:cubicBezTo>
                    <a:lnTo>
                      <a:pt x="254000" y="1734506"/>
                    </a:lnTo>
                    <a:cubicBezTo>
                      <a:pt x="113720" y="1734506"/>
                      <a:pt x="0" y="1656849"/>
                      <a:pt x="0" y="1561055"/>
                    </a:cubicBezTo>
                    <a:lnTo>
                      <a:pt x="0" y="173451"/>
                    </a:lnTo>
                    <a:cubicBezTo>
                      <a:pt x="0" y="77656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9906000" cy="17726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685800" y="516956"/>
              <a:ext cx="85344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C. Strategy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703610" y="7174564"/>
            <a:ext cx="7429500" cy="1300879"/>
            <a:chOff x="0" y="0"/>
            <a:chExt cx="9906000" cy="1734506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9906000" cy="1734506"/>
              <a:chOff x="0" y="0"/>
              <a:chExt cx="9906000" cy="1734506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9906000" cy="1734506"/>
              </a:xfrm>
              <a:custGeom>
                <a:avLst/>
                <a:gdLst/>
                <a:ahLst/>
                <a:cxnLst/>
                <a:rect r="r" b="b" t="t" l="l"/>
                <a:pathLst>
                  <a:path h="1734506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77656"/>
                      <a:pt x="9906000" y="173451"/>
                    </a:cubicBezTo>
                    <a:lnTo>
                      <a:pt x="9906000" y="1561055"/>
                    </a:lnTo>
                    <a:cubicBezTo>
                      <a:pt x="9906000" y="1656849"/>
                      <a:pt x="9792281" y="1734506"/>
                      <a:pt x="9652000" y="1734506"/>
                    </a:cubicBezTo>
                    <a:lnTo>
                      <a:pt x="254000" y="1734506"/>
                    </a:lnTo>
                    <a:cubicBezTo>
                      <a:pt x="113720" y="1734506"/>
                      <a:pt x="0" y="1656849"/>
                      <a:pt x="0" y="1561055"/>
                    </a:cubicBezTo>
                    <a:lnTo>
                      <a:pt x="0" y="173451"/>
                    </a:lnTo>
                    <a:cubicBezTo>
                      <a:pt x="0" y="77656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9906000" cy="17726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685800" y="475518"/>
              <a:ext cx="85344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D</a:t>
              </a: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. Decorator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786095" y="1000125"/>
            <a:ext cx="14657376" cy="157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9"/>
              </a:lnSpc>
            </a:pPr>
            <a:r>
              <a:rPr lang="en-US" sz="6099">
                <a:solidFill>
                  <a:srgbClr val="F47575"/>
                </a:solidFill>
                <a:latin typeface="Paytone One"/>
                <a:ea typeface="Paytone One"/>
                <a:cs typeface="Paytone One"/>
                <a:sym typeface="Paytone One"/>
              </a:rPr>
              <a:t>6.Which pattern is often combined with Concrete Factories?</a:t>
            </a:r>
          </a:p>
        </p:txBody>
      </p:sp>
    </p:spTree>
  </p:cSld>
  <p:clrMapOvr>
    <a:masterClrMapping/>
  </p:clrMapOvr>
  <p:transition spd="slow">
    <p:push dir="l"/>
  </p:transition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solidFill>
          <a:srgbClr val="FC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6095" y="4241600"/>
            <a:ext cx="7429500" cy="1361077"/>
            <a:chOff x="0" y="0"/>
            <a:chExt cx="9906000" cy="181477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9906000" cy="1814770"/>
              <a:chOff x="0" y="0"/>
              <a:chExt cx="9906000" cy="181477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9906000" cy="1814770"/>
              </a:xfrm>
              <a:custGeom>
                <a:avLst/>
                <a:gdLst/>
                <a:ahLst/>
                <a:cxnLst/>
                <a:rect r="r" b="b" t="t" l="l"/>
                <a:pathLst>
                  <a:path h="1814770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81250"/>
                      <a:pt x="9906000" y="181477"/>
                    </a:cubicBezTo>
                    <a:lnTo>
                      <a:pt x="9906000" y="1633293"/>
                    </a:lnTo>
                    <a:cubicBezTo>
                      <a:pt x="9906000" y="1733520"/>
                      <a:pt x="9792281" y="1814770"/>
                      <a:pt x="9652000" y="1814770"/>
                    </a:cubicBezTo>
                    <a:lnTo>
                      <a:pt x="254000" y="1814770"/>
                    </a:lnTo>
                    <a:cubicBezTo>
                      <a:pt x="113720" y="1814770"/>
                      <a:pt x="0" y="1733520"/>
                      <a:pt x="0" y="1633293"/>
                    </a:cubicBezTo>
                    <a:lnTo>
                      <a:pt x="0" y="181477"/>
                    </a:lnTo>
                    <a:cubicBezTo>
                      <a:pt x="0" y="81250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9906000" cy="18528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685800" y="557089"/>
              <a:ext cx="92202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b="true" sz="2799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A. Observer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621125" y="-57150"/>
            <a:ext cx="2867025" cy="11001375"/>
            <a:chOff x="0" y="0"/>
            <a:chExt cx="3822700" cy="14668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22700" cy="14668500"/>
            </a:xfrm>
            <a:custGeom>
              <a:avLst/>
              <a:gdLst/>
              <a:ahLst/>
              <a:cxnLst/>
              <a:rect r="r" b="b" t="t" l="l"/>
              <a:pathLst>
                <a:path h="14668500" w="3822700">
                  <a:moveTo>
                    <a:pt x="0" y="0"/>
                  </a:moveTo>
                  <a:lnTo>
                    <a:pt x="3822700" y="0"/>
                  </a:lnTo>
                  <a:lnTo>
                    <a:pt x="3822700" y="14668500"/>
                  </a:lnTo>
                  <a:lnTo>
                    <a:pt x="0" y="14668500"/>
                  </a:lnTo>
                  <a:close/>
                </a:path>
              </a:pathLst>
            </a:custGeom>
            <a:solidFill>
              <a:srgbClr val="53456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822700" cy="1470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-5400000">
            <a:off x="16734810" y="8509973"/>
            <a:ext cx="1677629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Group 02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703610" y="4209542"/>
            <a:ext cx="7429500" cy="1425194"/>
            <a:chOff x="0" y="0"/>
            <a:chExt cx="9906000" cy="1900259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9906000" cy="1900259"/>
              <a:chOff x="0" y="0"/>
              <a:chExt cx="9906000" cy="1900259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9906000" cy="1900259"/>
              </a:xfrm>
              <a:custGeom>
                <a:avLst/>
                <a:gdLst/>
                <a:ahLst/>
                <a:cxnLst/>
                <a:rect r="r" b="b" t="t" l="l"/>
                <a:pathLst>
                  <a:path h="1900259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85077"/>
                      <a:pt x="9906000" y="190026"/>
                    </a:cubicBezTo>
                    <a:lnTo>
                      <a:pt x="9906000" y="1710233"/>
                    </a:lnTo>
                    <a:cubicBezTo>
                      <a:pt x="9906000" y="1815181"/>
                      <a:pt x="9792281" y="1900259"/>
                      <a:pt x="9652000" y="1900259"/>
                    </a:cubicBezTo>
                    <a:lnTo>
                      <a:pt x="254000" y="1900259"/>
                    </a:lnTo>
                    <a:cubicBezTo>
                      <a:pt x="113720" y="1900259"/>
                      <a:pt x="0" y="1815181"/>
                      <a:pt x="0" y="1710233"/>
                    </a:cubicBezTo>
                    <a:lnTo>
                      <a:pt x="0" y="190026"/>
                    </a:lnTo>
                    <a:cubicBezTo>
                      <a:pt x="0" y="85077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9906000" cy="19383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685800" y="589473"/>
              <a:ext cx="85344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b="true" sz="2799">
                  <a:solidFill>
                    <a:srgbClr val="FF5757"/>
                  </a:solidFill>
                  <a:latin typeface="Cabin Bold"/>
                  <a:ea typeface="Cabin Bold"/>
                  <a:cs typeface="Cabin Bold"/>
                  <a:sym typeface="Cabin Bold"/>
                </a:rPr>
                <a:t>B</a:t>
              </a:r>
              <a:r>
                <a:rPr lang="en-US" b="true" sz="2799">
                  <a:solidFill>
                    <a:srgbClr val="FF5757"/>
                  </a:solidFill>
                  <a:latin typeface="Cabin Bold"/>
                  <a:ea typeface="Cabin Bold"/>
                  <a:cs typeface="Cabin Bold"/>
                  <a:sym typeface="Cabin Bold"/>
                </a:rPr>
                <a:t>. Singleton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86095" y="7143485"/>
            <a:ext cx="7429500" cy="1300879"/>
            <a:chOff x="0" y="0"/>
            <a:chExt cx="9906000" cy="173450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9906000" cy="1734506"/>
              <a:chOff x="0" y="0"/>
              <a:chExt cx="9906000" cy="173450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9906000" cy="1734506"/>
              </a:xfrm>
              <a:custGeom>
                <a:avLst/>
                <a:gdLst/>
                <a:ahLst/>
                <a:cxnLst/>
                <a:rect r="r" b="b" t="t" l="l"/>
                <a:pathLst>
                  <a:path h="1734506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77656"/>
                      <a:pt x="9906000" y="173451"/>
                    </a:cubicBezTo>
                    <a:lnTo>
                      <a:pt x="9906000" y="1561055"/>
                    </a:lnTo>
                    <a:cubicBezTo>
                      <a:pt x="9906000" y="1656849"/>
                      <a:pt x="9792281" y="1734506"/>
                      <a:pt x="9652000" y="1734506"/>
                    </a:cubicBezTo>
                    <a:lnTo>
                      <a:pt x="254000" y="1734506"/>
                    </a:lnTo>
                    <a:cubicBezTo>
                      <a:pt x="113720" y="1734506"/>
                      <a:pt x="0" y="1656849"/>
                      <a:pt x="0" y="1561055"/>
                    </a:cubicBezTo>
                    <a:lnTo>
                      <a:pt x="0" y="173451"/>
                    </a:lnTo>
                    <a:cubicBezTo>
                      <a:pt x="0" y="77656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9906000" cy="17726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685800" y="516956"/>
              <a:ext cx="85344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C. Strategy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703610" y="7174564"/>
            <a:ext cx="7429500" cy="1300879"/>
            <a:chOff x="0" y="0"/>
            <a:chExt cx="9906000" cy="1734506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9906000" cy="1734506"/>
              <a:chOff x="0" y="0"/>
              <a:chExt cx="9906000" cy="1734506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9906000" cy="1734506"/>
              </a:xfrm>
              <a:custGeom>
                <a:avLst/>
                <a:gdLst/>
                <a:ahLst/>
                <a:cxnLst/>
                <a:rect r="r" b="b" t="t" l="l"/>
                <a:pathLst>
                  <a:path h="1734506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77656"/>
                      <a:pt x="9906000" y="173451"/>
                    </a:cubicBezTo>
                    <a:lnTo>
                      <a:pt x="9906000" y="1561055"/>
                    </a:lnTo>
                    <a:cubicBezTo>
                      <a:pt x="9906000" y="1656849"/>
                      <a:pt x="9792281" y="1734506"/>
                      <a:pt x="9652000" y="1734506"/>
                    </a:cubicBezTo>
                    <a:lnTo>
                      <a:pt x="254000" y="1734506"/>
                    </a:lnTo>
                    <a:cubicBezTo>
                      <a:pt x="113720" y="1734506"/>
                      <a:pt x="0" y="1656849"/>
                      <a:pt x="0" y="1561055"/>
                    </a:cubicBezTo>
                    <a:lnTo>
                      <a:pt x="0" y="173451"/>
                    </a:lnTo>
                    <a:cubicBezTo>
                      <a:pt x="0" y="77656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9906000" cy="17726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685800" y="475518"/>
              <a:ext cx="85344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D</a:t>
              </a: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. Decorator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786095" y="1000125"/>
            <a:ext cx="14657376" cy="157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9"/>
              </a:lnSpc>
            </a:pPr>
            <a:r>
              <a:rPr lang="en-US" sz="6099">
                <a:solidFill>
                  <a:srgbClr val="F47575"/>
                </a:solidFill>
                <a:latin typeface="Paytone One"/>
                <a:ea typeface="Paytone One"/>
                <a:cs typeface="Paytone One"/>
                <a:sym typeface="Paytone One"/>
              </a:rPr>
              <a:t>6.Which pattern is often combined with Concrete Factories?</a:t>
            </a:r>
          </a:p>
        </p:txBody>
      </p:sp>
    </p:spTree>
  </p:cSld>
  <p:clrMapOvr>
    <a:masterClrMapping/>
  </p:clrMapOvr>
  <p:transition spd="slow">
    <p:push dir="l"/>
  </p:transition>
</p:sld>
</file>

<file path=ppt/slides/slide30.xml><?xml version="1.0" encoding="utf-8"?>
<p:sld xmlns:p="http://schemas.openxmlformats.org/presentationml/2006/main" xmlns:a="http://schemas.openxmlformats.org/drawingml/2006/main">
  <p:cSld>
    <p:bg>
      <p:bgPr>
        <a:solidFill>
          <a:srgbClr val="FC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6095" y="4241600"/>
            <a:ext cx="7429500" cy="1361077"/>
            <a:chOff x="0" y="0"/>
            <a:chExt cx="9906000" cy="181477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9906000" cy="1814770"/>
              <a:chOff x="0" y="0"/>
              <a:chExt cx="9906000" cy="181477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9906000" cy="1814770"/>
              </a:xfrm>
              <a:custGeom>
                <a:avLst/>
                <a:gdLst/>
                <a:ahLst/>
                <a:cxnLst/>
                <a:rect r="r" b="b" t="t" l="l"/>
                <a:pathLst>
                  <a:path h="1814770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81250"/>
                      <a:pt x="9906000" y="181477"/>
                    </a:cubicBezTo>
                    <a:lnTo>
                      <a:pt x="9906000" y="1633293"/>
                    </a:lnTo>
                    <a:cubicBezTo>
                      <a:pt x="9906000" y="1733520"/>
                      <a:pt x="9792281" y="1814770"/>
                      <a:pt x="9652000" y="1814770"/>
                    </a:cubicBezTo>
                    <a:lnTo>
                      <a:pt x="254000" y="1814770"/>
                    </a:lnTo>
                    <a:cubicBezTo>
                      <a:pt x="113720" y="1814770"/>
                      <a:pt x="0" y="1733520"/>
                      <a:pt x="0" y="1633293"/>
                    </a:cubicBezTo>
                    <a:lnTo>
                      <a:pt x="0" y="181477"/>
                    </a:lnTo>
                    <a:cubicBezTo>
                      <a:pt x="0" y="81250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9906000" cy="18528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685800" y="557089"/>
              <a:ext cx="92202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b="true" sz="2799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A. Concrete types (e.g., WindowsButton)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621125" y="-57150"/>
            <a:ext cx="2867025" cy="11001375"/>
            <a:chOff x="0" y="0"/>
            <a:chExt cx="3822700" cy="14668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22700" cy="14668500"/>
            </a:xfrm>
            <a:custGeom>
              <a:avLst/>
              <a:gdLst/>
              <a:ahLst/>
              <a:cxnLst/>
              <a:rect r="r" b="b" t="t" l="l"/>
              <a:pathLst>
                <a:path h="14668500" w="3822700">
                  <a:moveTo>
                    <a:pt x="0" y="0"/>
                  </a:moveTo>
                  <a:lnTo>
                    <a:pt x="3822700" y="0"/>
                  </a:lnTo>
                  <a:lnTo>
                    <a:pt x="3822700" y="14668500"/>
                  </a:lnTo>
                  <a:lnTo>
                    <a:pt x="0" y="14668500"/>
                  </a:lnTo>
                  <a:close/>
                </a:path>
              </a:pathLst>
            </a:custGeom>
            <a:solidFill>
              <a:srgbClr val="53456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822700" cy="1470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-5400000">
            <a:off x="16734810" y="8509973"/>
            <a:ext cx="1677629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Group 02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703610" y="4272679"/>
            <a:ext cx="7429500" cy="1345538"/>
            <a:chOff x="0" y="0"/>
            <a:chExt cx="9906000" cy="179405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9906000" cy="1794051"/>
              <a:chOff x="0" y="0"/>
              <a:chExt cx="9906000" cy="179405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9906000" cy="1794051"/>
              </a:xfrm>
              <a:custGeom>
                <a:avLst/>
                <a:gdLst/>
                <a:ahLst/>
                <a:cxnLst/>
                <a:rect r="r" b="b" t="t" l="l"/>
                <a:pathLst>
                  <a:path h="1794051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80322"/>
                      <a:pt x="9906000" y="179405"/>
                    </a:cubicBezTo>
                    <a:lnTo>
                      <a:pt x="9906000" y="1614646"/>
                    </a:lnTo>
                    <a:cubicBezTo>
                      <a:pt x="9906000" y="1713728"/>
                      <a:pt x="9792281" y="1794051"/>
                      <a:pt x="9652000" y="1794051"/>
                    </a:cubicBezTo>
                    <a:lnTo>
                      <a:pt x="254000" y="1794051"/>
                    </a:lnTo>
                    <a:cubicBezTo>
                      <a:pt x="113720" y="1794051"/>
                      <a:pt x="0" y="1713728"/>
                      <a:pt x="0" y="1614646"/>
                    </a:cubicBezTo>
                    <a:lnTo>
                      <a:pt x="0" y="179405"/>
                    </a:lnTo>
                    <a:cubicBezTo>
                      <a:pt x="0" y="80322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9906000" cy="18321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685800" y="505291"/>
              <a:ext cx="9031659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B</a:t>
              </a: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. Abstract product interfaces (e.g., IButton)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86095" y="7143485"/>
            <a:ext cx="7429500" cy="1300879"/>
            <a:chOff x="0" y="0"/>
            <a:chExt cx="9906000" cy="173450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9906000" cy="1734506"/>
              <a:chOff x="0" y="0"/>
              <a:chExt cx="9906000" cy="173450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9906000" cy="1734506"/>
              </a:xfrm>
              <a:custGeom>
                <a:avLst/>
                <a:gdLst/>
                <a:ahLst/>
                <a:cxnLst/>
                <a:rect r="r" b="b" t="t" l="l"/>
                <a:pathLst>
                  <a:path h="1734506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77656"/>
                      <a:pt x="9906000" y="173451"/>
                    </a:cubicBezTo>
                    <a:lnTo>
                      <a:pt x="9906000" y="1561055"/>
                    </a:lnTo>
                    <a:cubicBezTo>
                      <a:pt x="9906000" y="1656849"/>
                      <a:pt x="9792281" y="1734506"/>
                      <a:pt x="9652000" y="1734506"/>
                    </a:cubicBezTo>
                    <a:lnTo>
                      <a:pt x="254000" y="1734506"/>
                    </a:lnTo>
                    <a:cubicBezTo>
                      <a:pt x="113720" y="1734506"/>
                      <a:pt x="0" y="1656849"/>
                      <a:pt x="0" y="1561055"/>
                    </a:cubicBezTo>
                    <a:lnTo>
                      <a:pt x="0" y="173451"/>
                    </a:lnTo>
                    <a:cubicBezTo>
                      <a:pt x="0" y="77656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9906000" cy="17726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685800" y="516956"/>
              <a:ext cx="85344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C. Generic objects (Object, Any)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703610" y="7174564"/>
            <a:ext cx="7429500" cy="1300879"/>
            <a:chOff x="0" y="0"/>
            <a:chExt cx="9906000" cy="1734506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9906000" cy="1734506"/>
              <a:chOff x="0" y="0"/>
              <a:chExt cx="9906000" cy="1734506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9906000" cy="1734506"/>
              </a:xfrm>
              <a:custGeom>
                <a:avLst/>
                <a:gdLst/>
                <a:ahLst/>
                <a:cxnLst/>
                <a:rect r="r" b="b" t="t" l="l"/>
                <a:pathLst>
                  <a:path h="1734506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77656"/>
                      <a:pt x="9906000" y="173451"/>
                    </a:cubicBezTo>
                    <a:lnTo>
                      <a:pt x="9906000" y="1561055"/>
                    </a:lnTo>
                    <a:cubicBezTo>
                      <a:pt x="9906000" y="1656849"/>
                      <a:pt x="9792281" y="1734506"/>
                      <a:pt x="9652000" y="1734506"/>
                    </a:cubicBezTo>
                    <a:lnTo>
                      <a:pt x="254000" y="1734506"/>
                    </a:lnTo>
                    <a:cubicBezTo>
                      <a:pt x="113720" y="1734506"/>
                      <a:pt x="0" y="1656849"/>
                      <a:pt x="0" y="1561055"/>
                    </a:cubicBezTo>
                    <a:lnTo>
                      <a:pt x="0" y="173451"/>
                    </a:lnTo>
                    <a:cubicBezTo>
                      <a:pt x="0" y="77656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9906000" cy="17726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685800" y="475518"/>
              <a:ext cx="85344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D</a:t>
              </a: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. Boolean success flags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786095" y="1000125"/>
            <a:ext cx="14657376" cy="157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9"/>
              </a:lnSpc>
            </a:pPr>
            <a:r>
              <a:rPr lang="en-US" sz="6099">
                <a:solidFill>
                  <a:srgbClr val="F47575"/>
                </a:solidFill>
                <a:latin typeface="Paytone One"/>
                <a:ea typeface="Paytone One"/>
                <a:cs typeface="Paytone One"/>
                <a:sym typeface="Paytone One"/>
              </a:rPr>
              <a:t>7.What should factory creation methods return?</a:t>
            </a:r>
          </a:p>
        </p:txBody>
      </p:sp>
    </p:spTree>
  </p:cSld>
  <p:clrMapOvr>
    <a:masterClrMapping/>
  </p:clrMapOvr>
  <p:transition spd="slow">
    <p:push dir="l"/>
  </p:transition>
</p:sld>
</file>

<file path=ppt/slides/slide31.xml><?xml version="1.0" encoding="utf-8"?>
<p:sld xmlns:p="http://schemas.openxmlformats.org/presentationml/2006/main" xmlns:a="http://schemas.openxmlformats.org/drawingml/2006/main">
  <p:cSld>
    <p:bg>
      <p:bgPr>
        <a:solidFill>
          <a:srgbClr val="FC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6095" y="4241600"/>
            <a:ext cx="7429500" cy="1361077"/>
            <a:chOff x="0" y="0"/>
            <a:chExt cx="9906000" cy="181477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9906000" cy="1814770"/>
              <a:chOff x="0" y="0"/>
              <a:chExt cx="9906000" cy="181477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9906000" cy="1814770"/>
              </a:xfrm>
              <a:custGeom>
                <a:avLst/>
                <a:gdLst/>
                <a:ahLst/>
                <a:cxnLst/>
                <a:rect r="r" b="b" t="t" l="l"/>
                <a:pathLst>
                  <a:path h="1814770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81250"/>
                      <a:pt x="9906000" y="181477"/>
                    </a:cubicBezTo>
                    <a:lnTo>
                      <a:pt x="9906000" y="1633293"/>
                    </a:lnTo>
                    <a:cubicBezTo>
                      <a:pt x="9906000" y="1733520"/>
                      <a:pt x="9792281" y="1814770"/>
                      <a:pt x="9652000" y="1814770"/>
                    </a:cubicBezTo>
                    <a:lnTo>
                      <a:pt x="254000" y="1814770"/>
                    </a:lnTo>
                    <a:cubicBezTo>
                      <a:pt x="113720" y="1814770"/>
                      <a:pt x="0" y="1733520"/>
                      <a:pt x="0" y="1633293"/>
                    </a:cubicBezTo>
                    <a:lnTo>
                      <a:pt x="0" y="181477"/>
                    </a:lnTo>
                    <a:cubicBezTo>
                      <a:pt x="0" y="81250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9906000" cy="18528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685800" y="557089"/>
              <a:ext cx="92202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b="true" sz="2799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A. Concrete types (e.g., WindowsButton)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621125" y="-57150"/>
            <a:ext cx="2867025" cy="11001375"/>
            <a:chOff x="0" y="0"/>
            <a:chExt cx="3822700" cy="14668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22700" cy="14668500"/>
            </a:xfrm>
            <a:custGeom>
              <a:avLst/>
              <a:gdLst/>
              <a:ahLst/>
              <a:cxnLst/>
              <a:rect r="r" b="b" t="t" l="l"/>
              <a:pathLst>
                <a:path h="14668500" w="3822700">
                  <a:moveTo>
                    <a:pt x="0" y="0"/>
                  </a:moveTo>
                  <a:lnTo>
                    <a:pt x="3822700" y="0"/>
                  </a:lnTo>
                  <a:lnTo>
                    <a:pt x="3822700" y="14668500"/>
                  </a:lnTo>
                  <a:lnTo>
                    <a:pt x="0" y="14668500"/>
                  </a:lnTo>
                  <a:close/>
                </a:path>
              </a:pathLst>
            </a:custGeom>
            <a:solidFill>
              <a:srgbClr val="53456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822700" cy="1470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-5400000">
            <a:off x="16734810" y="8509973"/>
            <a:ext cx="1677629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Group 02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703610" y="4272679"/>
            <a:ext cx="7429500" cy="1345538"/>
            <a:chOff x="0" y="0"/>
            <a:chExt cx="9906000" cy="179405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9906000" cy="1794051"/>
              <a:chOff x="0" y="0"/>
              <a:chExt cx="9906000" cy="179405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9906000" cy="1794051"/>
              </a:xfrm>
              <a:custGeom>
                <a:avLst/>
                <a:gdLst/>
                <a:ahLst/>
                <a:cxnLst/>
                <a:rect r="r" b="b" t="t" l="l"/>
                <a:pathLst>
                  <a:path h="1794051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80322"/>
                      <a:pt x="9906000" y="179405"/>
                    </a:cubicBezTo>
                    <a:lnTo>
                      <a:pt x="9906000" y="1614646"/>
                    </a:lnTo>
                    <a:cubicBezTo>
                      <a:pt x="9906000" y="1713728"/>
                      <a:pt x="9792281" y="1794051"/>
                      <a:pt x="9652000" y="1794051"/>
                    </a:cubicBezTo>
                    <a:lnTo>
                      <a:pt x="254000" y="1794051"/>
                    </a:lnTo>
                    <a:cubicBezTo>
                      <a:pt x="113720" y="1794051"/>
                      <a:pt x="0" y="1713728"/>
                      <a:pt x="0" y="1614646"/>
                    </a:cubicBezTo>
                    <a:lnTo>
                      <a:pt x="0" y="179405"/>
                    </a:lnTo>
                    <a:cubicBezTo>
                      <a:pt x="0" y="80322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9906000" cy="18321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685800" y="505291"/>
              <a:ext cx="9031659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b="true" sz="2799">
                  <a:solidFill>
                    <a:srgbClr val="FF5757"/>
                  </a:solidFill>
                  <a:latin typeface="Cabin Bold"/>
                  <a:ea typeface="Cabin Bold"/>
                  <a:cs typeface="Cabin Bold"/>
                  <a:sym typeface="Cabin Bold"/>
                </a:rPr>
                <a:t>B</a:t>
              </a:r>
              <a:r>
                <a:rPr lang="en-US" b="true" sz="2799">
                  <a:solidFill>
                    <a:srgbClr val="FF5757"/>
                  </a:solidFill>
                  <a:latin typeface="Cabin Bold"/>
                  <a:ea typeface="Cabin Bold"/>
                  <a:cs typeface="Cabin Bold"/>
                  <a:sym typeface="Cabin Bold"/>
                </a:rPr>
                <a:t>. Abstract product interfaces (e.g., IButton)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86095" y="7143485"/>
            <a:ext cx="7429500" cy="1300879"/>
            <a:chOff x="0" y="0"/>
            <a:chExt cx="9906000" cy="173450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9906000" cy="1734506"/>
              <a:chOff x="0" y="0"/>
              <a:chExt cx="9906000" cy="173450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9906000" cy="1734506"/>
              </a:xfrm>
              <a:custGeom>
                <a:avLst/>
                <a:gdLst/>
                <a:ahLst/>
                <a:cxnLst/>
                <a:rect r="r" b="b" t="t" l="l"/>
                <a:pathLst>
                  <a:path h="1734506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77656"/>
                      <a:pt x="9906000" y="173451"/>
                    </a:cubicBezTo>
                    <a:lnTo>
                      <a:pt x="9906000" y="1561055"/>
                    </a:lnTo>
                    <a:cubicBezTo>
                      <a:pt x="9906000" y="1656849"/>
                      <a:pt x="9792281" y="1734506"/>
                      <a:pt x="9652000" y="1734506"/>
                    </a:cubicBezTo>
                    <a:lnTo>
                      <a:pt x="254000" y="1734506"/>
                    </a:lnTo>
                    <a:cubicBezTo>
                      <a:pt x="113720" y="1734506"/>
                      <a:pt x="0" y="1656849"/>
                      <a:pt x="0" y="1561055"/>
                    </a:cubicBezTo>
                    <a:lnTo>
                      <a:pt x="0" y="173451"/>
                    </a:lnTo>
                    <a:cubicBezTo>
                      <a:pt x="0" y="77656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9906000" cy="17726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685800" y="516956"/>
              <a:ext cx="85344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C. Generic objects (Object, Any)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703610" y="7174564"/>
            <a:ext cx="7429500" cy="1300879"/>
            <a:chOff x="0" y="0"/>
            <a:chExt cx="9906000" cy="1734506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9906000" cy="1734506"/>
              <a:chOff x="0" y="0"/>
              <a:chExt cx="9906000" cy="1734506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9906000" cy="1734506"/>
              </a:xfrm>
              <a:custGeom>
                <a:avLst/>
                <a:gdLst/>
                <a:ahLst/>
                <a:cxnLst/>
                <a:rect r="r" b="b" t="t" l="l"/>
                <a:pathLst>
                  <a:path h="1734506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77656"/>
                      <a:pt x="9906000" y="173451"/>
                    </a:cubicBezTo>
                    <a:lnTo>
                      <a:pt x="9906000" y="1561055"/>
                    </a:lnTo>
                    <a:cubicBezTo>
                      <a:pt x="9906000" y="1656849"/>
                      <a:pt x="9792281" y="1734506"/>
                      <a:pt x="9652000" y="1734506"/>
                    </a:cubicBezTo>
                    <a:lnTo>
                      <a:pt x="254000" y="1734506"/>
                    </a:lnTo>
                    <a:cubicBezTo>
                      <a:pt x="113720" y="1734506"/>
                      <a:pt x="0" y="1656849"/>
                      <a:pt x="0" y="1561055"/>
                    </a:cubicBezTo>
                    <a:lnTo>
                      <a:pt x="0" y="173451"/>
                    </a:lnTo>
                    <a:cubicBezTo>
                      <a:pt x="0" y="77656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9906000" cy="17726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685800" y="475518"/>
              <a:ext cx="85344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D</a:t>
              </a: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. Boolean success flags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786095" y="1000125"/>
            <a:ext cx="14657376" cy="157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9"/>
              </a:lnSpc>
            </a:pPr>
            <a:r>
              <a:rPr lang="en-US" sz="6099">
                <a:solidFill>
                  <a:srgbClr val="F47575"/>
                </a:solidFill>
                <a:latin typeface="Paytone One"/>
                <a:ea typeface="Paytone One"/>
                <a:cs typeface="Paytone One"/>
                <a:sym typeface="Paytone One"/>
              </a:rPr>
              <a:t>7.What should factory creation methods return?</a:t>
            </a:r>
          </a:p>
        </p:txBody>
      </p:sp>
    </p:spTree>
  </p:cSld>
  <p:clrMapOvr>
    <a:masterClrMapping/>
  </p:clrMapOvr>
  <p:transition spd="slow">
    <p:push dir="l"/>
  </p:transition>
</p:sld>
</file>

<file path=ppt/slides/slide32.xml><?xml version="1.0" encoding="utf-8"?>
<p:sld xmlns:p="http://schemas.openxmlformats.org/presentationml/2006/main" xmlns:a="http://schemas.openxmlformats.org/drawingml/2006/main">
  <p:cSld>
    <p:bg>
      <p:bgPr>
        <a:solidFill>
          <a:srgbClr val="FC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6095" y="4241600"/>
            <a:ext cx="7429500" cy="1361077"/>
            <a:chOff x="0" y="0"/>
            <a:chExt cx="9906000" cy="181477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9906000" cy="1814770"/>
              <a:chOff x="0" y="0"/>
              <a:chExt cx="9906000" cy="181477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9906000" cy="1814770"/>
              </a:xfrm>
              <a:custGeom>
                <a:avLst/>
                <a:gdLst/>
                <a:ahLst/>
                <a:cxnLst/>
                <a:rect r="r" b="b" t="t" l="l"/>
                <a:pathLst>
                  <a:path h="1814770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81250"/>
                      <a:pt x="9906000" y="181477"/>
                    </a:cubicBezTo>
                    <a:lnTo>
                      <a:pt x="9906000" y="1633293"/>
                    </a:lnTo>
                    <a:cubicBezTo>
                      <a:pt x="9906000" y="1733520"/>
                      <a:pt x="9792281" y="1814770"/>
                      <a:pt x="9652000" y="1814770"/>
                    </a:cubicBezTo>
                    <a:lnTo>
                      <a:pt x="254000" y="1814770"/>
                    </a:lnTo>
                    <a:cubicBezTo>
                      <a:pt x="113720" y="1814770"/>
                      <a:pt x="0" y="1733520"/>
                      <a:pt x="0" y="1633293"/>
                    </a:cubicBezTo>
                    <a:lnTo>
                      <a:pt x="0" y="181477"/>
                    </a:lnTo>
                    <a:cubicBezTo>
                      <a:pt x="0" y="81250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9906000" cy="18528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685800" y="557089"/>
              <a:ext cx="92202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b="true" sz="2799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A. Single Responsibility Principle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621125" y="-57150"/>
            <a:ext cx="2867025" cy="11001375"/>
            <a:chOff x="0" y="0"/>
            <a:chExt cx="3822700" cy="14668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22700" cy="14668500"/>
            </a:xfrm>
            <a:custGeom>
              <a:avLst/>
              <a:gdLst/>
              <a:ahLst/>
              <a:cxnLst/>
              <a:rect r="r" b="b" t="t" l="l"/>
              <a:pathLst>
                <a:path h="14668500" w="3822700">
                  <a:moveTo>
                    <a:pt x="0" y="0"/>
                  </a:moveTo>
                  <a:lnTo>
                    <a:pt x="3822700" y="0"/>
                  </a:lnTo>
                  <a:lnTo>
                    <a:pt x="3822700" y="14668500"/>
                  </a:lnTo>
                  <a:lnTo>
                    <a:pt x="0" y="14668500"/>
                  </a:lnTo>
                  <a:close/>
                </a:path>
              </a:pathLst>
            </a:custGeom>
            <a:solidFill>
              <a:srgbClr val="53456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822700" cy="1470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-5400000">
            <a:off x="16734810" y="8509973"/>
            <a:ext cx="1677629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Group 02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703610" y="4272679"/>
            <a:ext cx="7429500" cy="1345538"/>
            <a:chOff x="0" y="0"/>
            <a:chExt cx="9906000" cy="179405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9906000" cy="1794051"/>
              <a:chOff x="0" y="0"/>
              <a:chExt cx="9906000" cy="179405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9906000" cy="1794051"/>
              </a:xfrm>
              <a:custGeom>
                <a:avLst/>
                <a:gdLst/>
                <a:ahLst/>
                <a:cxnLst/>
                <a:rect r="r" b="b" t="t" l="l"/>
                <a:pathLst>
                  <a:path h="1794051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80322"/>
                      <a:pt x="9906000" y="179405"/>
                    </a:cubicBezTo>
                    <a:lnTo>
                      <a:pt x="9906000" y="1614646"/>
                    </a:lnTo>
                    <a:cubicBezTo>
                      <a:pt x="9906000" y="1713728"/>
                      <a:pt x="9792281" y="1794051"/>
                      <a:pt x="9652000" y="1794051"/>
                    </a:cubicBezTo>
                    <a:lnTo>
                      <a:pt x="254000" y="1794051"/>
                    </a:lnTo>
                    <a:cubicBezTo>
                      <a:pt x="113720" y="1794051"/>
                      <a:pt x="0" y="1713728"/>
                      <a:pt x="0" y="1614646"/>
                    </a:cubicBezTo>
                    <a:lnTo>
                      <a:pt x="0" y="179405"/>
                    </a:lnTo>
                    <a:cubicBezTo>
                      <a:pt x="0" y="80322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9906000" cy="18321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685800" y="505291"/>
              <a:ext cx="9031659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b="true" sz="2799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B</a:t>
              </a:r>
              <a:r>
                <a:rPr lang="en-US" b="true" sz="2799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. Open/Closed Principle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86095" y="7143485"/>
            <a:ext cx="7429500" cy="1300879"/>
            <a:chOff x="0" y="0"/>
            <a:chExt cx="9906000" cy="173450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9906000" cy="1734506"/>
              <a:chOff x="0" y="0"/>
              <a:chExt cx="9906000" cy="173450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9906000" cy="1734506"/>
              </a:xfrm>
              <a:custGeom>
                <a:avLst/>
                <a:gdLst/>
                <a:ahLst/>
                <a:cxnLst/>
                <a:rect r="r" b="b" t="t" l="l"/>
                <a:pathLst>
                  <a:path h="1734506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77656"/>
                      <a:pt x="9906000" y="173451"/>
                    </a:cubicBezTo>
                    <a:lnTo>
                      <a:pt x="9906000" y="1561055"/>
                    </a:lnTo>
                    <a:cubicBezTo>
                      <a:pt x="9906000" y="1656849"/>
                      <a:pt x="9792281" y="1734506"/>
                      <a:pt x="9652000" y="1734506"/>
                    </a:cubicBezTo>
                    <a:lnTo>
                      <a:pt x="254000" y="1734506"/>
                    </a:lnTo>
                    <a:cubicBezTo>
                      <a:pt x="113720" y="1734506"/>
                      <a:pt x="0" y="1656849"/>
                      <a:pt x="0" y="1561055"/>
                    </a:cubicBezTo>
                    <a:lnTo>
                      <a:pt x="0" y="173451"/>
                    </a:lnTo>
                    <a:cubicBezTo>
                      <a:pt x="0" y="77656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9906000" cy="17726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685800" y="516956"/>
              <a:ext cx="85344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C. Liskov Substitution Principle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703610" y="7174564"/>
            <a:ext cx="7429500" cy="1300879"/>
            <a:chOff x="0" y="0"/>
            <a:chExt cx="9906000" cy="1734506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9906000" cy="1734506"/>
              <a:chOff x="0" y="0"/>
              <a:chExt cx="9906000" cy="1734506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9906000" cy="1734506"/>
              </a:xfrm>
              <a:custGeom>
                <a:avLst/>
                <a:gdLst/>
                <a:ahLst/>
                <a:cxnLst/>
                <a:rect r="r" b="b" t="t" l="l"/>
                <a:pathLst>
                  <a:path h="1734506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77656"/>
                      <a:pt x="9906000" y="173451"/>
                    </a:cubicBezTo>
                    <a:lnTo>
                      <a:pt x="9906000" y="1561055"/>
                    </a:lnTo>
                    <a:cubicBezTo>
                      <a:pt x="9906000" y="1656849"/>
                      <a:pt x="9792281" y="1734506"/>
                      <a:pt x="9652000" y="1734506"/>
                    </a:cubicBezTo>
                    <a:lnTo>
                      <a:pt x="254000" y="1734506"/>
                    </a:lnTo>
                    <a:cubicBezTo>
                      <a:pt x="113720" y="1734506"/>
                      <a:pt x="0" y="1656849"/>
                      <a:pt x="0" y="1561055"/>
                    </a:cubicBezTo>
                    <a:lnTo>
                      <a:pt x="0" y="173451"/>
                    </a:lnTo>
                    <a:cubicBezTo>
                      <a:pt x="0" y="77656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9906000" cy="17726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685800" y="475518"/>
              <a:ext cx="85344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D</a:t>
              </a: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. Dependency Inversion Principle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786095" y="1000125"/>
            <a:ext cx="14657376" cy="157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9"/>
              </a:lnSpc>
            </a:pPr>
            <a:r>
              <a:rPr lang="en-US" sz="6099">
                <a:solidFill>
                  <a:srgbClr val="F47575"/>
                </a:solidFill>
                <a:latin typeface="Paytone One"/>
                <a:ea typeface="Paytone One"/>
                <a:cs typeface="Paytone One"/>
                <a:sym typeface="Paytone One"/>
              </a:rPr>
              <a:t>8.Which SOLID principle does Abstract Factory promote most?</a:t>
            </a:r>
          </a:p>
        </p:txBody>
      </p:sp>
    </p:spTree>
  </p:cSld>
  <p:clrMapOvr>
    <a:masterClrMapping/>
  </p:clrMapOvr>
  <p:transition spd="slow">
    <p:push dir="l"/>
  </p:transition>
</p:sld>
</file>

<file path=ppt/slides/slide33.xml><?xml version="1.0" encoding="utf-8"?>
<p:sld xmlns:p="http://schemas.openxmlformats.org/presentationml/2006/main" xmlns:a="http://schemas.openxmlformats.org/drawingml/2006/main">
  <p:cSld>
    <p:bg>
      <p:bgPr>
        <a:solidFill>
          <a:srgbClr val="FC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6095" y="4241600"/>
            <a:ext cx="7429500" cy="1361077"/>
            <a:chOff x="0" y="0"/>
            <a:chExt cx="9906000" cy="181477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9906000" cy="1814770"/>
              <a:chOff x="0" y="0"/>
              <a:chExt cx="9906000" cy="181477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9906000" cy="1814770"/>
              </a:xfrm>
              <a:custGeom>
                <a:avLst/>
                <a:gdLst/>
                <a:ahLst/>
                <a:cxnLst/>
                <a:rect r="r" b="b" t="t" l="l"/>
                <a:pathLst>
                  <a:path h="1814770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81250"/>
                      <a:pt x="9906000" y="181477"/>
                    </a:cubicBezTo>
                    <a:lnTo>
                      <a:pt x="9906000" y="1633293"/>
                    </a:lnTo>
                    <a:cubicBezTo>
                      <a:pt x="9906000" y="1733520"/>
                      <a:pt x="9792281" y="1814770"/>
                      <a:pt x="9652000" y="1814770"/>
                    </a:cubicBezTo>
                    <a:lnTo>
                      <a:pt x="254000" y="1814770"/>
                    </a:lnTo>
                    <a:cubicBezTo>
                      <a:pt x="113720" y="1814770"/>
                      <a:pt x="0" y="1733520"/>
                      <a:pt x="0" y="1633293"/>
                    </a:cubicBezTo>
                    <a:lnTo>
                      <a:pt x="0" y="181477"/>
                    </a:lnTo>
                    <a:cubicBezTo>
                      <a:pt x="0" y="81250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9906000" cy="18528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685800" y="557089"/>
              <a:ext cx="92202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b="true" sz="2799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A. Single Responsibility Principle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621125" y="-57150"/>
            <a:ext cx="2867025" cy="11001375"/>
            <a:chOff x="0" y="0"/>
            <a:chExt cx="3822700" cy="14668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22700" cy="14668500"/>
            </a:xfrm>
            <a:custGeom>
              <a:avLst/>
              <a:gdLst/>
              <a:ahLst/>
              <a:cxnLst/>
              <a:rect r="r" b="b" t="t" l="l"/>
              <a:pathLst>
                <a:path h="14668500" w="3822700">
                  <a:moveTo>
                    <a:pt x="0" y="0"/>
                  </a:moveTo>
                  <a:lnTo>
                    <a:pt x="3822700" y="0"/>
                  </a:lnTo>
                  <a:lnTo>
                    <a:pt x="3822700" y="14668500"/>
                  </a:lnTo>
                  <a:lnTo>
                    <a:pt x="0" y="14668500"/>
                  </a:lnTo>
                  <a:close/>
                </a:path>
              </a:pathLst>
            </a:custGeom>
            <a:solidFill>
              <a:srgbClr val="53456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822700" cy="1470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-5400000">
            <a:off x="16734810" y="8509973"/>
            <a:ext cx="1677629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Group 02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703610" y="4272679"/>
            <a:ext cx="7429500" cy="1345538"/>
            <a:chOff x="0" y="0"/>
            <a:chExt cx="9906000" cy="179405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9906000" cy="1794051"/>
              <a:chOff x="0" y="0"/>
              <a:chExt cx="9906000" cy="179405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9906000" cy="1794051"/>
              </a:xfrm>
              <a:custGeom>
                <a:avLst/>
                <a:gdLst/>
                <a:ahLst/>
                <a:cxnLst/>
                <a:rect r="r" b="b" t="t" l="l"/>
                <a:pathLst>
                  <a:path h="1794051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80322"/>
                      <a:pt x="9906000" y="179405"/>
                    </a:cubicBezTo>
                    <a:lnTo>
                      <a:pt x="9906000" y="1614646"/>
                    </a:lnTo>
                    <a:cubicBezTo>
                      <a:pt x="9906000" y="1713728"/>
                      <a:pt x="9792281" y="1794051"/>
                      <a:pt x="9652000" y="1794051"/>
                    </a:cubicBezTo>
                    <a:lnTo>
                      <a:pt x="254000" y="1794051"/>
                    </a:lnTo>
                    <a:cubicBezTo>
                      <a:pt x="113720" y="1794051"/>
                      <a:pt x="0" y="1713728"/>
                      <a:pt x="0" y="1614646"/>
                    </a:cubicBezTo>
                    <a:lnTo>
                      <a:pt x="0" y="179405"/>
                    </a:lnTo>
                    <a:cubicBezTo>
                      <a:pt x="0" y="80322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9906000" cy="18321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685800" y="505291"/>
              <a:ext cx="9031659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b="true" sz="2799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B</a:t>
              </a:r>
              <a:r>
                <a:rPr lang="en-US" b="true" sz="2799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. Open/Closed Principle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86095" y="7143485"/>
            <a:ext cx="7429500" cy="1300879"/>
            <a:chOff x="0" y="0"/>
            <a:chExt cx="9906000" cy="173450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9906000" cy="1734506"/>
              <a:chOff x="0" y="0"/>
              <a:chExt cx="9906000" cy="173450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9906000" cy="1734506"/>
              </a:xfrm>
              <a:custGeom>
                <a:avLst/>
                <a:gdLst/>
                <a:ahLst/>
                <a:cxnLst/>
                <a:rect r="r" b="b" t="t" l="l"/>
                <a:pathLst>
                  <a:path h="1734506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77656"/>
                      <a:pt x="9906000" y="173451"/>
                    </a:cubicBezTo>
                    <a:lnTo>
                      <a:pt x="9906000" y="1561055"/>
                    </a:lnTo>
                    <a:cubicBezTo>
                      <a:pt x="9906000" y="1656849"/>
                      <a:pt x="9792281" y="1734506"/>
                      <a:pt x="9652000" y="1734506"/>
                    </a:cubicBezTo>
                    <a:lnTo>
                      <a:pt x="254000" y="1734506"/>
                    </a:lnTo>
                    <a:cubicBezTo>
                      <a:pt x="113720" y="1734506"/>
                      <a:pt x="0" y="1656849"/>
                      <a:pt x="0" y="1561055"/>
                    </a:cubicBezTo>
                    <a:lnTo>
                      <a:pt x="0" y="173451"/>
                    </a:lnTo>
                    <a:cubicBezTo>
                      <a:pt x="0" y="77656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9906000" cy="17726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685800" y="516956"/>
              <a:ext cx="85344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534569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C. Liskov Substitution Principle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703610" y="7174564"/>
            <a:ext cx="7429500" cy="1300879"/>
            <a:chOff x="0" y="0"/>
            <a:chExt cx="9906000" cy="1734506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9906000" cy="1734506"/>
              <a:chOff x="0" y="0"/>
              <a:chExt cx="9906000" cy="1734506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9906000" cy="1734506"/>
              </a:xfrm>
              <a:custGeom>
                <a:avLst/>
                <a:gdLst/>
                <a:ahLst/>
                <a:cxnLst/>
                <a:rect r="r" b="b" t="t" l="l"/>
                <a:pathLst>
                  <a:path h="1734506" w="9906000">
                    <a:moveTo>
                      <a:pt x="254000" y="0"/>
                    </a:moveTo>
                    <a:lnTo>
                      <a:pt x="9652000" y="0"/>
                    </a:lnTo>
                    <a:cubicBezTo>
                      <a:pt x="9792281" y="0"/>
                      <a:pt x="9906000" y="77656"/>
                      <a:pt x="9906000" y="173451"/>
                    </a:cubicBezTo>
                    <a:lnTo>
                      <a:pt x="9906000" y="1561055"/>
                    </a:lnTo>
                    <a:cubicBezTo>
                      <a:pt x="9906000" y="1656849"/>
                      <a:pt x="9792281" y="1734506"/>
                      <a:pt x="9652000" y="1734506"/>
                    </a:cubicBezTo>
                    <a:lnTo>
                      <a:pt x="254000" y="1734506"/>
                    </a:lnTo>
                    <a:cubicBezTo>
                      <a:pt x="113720" y="1734506"/>
                      <a:pt x="0" y="1656849"/>
                      <a:pt x="0" y="1561055"/>
                    </a:cubicBezTo>
                    <a:lnTo>
                      <a:pt x="0" y="173451"/>
                    </a:lnTo>
                    <a:cubicBezTo>
                      <a:pt x="0" y="77656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EECACA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9906000" cy="17726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685800" y="475518"/>
              <a:ext cx="85344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b="true" sz="2799">
                  <a:solidFill>
                    <a:srgbClr val="FF5757"/>
                  </a:solidFill>
                  <a:latin typeface="Cabin Bold"/>
                  <a:ea typeface="Cabin Bold"/>
                  <a:cs typeface="Cabin Bold"/>
                  <a:sym typeface="Cabin Bold"/>
                </a:rPr>
                <a:t>D</a:t>
              </a:r>
              <a:r>
                <a:rPr lang="en-US" b="true" sz="2799">
                  <a:solidFill>
                    <a:srgbClr val="FF5757"/>
                  </a:solidFill>
                  <a:latin typeface="Cabin Bold"/>
                  <a:ea typeface="Cabin Bold"/>
                  <a:cs typeface="Cabin Bold"/>
                  <a:sym typeface="Cabin Bold"/>
                </a:rPr>
                <a:t>. Dependency Inversion Principle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786095" y="1000125"/>
            <a:ext cx="14657376" cy="157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9"/>
              </a:lnSpc>
            </a:pPr>
            <a:r>
              <a:rPr lang="en-US" sz="6099">
                <a:solidFill>
                  <a:srgbClr val="F47575"/>
                </a:solidFill>
                <a:latin typeface="Paytone One"/>
                <a:ea typeface="Paytone One"/>
                <a:cs typeface="Paytone One"/>
                <a:sym typeface="Paytone One"/>
              </a:rPr>
              <a:t>8.Which SOLID principle does Abstract Factory promote most?</a:t>
            </a:r>
          </a:p>
        </p:txBody>
      </p:sp>
    </p:spTree>
  </p:cSld>
  <p:clrMapOvr>
    <a:masterClrMapping/>
  </p:clrMapOvr>
  <p:transition spd="slow">
    <p:push dir="l"/>
  </p:transition>
</p:sld>
</file>

<file path=ppt/slides/slide34.xml><?xml version="1.0" encoding="utf-8"?>
<p:sld xmlns:p="http://schemas.openxmlformats.org/presentationml/2006/main" xmlns:a="http://schemas.openxmlformats.org/drawingml/2006/main">
  <p:cSld>
    <p:bg>
      <p:bgPr>
        <a:solidFill>
          <a:srgbClr val="FC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6095" y="990600"/>
            <a:ext cx="13335000" cy="158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9"/>
              </a:lnSpc>
            </a:pPr>
            <a:r>
              <a:rPr lang="en-US" sz="6099">
                <a:solidFill>
                  <a:srgbClr val="F47575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abstract factory vs.</a:t>
            </a:r>
          </a:p>
          <a:p>
            <a:pPr algn="l">
              <a:lnSpc>
                <a:spcPts val="6099"/>
              </a:lnSpc>
            </a:pPr>
            <a:r>
              <a:rPr lang="en-US" sz="6099">
                <a:solidFill>
                  <a:srgbClr val="F47575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factory method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86095" y="3186349"/>
            <a:ext cx="7429500" cy="6071951"/>
            <a:chOff x="0" y="0"/>
            <a:chExt cx="9906000" cy="809593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906000" cy="8095935"/>
            </a:xfrm>
            <a:custGeom>
              <a:avLst/>
              <a:gdLst/>
              <a:ahLst/>
              <a:cxnLst/>
              <a:rect r="r" b="b" t="t" l="l"/>
              <a:pathLst>
                <a:path h="8095935" w="9906000">
                  <a:moveTo>
                    <a:pt x="254000" y="0"/>
                  </a:moveTo>
                  <a:lnTo>
                    <a:pt x="9652000" y="0"/>
                  </a:lnTo>
                  <a:cubicBezTo>
                    <a:pt x="9792281" y="0"/>
                    <a:pt x="9906000" y="362467"/>
                    <a:pt x="9906000" y="809593"/>
                  </a:cubicBezTo>
                  <a:lnTo>
                    <a:pt x="9906000" y="7286341"/>
                  </a:lnTo>
                  <a:cubicBezTo>
                    <a:pt x="9906000" y="7733467"/>
                    <a:pt x="9792281" y="8095935"/>
                    <a:pt x="9652000" y="8095935"/>
                  </a:cubicBezTo>
                  <a:lnTo>
                    <a:pt x="254000" y="8095935"/>
                  </a:lnTo>
                  <a:cubicBezTo>
                    <a:pt x="113720" y="8095935"/>
                    <a:pt x="0" y="7733467"/>
                    <a:pt x="0" y="7286341"/>
                  </a:cubicBezTo>
                  <a:lnTo>
                    <a:pt x="0" y="809593"/>
                  </a:lnTo>
                  <a:cubicBezTo>
                    <a:pt x="0" y="362467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EECAC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9906000" cy="81340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527662" y="3380740"/>
            <a:ext cx="6517866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>
                <a:solidFill>
                  <a:srgbClr val="534569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abstract factory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0137" y="4165678"/>
            <a:ext cx="6400800" cy="459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534569"/>
                </a:solidFill>
                <a:latin typeface="Pattanakarn Condensed Bold"/>
                <a:ea typeface="Pattanakarn Condensed Bold"/>
                <a:cs typeface="Pattanakarn Condensed Bold"/>
                <a:sym typeface="Pattanakarn Condensed Bold"/>
              </a:rPr>
              <a:t>Scope: </a:t>
            </a:r>
            <a:r>
              <a:rPr lang="en-US" sz="240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Creates families of related objects without specifying their concrete classes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534569"/>
                </a:solidFill>
                <a:latin typeface="Pattanakarn Condensed Bold"/>
                <a:ea typeface="Pattanakarn Condensed Bold"/>
                <a:cs typeface="Pattanakarn Condensed Bold"/>
                <a:sym typeface="Pattanakarn Condensed Bold"/>
              </a:rPr>
              <a:t>Mechanism: </a:t>
            </a:r>
            <a:r>
              <a:rPr lang="en-US" sz="240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Relies on object composition; creation is delegated to multiple factory methods exposed in an interface.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534569"/>
                </a:solidFill>
                <a:latin typeface="Pattanakarn Condensed Bold"/>
                <a:ea typeface="Pattanakarn Condensed Bold"/>
                <a:cs typeface="Pattanakarn Condensed Bold"/>
                <a:sym typeface="Pattanakarn Condensed Bold"/>
              </a:rPr>
              <a:t>Design Level: </a:t>
            </a:r>
            <a:r>
              <a:rPr lang="en-US" sz="240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Operates at a higher level of abstraction. It is often implemented using a set of Factory Methods.</a:t>
            </a:r>
          </a:p>
          <a:p>
            <a:pPr algn="l">
              <a:lnSpc>
                <a:spcPts val="3359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3404552"/>
            <a:ext cx="419100" cy="419100"/>
            <a:chOff x="0" y="0"/>
            <a:chExt cx="558800" cy="5588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558800" cy="558800"/>
              <a:chOff x="0" y="0"/>
              <a:chExt cx="558800" cy="558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58800" cy="558800"/>
              </a:xfrm>
              <a:custGeom>
                <a:avLst/>
                <a:gdLst/>
                <a:ahLst/>
                <a:cxnLst/>
                <a:rect r="r" b="b" t="t" l="l"/>
                <a:pathLst>
                  <a:path h="558800" w="558800">
                    <a:moveTo>
                      <a:pt x="279400" y="0"/>
                    </a:moveTo>
                    <a:cubicBezTo>
                      <a:pt x="125092" y="0"/>
                      <a:pt x="0" y="125092"/>
                      <a:pt x="0" y="279400"/>
                    </a:cubicBezTo>
                    <a:cubicBezTo>
                      <a:pt x="0" y="433708"/>
                      <a:pt x="125092" y="558800"/>
                      <a:pt x="279400" y="558800"/>
                    </a:cubicBezTo>
                    <a:cubicBezTo>
                      <a:pt x="433708" y="558800"/>
                      <a:pt x="558800" y="433708"/>
                      <a:pt x="558800" y="279400"/>
                    </a:cubicBezTo>
                    <a:cubicBezTo>
                      <a:pt x="558800" y="125092"/>
                      <a:pt x="433708" y="0"/>
                      <a:pt x="279400" y="0"/>
                    </a:cubicBezTo>
                    <a:close/>
                  </a:path>
                </a:pathLst>
              </a:custGeom>
              <a:solidFill>
                <a:srgbClr val="7867B4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558800" cy="596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0" y="-57150"/>
              <a:ext cx="558800" cy="6105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97"/>
                </a:lnSpc>
              </a:pPr>
              <a:r>
                <a:rPr lang="en-US" b="true" sz="2783">
                  <a:solidFill>
                    <a:srgbClr val="FCF7F5"/>
                  </a:solidFill>
                  <a:latin typeface="Cosmic Octo Medium"/>
                  <a:ea typeface="Cosmic Octo Medium"/>
                  <a:cs typeface="Cosmic Octo Medium"/>
                  <a:sym typeface="Cosmic Octo Medium"/>
                </a:rPr>
                <a:t>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703610" y="3186349"/>
            <a:ext cx="7429500" cy="6071951"/>
            <a:chOff x="0" y="0"/>
            <a:chExt cx="9906000" cy="809593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906000" cy="8095935"/>
            </a:xfrm>
            <a:custGeom>
              <a:avLst/>
              <a:gdLst/>
              <a:ahLst/>
              <a:cxnLst/>
              <a:rect r="r" b="b" t="t" l="l"/>
              <a:pathLst>
                <a:path h="8095935" w="9906000">
                  <a:moveTo>
                    <a:pt x="254000" y="0"/>
                  </a:moveTo>
                  <a:lnTo>
                    <a:pt x="9652000" y="0"/>
                  </a:lnTo>
                  <a:cubicBezTo>
                    <a:pt x="9792281" y="0"/>
                    <a:pt x="9906000" y="362467"/>
                    <a:pt x="9906000" y="809593"/>
                  </a:cubicBezTo>
                  <a:lnTo>
                    <a:pt x="9906000" y="7286341"/>
                  </a:lnTo>
                  <a:cubicBezTo>
                    <a:pt x="9906000" y="7733467"/>
                    <a:pt x="9792281" y="8095935"/>
                    <a:pt x="9652000" y="8095935"/>
                  </a:cubicBezTo>
                  <a:lnTo>
                    <a:pt x="254000" y="8095935"/>
                  </a:lnTo>
                  <a:cubicBezTo>
                    <a:pt x="113720" y="8095935"/>
                    <a:pt x="0" y="7733467"/>
                    <a:pt x="0" y="7286341"/>
                  </a:cubicBezTo>
                  <a:lnTo>
                    <a:pt x="0" y="809593"/>
                  </a:lnTo>
                  <a:cubicBezTo>
                    <a:pt x="0" y="362467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EECAC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9906000" cy="81340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934450" y="3404552"/>
            <a:ext cx="419100" cy="419100"/>
            <a:chOff x="0" y="0"/>
            <a:chExt cx="558800" cy="558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279400" y="0"/>
                  </a:moveTo>
                  <a:cubicBezTo>
                    <a:pt x="125092" y="0"/>
                    <a:pt x="0" y="125092"/>
                    <a:pt x="0" y="279400"/>
                  </a:cubicBezTo>
                  <a:cubicBezTo>
                    <a:pt x="0" y="433708"/>
                    <a:pt x="125092" y="558800"/>
                    <a:pt x="279400" y="558800"/>
                  </a:cubicBezTo>
                  <a:cubicBezTo>
                    <a:pt x="433708" y="558800"/>
                    <a:pt x="558800" y="433708"/>
                    <a:pt x="558800" y="279400"/>
                  </a:cubicBezTo>
                  <a:cubicBezTo>
                    <a:pt x="558800" y="125092"/>
                    <a:pt x="433708" y="0"/>
                    <a:pt x="279400" y="0"/>
                  </a:cubicBezTo>
                  <a:close/>
                </a:path>
              </a:pathLst>
            </a:custGeom>
            <a:solidFill>
              <a:srgbClr val="7867B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8934450" y="3347402"/>
            <a:ext cx="419100" cy="47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7"/>
              </a:lnSpc>
            </a:pPr>
            <a:r>
              <a:rPr lang="en-US" b="true" sz="2783">
                <a:solidFill>
                  <a:srgbClr val="FCF7F5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4000" y="4120535"/>
            <a:ext cx="6400800" cy="459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534569"/>
                </a:solidFill>
                <a:latin typeface="Pattanakarn Condensed Bold"/>
                <a:ea typeface="Pattanakarn Condensed Bold"/>
                <a:cs typeface="Pattanakarn Condensed Bold"/>
                <a:sym typeface="Pattanakarn Condensed Bold"/>
              </a:rPr>
              <a:t>Scope:</a:t>
            </a:r>
            <a:r>
              <a:rPr lang="en-US" sz="240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 Creates single spec</a:t>
            </a:r>
            <a:r>
              <a:rPr lang="en-US" sz="240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ific objects or products.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534569"/>
                </a:solidFill>
                <a:latin typeface="Pattanakarn Condensed Bold"/>
                <a:ea typeface="Pattanakarn Condensed Bold"/>
                <a:cs typeface="Pattanakarn Condensed Bold"/>
                <a:sym typeface="Pattanakarn Condensed Bold"/>
              </a:rPr>
              <a:t>Mechanism:</a:t>
            </a:r>
            <a:r>
              <a:rPr lang="en-US" sz="240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 Relies on inheritance; it defines an interface for creating an object, but lets subclasses decide which class to instantiate.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534569"/>
                </a:solidFill>
                <a:latin typeface="Pattanakarn Condensed Bold"/>
                <a:ea typeface="Pattanakarn Condensed Bold"/>
                <a:cs typeface="Pattanakarn Condensed Bold"/>
                <a:sym typeface="Pattanakarn Condensed Bold"/>
              </a:rPr>
              <a:t>Design Level:</a:t>
            </a:r>
            <a:r>
              <a:rPr lang="en-US" sz="240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 Operates strictly at the method level.</a:t>
            </a:r>
          </a:p>
          <a:p>
            <a:pPr algn="l">
              <a:lnSpc>
                <a:spcPts val="3359"/>
              </a:lnSpc>
            </a:pPr>
          </a:p>
        </p:txBody>
      </p:sp>
      <p:grpSp>
        <p:nvGrpSpPr>
          <p:cNvPr name="Group 21" id="21"/>
          <p:cNvGrpSpPr/>
          <p:nvPr/>
        </p:nvGrpSpPr>
        <p:grpSpPr>
          <a:xfrm rot="0">
            <a:off x="16621125" y="-57150"/>
            <a:ext cx="2867025" cy="11001375"/>
            <a:chOff x="0" y="0"/>
            <a:chExt cx="3822700" cy="14668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822700" cy="14668500"/>
            </a:xfrm>
            <a:custGeom>
              <a:avLst/>
              <a:gdLst/>
              <a:ahLst/>
              <a:cxnLst/>
              <a:rect r="r" b="b" t="t" l="l"/>
              <a:pathLst>
                <a:path h="14668500" w="3822700">
                  <a:moveTo>
                    <a:pt x="0" y="0"/>
                  </a:moveTo>
                  <a:lnTo>
                    <a:pt x="3822700" y="0"/>
                  </a:lnTo>
                  <a:lnTo>
                    <a:pt x="3822700" y="14668500"/>
                  </a:lnTo>
                  <a:lnTo>
                    <a:pt x="0" y="14668500"/>
                  </a:lnTo>
                  <a:close/>
                </a:path>
              </a:pathLst>
            </a:custGeom>
            <a:solidFill>
              <a:srgbClr val="534569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3822700" cy="1470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-5400000">
            <a:off x="16734810" y="8509973"/>
            <a:ext cx="1677629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Group 02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445177" y="3380740"/>
            <a:ext cx="6517866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>
                <a:solidFill>
                  <a:srgbClr val="534569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factory method</a:t>
            </a:r>
          </a:p>
        </p:txBody>
      </p:sp>
    </p:spTree>
  </p:cSld>
  <p:clrMapOvr>
    <a:masterClrMapping/>
  </p:clrMapOvr>
  <p:transition spd="slow">
    <p:push dir="l"/>
  </p:transition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91935" y="-3384213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35778" y="-3384213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91935" y="5143500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35778" y="5143500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622840" y="-52947"/>
            <a:ext cx="2864146" cy="10995720"/>
            <a:chOff x="0" y="0"/>
            <a:chExt cx="754343" cy="28959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4343" cy="2895992"/>
            </a:xfrm>
            <a:custGeom>
              <a:avLst/>
              <a:gdLst/>
              <a:ahLst/>
              <a:cxnLst/>
              <a:rect r="r" b="b" t="t" l="l"/>
              <a:pathLst>
                <a:path h="2895992" w="754343">
                  <a:moveTo>
                    <a:pt x="0" y="0"/>
                  </a:moveTo>
                  <a:lnTo>
                    <a:pt x="754343" y="0"/>
                  </a:lnTo>
                  <a:lnTo>
                    <a:pt x="754343" y="2895992"/>
                  </a:lnTo>
                  <a:lnTo>
                    <a:pt x="0" y="2895992"/>
                  </a:lnTo>
                  <a:close/>
                </a:path>
              </a:pathLst>
            </a:custGeom>
            <a:solidFill>
              <a:srgbClr val="53456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54343" cy="2934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400000">
            <a:off x="17226417" y="1260159"/>
            <a:ext cx="487450" cy="281835"/>
          </a:xfrm>
          <a:custGeom>
            <a:avLst/>
            <a:gdLst/>
            <a:ahLst/>
            <a:cxnLst/>
            <a:rect r="r" b="b" t="t" l="l"/>
            <a:pathLst>
              <a:path h="281835" w="487450">
                <a:moveTo>
                  <a:pt x="0" y="0"/>
                </a:moveTo>
                <a:lnTo>
                  <a:pt x="487451" y="0"/>
                </a:lnTo>
                <a:lnTo>
                  <a:pt x="487451" y="281835"/>
                </a:lnTo>
                <a:lnTo>
                  <a:pt x="0" y="2818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-5400000">
            <a:off x="15544399" y="7302141"/>
            <a:ext cx="381338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117" b="true">
                <a:solidFill>
                  <a:srgbClr val="FCF7F5"/>
                </a:solidFill>
                <a:latin typeface="Pattanakarn Condensed Medium"/>
                <a:ea typeface="Pattanakarn Condensed Medium"/>
                <a:cs typeface="Pattanakarn Condensed Medium"/>
                <a:sym typeface="Pattanakarn Condensed Medium"/>
              </a:rPr>
              <a:t>Group 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75288" y="247861"/>
            <a:ext cx="13033294" cy="317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81"/>
              </a:lnSpc>
            </a:pPr>
            <a:r>
              <a:rPr lang="en-US" b="true" sz="6870" spc="-261">
                <a:solidFill>
                  <a:srgbClr val="DC786D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ABSTRACT FACTORY</a:t>
            </a:r>
          </a:p>
          <a:p>
            <a:pPr algn="ctr">
              <a:lnSpc>
                <a:spcPts val="8381"/>
              </a:lnSpc>
            </a:pPr>
            <a:r>
              <a:rPr lang="en-US" b="true" sz="6870" spc="-261">
                <a:solidFill>
                  <a:srgbClr val="DC786D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VS</a:t>
            </a:r>
          </a:p>
          <a:p>
            <a:pPr algn="ctr">
              <a:lnSpc>
                <a:spcPts val="8381"/>
              </a:lnSpc>
            </a:pPr>
            <a:r>
              <a:rPr lang="en-US" b="true" sz="6870" spc="-261">
                <a:solidFill>
                  <a:srgbClr val="DC786D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ADAPTER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475206" y="3821335"/>
            <a:ext cx="4554092" cy="1017816"/>
            <a:chOff x="0" y="0"/>
            <a:chExt cx="1199432" cy="2680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99432" cy="268067"/>
            </a:xfrm>
            <a:custGeom>
              <a:avLst/>
              <a:gdLst/>
              <a:ahLst/>
              <a:cxnLst/>
              <a:rect r="r" b="b" t="t" l="l"/>
              <a:pathLst>
                <a:path h="268067" w="1199432">
                  <a:moveTo>
                    <a:pt x="34000" y="0"/>
                  </a:moveTo>
                  <a:lnTo>
                    <a:pt x="1165432" y="0"/>
                  </a:lnTo>
                  <a:cubicBezTo>
                    <a:pt x="1174449" y="0"/>
                    <a:pt x="1183097" y="3582"/>
                    <a:pt x="1189473" y="9958"/>
                  </a:cubicBezTo>
                  <a:cubicBezTo>
                    <a:pt x="1195850" y="16335"/>
                    <a:pt x="1199432" y="24983"/>
                    <a:pt x="1199432" y="34000"/>
                  </a:cubicBezTo>
                  <a:lnTo>
                    <a:pt x="1199432" y="234067"/>
                  </a:lnTo>
                  <a:cubicBezTo>
                    <a:pt x="1199432" y="252845"/>
                    <a:pt x="1184210" y="268067"/>
                    <a:pt x="1165432" y="268067"/>
                  </a:cubicBezTo>
                  <a:lnTo>
                    <a:pt x="34000" y="268067"/>
                  </a:lnTo>
                  <a:cubicBezTo>
                    <a:pt x="24983" y="268067"/>
                    <a:pt x="16335" y="264485"/>
                    <a:pt x="9958" y="258108"/>
                  </a:cubicBezTo>
                  <a:cubicBezTo>
                    <a:pt x="3582" y="251732"/>
                    <a:pt x="0" y="243084"/>
                    <a:pt x="0" y="234067"/>
                  </a:cubicBezTo>
                  <a:lnTo>
                    <a:pt x="0" y="34000"/>
                  </a:lnTo>
                  <a:cubicBezTo>
                    <a:pt x="0" y="24983"/>
                    <a:pt x="3582" y="16335"/>
                    <a:pt x="9958" y="9958"/>
                  </a:cubicBezTo>
                  <a:cubicBezTo>
                    <a:pt x="16335" y="3582"/>
                    <a:pt x="24983" y="0"/>
                    <a:pt x="34000" y="0"/>
                  </a:cubicBezTo>
                  <a:close/>
                </a:path>
              </a:pathLst>
            </a:custGeom>
            <a:solidFill>
              <a:srgbClr val="7867B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199432" cy="306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749143" y="5167431"/>
            <a:ext cx="4006218" cy="3919937"/>
            <a:chOff x="0" y="0"/>
            <a:chExt cx="1167706" cy="114255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67706" cy="1142557"/>
            </a:xfrm>
            <a:custGeom>
              <a:avLst/>
              <a:gdLst/>
              <a:ahLst/>
              <a:cxnLst/>
              <a:rect r="r" b="b" t="t" l="l"/>
              <a:pathLst>
                <a:path h="1142557" w="1167706">
                  <a:moveTo>
                    <a:pt x="38650" y="0"/>
                  </a:moveTo>
                  <a:lnTo>
                    <a:pt x="1129057" y="0"/>
                  </a:lnTo>
                  <a:cubicBezTo>
                    <a:pt x="1139307" y="0"/>
                    <a:pt x="1149138" y="4072"/>
                    <a:pt x="1156386" y="11320"/>
                  </a:cubicBezTo>
                  <a:cubicBezTo>
                    <a:pt x="1163634" y="18568"/>
                    <a:pt x="1167706" y="28399"/>
                    <a:pt x="1167706" y="38650"/>
                  </a:cubicBezTo>
                  <a:lnTo>
                    <a:pt x="1167706" y="1103908"/>
                  </a:lnTo>
                  <a:cubicBezTo>
                    <a:pt x="1167706" y="1125253"/>
                    <a:pt x="1150402" y="1142557"/>
                    <a:pt x="1129057" y="1142557"/>
                  </a:cubicBezTo>
                  <a:lnTo>
                    <a:pt x="38650" y="1142557"/>
                  </a:lnTo>
                  <a:cubicBezTo>
                    <a:pt x="17304" y="1142557"/>
                    <a:pt x="0" y="1125253"/>
                    <a:pt x="0" y="1103908"/>
                  </a:cubicBezTo>
                  <a:lnTo>
                    <a:pt x="0" y="38650"/>
                  </a:lnTo>
                  <a:cubicBezTo>
                    <a:pt x="0" y="17304"/>
                    <a:pt x="17304" y="0"/>
                    <a:pt x="38650" y="0"/>
                  </a:cubicBezTo>
                  <a:close/>
                </a:path>
              </a:pathLst>
            </a:custGeom>
            <a:solidFill>
              <a:srgbClr val="EECAC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167706" cy="1180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936105" y="3983833"/>
            <a:ext cx="3532969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0"/>
              </a:lnSpc>
            </a:pPr>
            <a:r>
              <a:rPr lang="en-US" b="true" sz="2500" spc="-95">
                <a:solidFill>
                  <a:srgbClr val="FCF7F5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Abstract FACTORY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241395" y="5853086"/>
            <a:ext cx="3021714" cy="250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  <a:spcBef>
                <a:spcPct val="0"/>
              </a:spcBef>
            </a:pPr>
            <a:r>
              <a:rPr lang="en-US" sz="241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A</a:t>
            </a:r>
            <a:r>
              <a:rPr lang="en-US" sz="241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bstract Factory is a </a:t>
            </a:r>
            <a:r>
              <a:rPr lang="en-US" sz="2410" b="true">
                <a:solidFill>
                  <a:srgbClr val="534569"/>
                </a:solidFill>
                <a:latin typeface="Pattanakarn Condensed Bold"/>
                <a:ea typeface="Pattanakarn Condensed Bold"/>
                <a:cs typeface="Pattanakarn Condensed Bold"/>
                <a:sym typeface="Pattanakarn Condensed Bold"/>
              </a:rPr>
              <a:t>Creational pattern.</a:t>
            </a:r>
            <a:r>
              <a:rPr lang="en-US" sz="241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 </a:t>
            </a:r>
          </a:p>
          <a:p>
            <a:pPr algn="l">
              <a:lnSpc>
                <a:spcPts val="3374"/>
              </a:lnSpc>
              <a:spcBef>
                <a:spcPct val="0"/>
              </a:spcBef>
            </a:pPr>
            <a:r>
              <a:rPr lang="en-US" sz="241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It creates families of related objects without specifying concrete classes.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562877" y="3821335"/>
            <a:ext cx="4545786" cy="1017816"/>
            <a:chOff x="0" y="0"/>
            <a:chExt cx="1197244" cy="26806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97244" cy="268067"/>
            </a:xfrm>
            <a:custGeom>
              <a:avLst/>
              <a:gdLst/>
              <a:ahLst/>
              <a:cxnLst/>
              <a:rect r="r" b="b" t="t" l="l"/>
              <a:pathLst>
                <a:path h="268067" w="1197244">
                  <a:moveTo>
                    <a:pt x="34062" y="0"/>
                  </a:moveTo>
                  <a:lnTo>
                    <a:pt x="1163182" y="0"/>
                  </a:lnTo>
                  <a:cubicBezTo>
                    <a:pt x="1181994" y="0"/>
                    <a:pt x="1197244" y="15250"/>
                    <a:pt x="1197244" y="34062"/>
                  </a:cubicBezTo>
                  <a:lnTo>
                    <a:pt x="1197244" y="234005"/>
                  </a:lnTo>
                  <a:cubicBezTo>
                    <a:pt x="1197244" y="252817"/>
                    <a:pt x="1181994" y="268067"/>
                    <a:pt x="1163182" y="268067"/>
                  </a:cubicBezTo>
                  <a:lnTo>
                    <a:pt x="34062" y="268067"/>
                  </a:lnTo>
                  <a:cubicBezTo>
                    <a:pt x="15250" y="268067"/>
                    <a:pt x="0" y="252817"/>
                    <a:pt x="0" y="234005"/>
                  </a:cubicBezTo>
                  <a:lnTo>
                    <a:pt x="0" y="34062"/>
                  </a:lnTo>
                  <a:cubicBezTo>
                    <a:pt x="0" y="15250"/>
                    <a:pt x="15250" y="0"/>
                    <a:pt x="34062" y="0"/>
                  </a:cubicBezTo>
                  <a:close/>
                </a:path>
              </a:pathLst>
            </a:custGeom>
            <a:solidFill>
              <a:srgbClr val="7867B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197244" cy="306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734094" y="5167431"/>
            <a:ext cx="4177151" cy="3919937"/>
            <a:chOff x="0" y="0"/>
            <a:chExt cx="1217529" cy="114255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17529" cy="1142557"/>
            </a:xfrm>
            <a:custGeom>
              <a:avLst/>
              <a:gdLst/>
              <a:ahLst/>
              <a:cxnLst/>
              <a:rect r="r" b="b" t="t" l="l"/>
              <a:pathLst>
                <a:path h="1142557" w="1217529">
                  <a:moveTo>
                    <a:pt x="37068" y="0"/>
                  </a:moveTo>
                  <a:lnTo>
                    <a:pt x="1180461" y="0"/>
                  </a:lnTo>
                  <a:cubicBezTo>
                    <a:pt x="1200933" y="0"/>
                    <a:pt x="1217529" y="16596"/>
                    <a:pt x="1217529" y="37068"/>
                  </a:cubicBezTo>
                  <a:lnTo>
                    <a:pt x="1217529" y="1105489"/>
                  </a:lnTo>
                  <a:cubicBezTo>
                    <a:pt x="1217529" y="1115320"/>
                    <a:pt x="1213623" y="1124749"/>
                    <a:pt x="1206672" y="1131700"/>
                  </a:cubicBezTo>
                  <a:cubicBezTo>
                    <a:pt x="1199720" y="1138652"/>
                    <a:pt x="1190292" y="1142557"/>
                    <a:pt x="1180461" y="1142557"/>
                  </a:cubicBezTo>
                  <a:lnTo>
                    <a:pt x="37068" y="1142557"/>
                  </a:lnTo>
                  <a:cubicBezTo>
                    <a:pt x="16596" y="1142557"/>
                    <a:pt x="0" y="1125962"/>
                    <a:pt x="0" y="1105489"/>
                  </a:cubicBezTo>
                  <a:lnTo>
                    <a:pt x="0" y="37068"/>
                  </a:lnTo>
                  <a:cubicBezTo>
                    <a:pt x="0" y="27237"/>
                    <a:pt x="3905" y="17809"/>
                    <a:pt x="10857" y="10857"/>
                  </a:cubicBezTo>
                  <a:cubicBezTo>
                    <a:pt x="17809" y="3905"/>
                    <a:pt x="27237" y="0"/>
                    <a:pt x="37068" y="0"/>
                  </a:cubicBezTo>
                  <a:close/>
                </a:path>
              </a:pathLst>
            </a:custGeom>
            <a:solidFill>
              <a:srgbClr val="EECACA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217529" cy="1180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022822" y="4174333"/>
            <a:ext cx="3532969" cy="374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0"/>
              </a:lnSpc>
            </a:pPr>
            <a:r>
              <a:rPr lang="en-US" b="true" sz="2500" spc="-95">
                <a:solidFill>
                  <a:srgbClr val="FCF7F5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ADAPTER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430263" y="5853086"/>
            <a:ext cx="2735979" cy="250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  <a:spcBef>
                <a:spcPct val="0"/>
              </a:spcBef>
            </a:pPr>
            <a:r>
              <a:rPr lang="en-US" sz="241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Adapter is a </a:t>
            </a:r>
            <a:r>
              <a:rPr lang="en-US" sz="2410" b="true">
                <a:solidFill>
                  <a:srgbClr val="534569"/>
                </a:solidFill>
                <a:latin typeface="Pattanakarn Condensed Bold"/>
                <a:ea typeface="Pattanakarn Condensed Bold"/>
                <a:cs typeface="Pattanakarn Condensed Bold"/>
                <a:sym typeface="Pattanakarn Condensed Bold"/>
              </a:rPr>
              <a:t>Structural</a:t>
            </a:r>
            <a:r>
              <a:rPr lang="en-US" sz="2410" b="true">
                <a:solidFill>
                  <a:srgbClr val="534569"/>
                </a:solidFill>
                <a:latin typeface="Pattanakarn Condensed Bold"/>
                <a:ea typeface="Pattanakarn Condensed Bold"/>
                <a:cs typeface="Pattanakarn Condensed Bold"/>
                <a:sym typeface="Pattanakarn Condensed Bold"/>
              </a:rPr>
              <a:t> pattern </a:t>
            </a:r>
            <a:r>
              <a:rPr lang="en-US" sz="241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that wraps an in</a:t>
            </a:r>
            <a:r>
              <a:rPr lang="en-US" sz="241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co</a:t>
            </a:r>
            <a:r>
              <a:rPr lang="en-US" sz="241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mpatible </a:t>
            </a:r>
            <a:r>
              <a:rPr lang="en-US" sz="241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c</a:t>
            </a:r>
            <a:r>
              <a:rPr lang="en-US" sz="241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lass with</a:t>
            </a:r>
            <a:r>
              <a:rPr lang="en-US" sz="241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 th</a:t>
            </a:r>
            <a:r>
              <a:rPr lang="en-US" sz="241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e interf</a:t>
            </a:r>
            <a:r>
              <a:rPr lang="en-US" sz="241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ace a</a:t>
            </a:r>
            <a:r>
              <a:rPr lang="en-US" sz="241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 </a:t>
            </a:r>
            <a:r>
              <a:rPr lang="en-US" sz="241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c</a:t>
            </a:r>
            <a:r>
              <a:rPr lang="en-US" sz="2410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lient expects.</a:t>
            </a:r>
          </a:p>
        </p:txBody>
      </p:sp>
    </p:spTree>
  </p:cSld>
  <p:clrMapOvr>
    <a:masterClrMapping/>
  </p:clrMapOvr>
  <p:transition spd="slow">
    <p:push dir="l"/>
  </p:transition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32654" y="-3082800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4941" y="-3082800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32654" y="5444913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04941" y="5444913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216662" y="-181598"/>
            <a:ext cx="2864146" cy="10995720"/>
            <a:chOff x="0" y="0"/>
            <a:chExt cx="754343" cy="28959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4343" cy="2895992"/>
            </a:xfrm>
            <a:custGeom>
              <a:avLst/>
              <a:gdLst/>
              <a:ahLst/>
              <a:cxnLst/>
              <a:rect r="r" b="b" t="t" l="l"/>
              <a:pathLst>
                <a:path h="2895992" w="754343">
                  <a:moveTo>
                    <a:pt x="0" y="0"/>
                  </a:moveTo>
                  <a:lnTo>
                    <a:pt x="754343" y="0"/>
                  </a:lnTo>
                  <a:lnTo>
                    <a:pt x="754343" y="2895992"/>
                  </a:lnTo>
                  <a:lnTo>
                    <a:pt x="0" y="2895992"/>
                  </a:lnTo>
                  <a:close/>
                </a:path>
              </a:pathLst>
            </a:custGeom>
            <a:solidFill>
              <a:srgbClr val="53456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54343" cy="2934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400000">
            <a:off x="585902" y="1131508"/>
            <a:ext cx="487450" cy="281835"/>
          </a:xfrm>
          <a:custGeom>
            <a:avLst/>
            <a:gdLst/>
            <a:ahLst/>
            <a:cxnLst/>
            <a:rect r="r" b="b" t="t" l="l"/>
            <a:pathLst>
              <a:path h="281835" w="487450">
                <a:moveTo>
                  <a:pt x="0" y="0"/>
                </a:moveTo>
                <a:lnTo>
                  <a:pt x="487451" y="0"/>
                </a:lnTo>
                <a:lnTo>
                  <a:pt x="487451" y="281835"/>
                </a:lnTo>
                <a:lnTo>
                  <a:pt x="0" y="2818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-5400000">
            <a:off x="-1096116" y="7173489"/>
            <a:ext cx="381338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117" b="true">
                <a:solidFill>
                  <a:srgbClr val="FCF7F5"/>
                </a:solidFill>
                <a:latin typeface="Pattanakarn Condensed Medium"/>
                <a:ea typeface="Pattanakarn Condensed Medium"/>
                <a:cs typeface="Pattanakarn Condensed Medium"/>
                <a:sym typeface="Pattanakarn Condensed Medium"/>
              </a:rPr>
              <a:t>Studio Shodwe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2696166" y="5444913"/>
            <a:ext cx="14069422" cy="6830065"/>
          </a:xfrm>
          <a:custGeom>
            <a:avLst/>
            <a:gdLst/>
            <a:ahLst/>
            <a:cxnLst/>
            <a:rect r="r" b="b" t="t" l="l"/>
            <a:pathLst>
              <a:path h="6830065" w="14069422">
                <a:moveTo>
                  <a:pt x="0" y="0"/>
                </a:moveTo>
                <a:lnTo>
                  <a:pt x="14069422" y="0"/>
                </a:lnTo>
                <a:lnTo>
                  <a:pt x="14069422" y="6830065"/>
                </a:lnTo>
                <a:lnTo>
                  <a:pt x="0" y="68300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202455" y="714375"/>
            <a:ext cx="15056845" cy="2788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2"/>
              </a:lnSpc>
              <a:spcBef>
                <a:spcPct val="0"/>
              </a:spcBef>
            </a:pPr>
            <a:r>
              <a:rPr lang="en-US" b="true" sz="16280" spc="-618">
                <a:solidFill>
                  <a:srgbClr val="DC786D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tHaNk you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06307" y="3449107"/>
            <a:ext cx="14649142" cy="723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83"/>
              </a:lnSpc>
            </a:pPr>
            <a:r>
              <a:rPr lang="en-US" b="true" sz="4273" spc="239">
                <a:solidFill>
                  <a:srgbClr val="DC786D"/>
                </a:solidFill>
                <a:latin typeface="Pattanakarn Condensed Medium"/>
                <a:ea typeface="Pattanakarn Condensed Medium"/>
                <a:cs typeface="Pattanakarn Condensed Medium"/>
                <a:sym typeface="Pattanakarn Condensed Medium"/>
              </a:rPr>
              <a:t>For Your Attention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DAHOwsZkqAw</dc:identifier>
  <dcterms:modified xsi:type="dcterms:W3CDTF">2011-08-01T06:04:30Z</dcterms:modified>
  <cp:revision>1</cp:revision>
  <dc:title>oopsie</dc:title>
</cp:coreProperties>
</file>